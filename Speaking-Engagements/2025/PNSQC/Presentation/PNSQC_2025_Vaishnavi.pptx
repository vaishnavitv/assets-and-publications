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5143500" cx="9144000"/>
  <p:notesSz cx="6858000" cy="9144000"/>
  <p:embeddedFontLst>
    <p:embeddedFont>
      <p:font typeface="Roboto Black"/>
      <p:bold r:id="rId66"/>
      <p:boldItalic r:id="rId67"/>
    </p:embeddedFont>
    <p:embeddedFont>
      <p:font typeface="Roboto"/>
      <p:regular r:id="rId68"/>
      <p:bold r:id="rId69"/>
      <p:italic r:id="rId70"/>
      <p:boldItalic r:id="rId71"/>
    </p:embeddedFont>
    <p:embeddedFont>
      <p:font typeface="Roboto Medium"/>
      <p:regular r:id="rId72"/>
      <p:bold r:id="rId73"/>
      <p:italic r:id="rId74"/>
      <p:boldItalic r:id="rId75"/>
    </p:embeddedFont>
    <p:embeddedFont>
      <p:font typeface="Montserrat"/>
      <p:regular r:id="rId76"/>
      <p:bold r:id="rId77"/>
      <p:italic r:id="rId78"/>
      <p:boldItalic r:id="rId79"/>
    </p:embeddedFont>
    <p:embeddedFont>
      <p:font typeface="Montserrat ExtraBold"/>
      <p:bold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ExtraBold-bold.fntdata"/><Relationship Id="rId81" Type="http://schemas.openxmlformats.org/officeDocument/2006/relationships/font" Target="fonts/Montserrat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edium-bold.fntdata"/><Relationship Id="rId72" Type="http://schemas.openxmlformats.org/officeDocument/2006/relationships/font" Target="fonts/RobotoMedium-regular.fntdata"/><Relationship Id="rId31" Type="http://schemas.openxmlformats.org/officeDocument/2006/relationships/slide" Target="slides/slide26.xml"/><Relationship Id="rId75" Type="http://schemas.openxmlformats.org/officeDocument/2006/relationships/font" Target="fonts/RobotoMedium-boldItalic.fntdata"/><Relationship Id="rId30" Type="http://schemas.openxmlformats.org/officeDocument/2006/relationships/slide" Target="slides/slide25.xml"/><Relationship Id="rId74" Type="http://schemas.openxmlformats.org/officeDocument/2006/relationships/font" Target="fonts/RobotoMedium-italic.fntdata"/><Relationship Id="rId33" Type="http://schemas.openxmlformats.org/officeDocument/2006/relationships/slide" Target="slides/slide28.xml"/><Relationship Id="rId77" Type="http://schemas.openxmlformats.org/officeDocument/2006/relationships/font" Target="fonts/Montserrat-bold.fntdata"/><Relationship Id="rId32" Type="http://schemas.openxmlformats.org/officeDocument/2006/relationships/slide" Target="slides/slide27.xml"/><Relationship Id="rId76" Type="http://schemas.openxmlformats.org/officeDocument/2006/relationships/font" Target="fonts/Montserrat-regular.fntdata"/><Relationship Id="rId35" Type="http://schemas.openxmlformats.org/officeDocument/2006/relationships/slide" Target="slides/slide30.xml"/><Relationship Id="rId79" Type="http://schemas.openxmlformats.org/officeDocument/2006/relationships/font" Target="fonts/Montserrat-boldItalic.fntdata"/><Relationship Id="rId34" Type="http://schemas.openxmlformats.org/officeDocument/2006/relationships/slide" Target="slides/slide29.xml"/><Relationship Id="rId78" Type="http://schemas.openxmlformats.org/officeDocument/2006/relationships/font" Target="fonts/Montserrat-italic.fntdata"/><Relationship Id="rId71" Type="http://schemas.openxmlformats.org/officeDocument/2006/relationships/font" Target="fonts/Roboto-boldItalic.fntdata"/><Relationship Id="rId70" Type="http://schemas.openxmlformats.org/officeDocument/2006/relationships/font" Target="fonts/Roboto-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Black-bold.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regular.fntdata"/><Relationship Id="rId23" Type="http://schemas.openxmlformats.org/officeDocument/2006/relationships/slide" Target="slides/slide18.xml"/><Relationship Id="rId67" Type="http://schemas.openxmlformats.org/officeDocument/2006/relationships/font" Target="fonts/RobotoBlack-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Neo_(The_Matrix)" TargetMode="External"/><Relationship Id="rId3" Type="http://schemas.openxmlformats.org/officeDocument/2006/relationships/hyperlink" Target="https://en.wikipedia.org/wiki/Keanu_Reeves" TargetMode="External"/><Relationship Id="rId4" Type="http://schemas.openxmlformats.org/officeDocument/2006/relationships/hyperlink" Target="https://en.wikipedia.org/wiki/Morpheus_(The_Matrix)"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bbff6985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8bbff6985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bc4d6c33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8bc4d6c33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bcbd36f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bcbd36f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bbff6985c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bbff6985c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bbff6985c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8bbff6985c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610c85a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610c85a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bbff6985c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bbff6985c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bbff6985c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bbff6985c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5e77fc3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5e77fc3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Font typeface="Arial"/>
              <a:buNone/>
            </a:pPr>
            <a:r>
              <a:rPr b="1" lang="en-GB" sz="1350">
                <a:solidFill>
                  <a:srgbClr val="2B2B2B"/>
                </a:solidFill>
              </a:rPr>
              <a:t>The Ren And Stimpy Show Red Button GIF</a:t>
            </a:r>
            <a:endParaRPr b="1" sz="1350">
              <a:solidFill>
                <a:srgbClr val="2B2B2B"/>
              </a:solidFill>
            </a:endParaRPr>
          </a:p>
          <a:p>
            <a:pPr indent="0" lvl="0" marL="0" rtl="0" algn="l">
              <a:lnSpc>
                <a:spcPct val="115000"/>
              </a:lnSpc>
              <a:spcBef>
                <a:spcPts val="23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bbff6985c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8bbff6985c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5e77fc3a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5e77fc3a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control circuit multiple switch on off</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bf78b5c0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bf78b5c0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Most of us have seen the movie </a:t>
            </a:r>
            <a:r>
              <a:rPr i="1" lang="en-GB" sz="1200">
                <a:solidFill>
                  <a:schemeClr val="dk1"/>
                </a:solidFill>
              </a:rPr>
              <a:t>The Matrix.</a:t>
            </a:r>
            <a:r>
              <a:rPr lang="en-GB" sz="1200">
                <a:solidFill>
                  <a:schemeClr val="dk1"/>
                </a:solidFill>
              </a:rPr>
              <a:t> What pill would you choose, if you had Morpheus asking you? Red pill for the truth of reality? Or would you pick the blue pill and continue to believe an illusion? What if you wanted to try both and </a:t>
            </a:r>
            <a:r>
              <a:rPr i="1" lang="en-GB" sz="1200">
                <a:solidFill>
                  <a:schemeClr val="dk1"/>
                </a:solidFill>
              </a:rPr>
              <a:t>then</a:t>
            </a:r>
            <a:r>
              <a:rPr lang="en-GB" sz="1200">
                <a:solidFill>
                  <a:schemeClr val="dk1"/>
                </a:solidFill>
              </a:rPr>
              <a:t> choose? Unfortunately, that wasn't possible in the movie, but in software, with feature flags, it's possible.</a:t>
            </a:r>
            <a:r>
              <a:rPr lang="en-GB" sz="1200">
                <a:solidFill>
                  <a:srgbClr val="202122"/>
                </a:solidFill>
                <a:highlight>
                  <a:srgbClr val="FFFFFF"/>
                </a:highlight>
              </a:rPr>
              <a:t> the main character </a:t>
            </a:r>
            <a:r>
              <a:rPr lang="en-GB" sz="1200">
                <a:solidFill>
                  <a:srgbClr val="3366CC"/>
                </a:solidFill>
                <a:highlight>
                  <a:srgbClr val="FFFFFF"/>
                </a:highlight>
                <a:uFill>
                  <a:noFill/>
                </a:uFill>
                <a:hlinkClick r:id="rId2">
                  <a:extLst>
                    <a:ext uri="{A12FA001-AC4F-418D-AE19-62706E023703}">
                      <ahyp:hlinkClr val="tx"/>
                    </a:ext>
                  </a:extLst>
                </a:hlinkClick>
              </a:rPr>
              <a:t>Neo</a:t>
            </a:r>
            <a:r>
              <a:rPr lang="en-GB" sz="1200">
                <a:solidFill>
                  <a:srgbClr val="202122"/>
                </a:solidFill>
                <a:highlight>
                  <a:srgbClr val="FFFFFF"/>
                </a:highlight>
              </a:rPr>
              <a:t> (played by </a:t>
            </a:r>
            <a:r>
              <a:rPr lang="en-GB" sz="1200">
                <a:solidFill>
                  <a:srgbClr val="3366CC"/>
                </a:solidFill>
                <a:highlight>
                  <a:srgbClr val="FFFFFF"/>
                </a:highlight>
                <a:uFill>
                  <a:noFill/>
                </a:uFill>
                <a:hlinkClick r:id="rId3">
                  <a:extLst>
                    <a:ext uri="{A12FA001-AC4F-418D-AE19-62706E023703}">
                      <ahyp:hlinkClr val="tx"/>
                    </a:ext>
                  </a:extLst>
                </a:hlinkClick>
              </a:rPr>
              <a:t>Keanu Reeves</a:t>
            </a:r>
            <a:r>
              <a:rPr lang="en-GB" sz="1200">
                <a:solidFill>
                  <a:srgbClr val="202122"/>
                </a:solidFill>
                <a:highlight>
                  <a:srgbClr val="FFFFFF"/>
                </a:highlight>
              </a:rPr>
              <a:t>) is offered the choice between a red pill and a blue pill by rebel leader </a:t>
            </a:r>
            <a:r>
              <a:rPr lang="en-GB" sz="1200">
                <a:solidFill>
                  <a:srgbClr val="3366CC"/>
                </a:solidFill>
                <a:highlight>
                  <a:srgbClr val="FFFFFF"/>
                </a:highlight>
                <a:uFill>
                  <a:noFill/>
                </a:uFill>
                <a:hlinkClick r:id="rId4">
                  <a:extLst>
                    <a:ext uri="{A12FA001-AC4F-418D-AE19-62706E023703}">
                      <ahyp:hlinkClr val="tx"/>
                    </a:ext>
                  </a:extLst>
                </a:hlinkClick>
              </a:rPr>
              <a:t>Morpheus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bbff6985c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bbff6985c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bc4d6c3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bc4d6c3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bc4d6c33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bc4d6c33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allow teams to present different versions of a feature to different user segments, collecting data on which variant performs better. This data-driven approach helps organizations make informed decisions about which features to promote, refine, or retire.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bc4d6c33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bc4d6c33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they provide toggles for infrastructure or runtime controls. For example, an ops flag might be used to enable or disable a third-party integration, adjust system parameters, or control access to backend services. These flags are invaluable for responding to operational incidents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bc4d6c33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bc4d6c33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600205c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8600205c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bc4d6c33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8bc4d6c33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bbff6985c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8bbff6985c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bbff6985c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bbff6985c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Power Peg was a test program that bought high and sold low; it was specifically designed to move stock prices higher and lower in order to verify behavior of its other proprietary trading algorithms in a controlled environment.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c80374a6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8c80374a6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Power Peg was a test program that bought high and sold low; it was specifically designed to move stock prices higher and lower in order to verify behavior of its other proprietary trading algorithms in a controlled environment.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bbff6985c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8bbff6985c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365 million dollar assets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Lost 450 million dollars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bbff6985c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8bbff6985c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bc4d6c33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8bc4d6c33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bbff6985c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8bbff6985c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600205c7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8600205c7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bbff6985c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bbff6985c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5e77fc3a5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85e77fc3a5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bbff6985c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8bbff6985c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bf47aff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bf47aff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bbff6985c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8bbff6985c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bc4d6c33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8bc4d6c33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bc4d6c33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8bc4d6c33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8bc4d6c33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8bc4d6c33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8bbff6985c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8bbff6985c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8bbff6985c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8bbff6985c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2857"/>
              </a:lnSpc>
              <a:spcBef>
                <a:spcPts val="0"/>
              </a:spcBef>
              <a:spcAft>
                <a:spcPts val="0"/>
              </a:spcAft>
              <a:buNone/>
            </a:pPr>
            <a:r>
              <a:rPr lang="en-GB" sz="1050">
                <a:solidFill>
                  <a:srgbClr val="001D35"/>
                </a:solidFill>
                <a:highlight>
                  <a:srgbClr val="FFFFFF"/>
                </a:highlight>
                <a:latin typeface="Roboto"/>
                <a:ea typeface="Roboto"/>
                <a:cs typeface="Roboto"/>
                <a:sym typeface="Roboto"/>
              </a:rPr>
              <a:t>Monitoring tracks specific, predefined metrics to detect known issues, while observability uses a broader analysis of system data (like logs, metrics, and traces) to understand system behavior and diagnose both known and unknown problems. Monitoring is about collecting and displaying data, whereas observability is about investigating that data to understand why something is happening</a:t>
            </a:r>
            <a:endParaRPr sz="1050">
              <a:solidFill>
                <a:srgbClr val="001D35"/>
              </a:solidFill>
              <a:highlight>
                <a:srgbClr val="FFFFFF"/>
              </a:highlight>
              <a:latin typeface="Roboto"/>
              <a:ea typeface="Roboto"/>
              <a:cs typeface="Roboto"/>
              <a:sym typeface="Roboto"/>
            </a:endParaRPr>
          </a:p>
          <a:p>
            <a:pPr indent="0" lvl="0" marL="0" rtl="0" algn="l">
              <a:lnSpc>
                <a:spcPct val="142857"/>
              </a:lnSpc>
              <a:spcBef>
                <a:spcPts val="0"/>
              </a:spcBef>
              <a:spcAft>
                <a:spcPts val="0"/>
              </a:spcAft>
              <a:buNone/>
            </a:pPr>
            <a:r>
              <a:t/>
            </a:r>
            <a:endParaRPr sz="1050">
              <a:solidFill>
                <a:srgbClr val="001D35"/>
              </a:solidFill>
              <a:highlight>
                <a:srgbClr val="FFFFFF"/>
              </a:highlight>
              <a:latin typeface="Roboto"/>
              <a:ea typeface="Roboto"/>
              <a:cs typeface="Roboto"/>
              <a:sym typeface="Roboto"/>
            </a:endParaRPr>
          </a:p>
          <a:p>
            <a:pPr indent="0" lvl="0" marL="0" rtl="0" algn="l">
              <a:lnSpc>
                <a:spcPct val="142857"/>
              </a:lnSpc>
              <a:spcBef>
                <a:spcPts val="0"/>
              </a:spcBef>
              <a:spcAft>
                <a:spcPts val="0"/>
              </a:spcAft>
              <a:buNone/>
            </a:pPr>
            <a:r>
              <a:rPr lang="en-GB" sz="1050">
                <a:solidFill>
                  <a:srgbClr val="001D35"/>
                </a:solidFill>
                <a:highlight>
                  <a:srgbClr val="FFFFFF"/>
                </a:highlight>
                <a:latin typeface="Roboto"/>
                <a:ea typeface="Roboto"/>
                <a:cs typeface="Roboto"/>
                <a:sym typeface="Roboto"/>
              </a:rPr>
              <a:t>Analogy</a:t>
            </a:r>
            <a:endParaRPr sz="1050">
              <a:solidFill>
                <a:srgbClr val="001D35"/>
              </a:solidFill>
              <a:highlight>
                <a:srgbClr val="FFFFFF"/>
              </a:highlight>
              <a:latin typeface="Roboto"/>
              <a:ea typeface="Roboto"/>
              <a:cs typeface="Roboto"/>
              <a:sym typeface="Roboto"/>
            </a:endParaRPr>
          </a:p>
          <a:p>
            <a:pPr indent="0" lvl="0" marL="0" rtl="0" algn="l">
              <a:lnSpc>
                <a:spcPct val="142857"/>
              </a:lnSpc>
              <a:spcBef>
                <a:spcPts val="0"/>
              </a:spcBef>
              <a:spcAft>
                <a:spcPts val="0"/>
              </a:spcAft>
              <a:buNone/>
            </a:pPr>
            <a:r>
              <a:rPr b="1" lang="en-GB" sz="1050">
                <a:solidFill>
                  <a:srgbClr val="001D35"/>
                </a:solidFill>
                <a:highlight>
                  <a:srgbClr val="FFFFFF"/>
                </a:highlight>
                <a:latin typeface="Roboto"/>
                <a:ea typeface="Roboto"/>
                <a:cs typeface="Roboto"/>
                <a:sym typeface="Roboto"/>
              </a:rPr>
              <a:t>Monitoring </a:t>
            </a:r>
            <a:r>
              <a:rPr lang="en-GB" sz="1050">
                <a:solidFill>
                  <a:srgbClr val="001D35"/>
                </a:solidFill>
                <a:highlight>
                  <a:srgbClr val="FFFFFF"/>
                </a:highlight>
                <a:latin typeface="Roboto"/>
                <a:ea typeface="Roboto"/>
                <a:cs typeface="Roboto"/>
                <a:sym typeface="Roboto"/>
              </a:rPr>
              <a:t>A dashboard that shows you if your car's fuel is low or if the engine temperature is high.</a:t>
            </a:r>
            <a:endParaRPr sz="1050">
              <a:solidFill>
                <a:srgbClr val="001D35"/>
              </a:solidFill>
              <a:highlight>
                <a:srgbClr val="FFFFFF"/>
              </a:highlight>
              <a:latin typeface="Roboto"/>
              <a:ea typeface="Roboto"/>
              <a:cs typeface="Roboto"/>
              <a:sym typeface="Roboto"/>
            </a:endParaRPr>
          </a:p>
          <a:p>
            <a:pPr indent="0" lvl="0" marL="0" rtl="0" algn="l">
              <a:lnSpc>
                <a:spcPct val="142857"/>
              </a:lnSpc>
              <a:spcBef>
                <a:spcPts val="0"/>
              </a:spcBef>
              <a:spcAft>
                <a:spcPts val="0"/>
              </a:spcAft>
              <a:buNone/>
            </a:pPr>
            <a:r>
              <a:rPr b="1" lang="en-GB" sz="1050">
                <a:solidFill>
                  <a:srgbClr val="001D35"/>
                </a:solidFill>
                <a:highlight>
                  <a:srgbClr val="FFFFFF"/>
                </a:highlight>
                <a:latin typeface="Roboto"/>
                <a:ea typeface="Roboto"/>
                <a:cs typeface="Roboto"/>
                <a:sym typeface="Roboto"/>
              </a:rPr>
              <a:t>Observability </a:t>
            </a:r>
            <a:r>
              <a:rPr lang="en-GB" sz="1050">
                <a:solidFill>
                  <a:srgbClr val="001D35"/>
                </a:solidFill>
                <a:highlight>
                  <a:srgbClr val="FFFFFF"/>
                </a:highlight>
                <a:latin typeface="Roboto"/>
                <a:ea typeface="Roboto"/>
                <a:cs typeface="Roboto"/>
                <a:sym typeface="Roboto"/>
              </a:rPr>
              <a:t>The ability to use a diagnostic tool to figure out why the engine is making a strange noise, even if it's a new problem.</a:t>
            </a:r>
            <a:endParaRPr sz="1050">
              <a:solidFill>
                <a:srgbClr val="001D35"/>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bbff6985c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8bbff6985c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8bbff6985c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8bbff6985c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bbff6985c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8bbff6985c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8bbff6985c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8bbff6985c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8bf78b5c0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8bf78b5c0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bbff6985c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8bbff6985c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8bbff6985c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8bbff6985c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8bbff6985c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8bbff6985c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8bbff6985c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8bbff6985c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bbff6985c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8bbff6985c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8bf78b5c0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8bf78b5c0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8bbff6985c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8bbff6985c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bf78b5c0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8bf78b5c0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8bf78b5c0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8bf78b5c0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bbff6985c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8bbff6985c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8bbff6985c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8bbff6985c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8bbff6985c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8bbff6985c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bbff6985c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8bbff6985c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8bf47aff6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8bf47aff6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8600205c7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8600205c7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8bce8677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8bce8677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8bc4d6c33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8bc4d6c33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1" Type="http://schemas.openxmlformats.org/officeDocument/2006/relationships/image" Target="../media/image39.png"/><Relationship Id="rId10" Type="http://schemas.openxmlformats.org/officeDocument/2006/relationships/image" Target="../media/image42.png"/><Relationship Id="rId13" Type="http://schemas.openxmlformats.org/officeDocument/2006/relationships/image" Target="../media/image10.jpg"/><Relationship Id="rId12" Type="http://schemas.openxmlformats.org/officeDocument/2006/relationships/image" Target="../media/image44.png"/><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6.png"/><Relationship Id="rId4" Type="http://schemas.openxmlformats.org/officeDocument/2006/relationships/image" Target="../media/image41.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Roboto"/>
              <a:buNone/>
              <a:defRPr sz="5200">
                <a:latin typeface="Roboto"/>
                <a:ea typeface="Roboto"/>
                <a:cs typeface="Roboto"/>
                <a:sym typeface="Robo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mt="10000"/>
          </a:blip>
          <a:srcRect b="-2440" l="2690" r="-2689" t="3224"/>
          <a:stretch/>
        </p:blipFill>
        <p:spPr>
          <a:xfrm>
            <a:off x="0" y="-841"/>
            <a:ext cx="4048024" cy="2910221"/>
          </a:xfrm>
          <a:prstGeom prst="rect">
            <a:avLst/>
          </a:prstGeom>
          <a:noFill/>
          <a:ln>
            <a:noFill/>
          </a:ln>
        </p:spPr>
      </p:pic>
      <p:pic>
        <p:nvPicPr>
          <p:cNvPr id="52" name="Google Shape;52;p13"/>
          <p:cNvPicPr preferRelativeResize="0"/>
          <p:nvPr/>
        </p:nvPicPr>
        <p:blipFill rotWithShape="1">
          <a:blip r:embed="rId3">
            <a:alphaModFix/>
          </a:blip>
          <a:srcRect b="0" l="0" r="35815" t="0"/>
          <a:stretch/>
        </p:blipFill>
        <p:spPr>
          <a:xfrm>
            <a:off x="88661" y="123933"/>
            <a:ext cx="3407304" cy="2286001"/>
          </a:xfrm>
          <a:prstGeom prst="rect">
            <a:avLst/>
          </a:prstGeom>
          <a:noFill/>
          <a:ln>
            <a:noFill/>
          </a:ln>
        </p:spPr>
      </p:pic>
      <p:pic>
        <p:nvPicPr>
          <p:cNvPr id="53" name="Google Shape;53;p13"/>
          <p:cNvPicPr preferRelativeResize="0"/>
          <p:nvPr/>
        </p:nvPicPr>
        <p:blipFill rotWithShape="1">
          <a:blip r:embed="rId2">
            <a:alphaModFix amt="10000"/>
          </a:blip>
          <a:srcRect b="-2440" l="2690" r="-2689" t="3224"/>
          <a:stretch/>
        </p:blipFill>
        <p:spPr>
          <a:xfrm rot="10800000">
            <a:off x="5111697" y="2288624"/>
            <a:ext cx="4048024" cy="2910221"/>
          </a:xfrm>
          <a:prstGeom prst="rect">
            <a:avLst/>
          </a:prstGeom>
          <a:noFill/>
          <a:ln>
            <a:noFill/>
          </a:ln>
        </p:spPr>
      </p:pic>
      <p:grpSp>
        <p:nvGrpSpPr>
          <p:cNvPr id="54" name="Google Shape;54;p13"/>
          <p:cNvGrpSpPr/>
          <p:nvPr/>
        </p:nvGrpSpPr>
        <p:grpSpPr>
          <a:xfrm>
            <a:off x="2302917" y="454672"/>
            <a:ext cx="7039408" cy="4384097"/>
            <a:chOff x="2201947" y="362035"/>
            <a:chExt cx="5279292" cy="3287908"/>
          </a:xfrm>
        </p:grpSpPr>
        <p:pic>
          <p:nvPicPr>
            <p:cNvPr id="55" name="Google Shape;55;p13"/>
            <p:cNvPicPr preferRelativeResize="0"/>
            <p:nvPr/>
          </p:nvPicPr>
          <p:blipFill rotWithShape="1">
            <a:blip r:embed="rId4">
              <a:alphaModFix/>
            </a:blip>
            <a:srcRect b="0" l="0" r="0" t="0"/>
            <a:stretch/>
          </p:blipFill>
          <p:spPr>
            <a:xfrm>
              <a:off x="2941224" y="518358"/>
              <a:ext cx="3519206" cy="2807263"/>
            </a:xfrm>
            <a:prstGeom prst="rect">
              <a:avLst/>
            </a:prstGeom>
            <a:noFill/>
            <a:ln>
              <a:noFill/>
            </a:ln>
          </p:spPr>
        </p:pic>
        <p:pic>
          <p:nvPicPr>
            <p:cNvPr id="56" name="Google Shape;56;p13"/>
            <p:cNvPicPr preferRelativeResize="0"/>
            <p:nvPr/>
          </p:nvPicPr>
          <p:blipFill rotWithShape="1">
            <a:blip r:embed="rId5">
              <a:alphaModFix/>
            </a:blip>
            <a:srcRect b="0" l="0" r="0" t="0"/>
            <a:stretch/>
          </p:blipFill>
          <p:spPr>
            <a:xfrm>
              <a:off x="2340605" y="2596080"/>
              <a:ext cx="1566378" cy="1038797"/>
            </a:xfrm>
            <a:prstGeom prst="rect">
              <a:avLst/>
            </a:prstGeom>
            <a:noFill/>
            <a:ln>
              <a:noFill/>
            </a:ln>
          </p:spPr>
        </p:pic>
        <p:pic>
          <p:nvPicPr>
            <p:cNvPr id="57" name="Google Shape;57;p13"/>
            <p:cNvPicPr preferRelativeResize="0"/>
            <p:nvPr/>
          </p:nvPicPr>
          <p:blipFill rotWithShape="1">
            <a:blip r:embed="rId6">
              <a:alphaModFix/>
            </a:blip>
            <a:srcRect b="0" l="0" r="0" t="0"/>
            <a:stretch/>
          </p:blipFill>
          <p:spPr>
            <a:xfrm>
              <a:off x="5902037" y="579587"/>
              <a:ext cx="1579202" cy="1047303"/>
            </a:xfrm>
            <a:prstGeom prst="rect">
              <a:avLst/>
            </a:prstGeom>
            <a:noFill/>
            <a:ln>
              <a:noFill/>
            </a:ln>
          </p:spPr>
        </p:pic>
        <p:pic>
          <p:nvPicPr>
            <p:cNvPr id="58" name="Google Shape;58;p13"/>
            <p:cNvPicPr preferRelativeResize="0"/>
            <p:nvPr/>
          </p:nvPicPr>
          <p:blipFill rotWithShape="1">
            <a:blip r:embed="rId7">
              <a:alphaModFix/>
            </a:blip>
            <a:srcRect b="0" l="0" r="0" t="0"/>
            <a:stretch/>
          </p:blipFill>
          <p:spPr>
            <a:xfrm>
              <a:off x="3663536" y="2723889"/>
              <a:ext cx="213848" cy="228883"/>
            </a:xfrm>
            <a:prstGeom prst="rect">
              <a:avLst/>
            </a:prstGeom>
            <a:noFill/>
            <a:ln>
              <a:noFill/>
            </a:ln>
          </p:spPr>
        </p:pic>
        <p:pic>
          <p:nvPicPr>
            <p:cNvPr id="59" name="Google Shape;59;p13"/>
            <p:cNvPicPr preferRelativeResize="0"/>
            <p:nvPr/>
          </p:nvPicPr>
          <p:blipFill rotWithShape="1">
            <a:blip r:embed="rId7">
              <a:alphaModFix/>
            </a:blip>
            <a:srcRect b="0" l="0" r="0" t="0"/>
            <a:stretch/>
          </p:blipFill>
          <p:spPr>
            <a:xfrm>
              <a:off x="2250010" y="3067288"/>
              <a:ext cx="213848" cy="228883"/>
            </a:xfrm>
            <a:prstGeom prst="rect">
              <a:avLst/>
            </a:prstGeom>
            <a:noFill/>
            <a:ln>
              <a:noFill/>
            </a:ln>
          </p:spPr>
        </p:pic>
        <p:pic>
          <p:nvPicPr>
            <p:cNvPr id="60" name="Google Shape;60;p13"/>
            <p:cNvPicPr preferRelativeResize="0"/>
            <p:nvPr/>
          </p:nvPicPr>
          <p:blipFill rotWithShape="1">
            <a:blip r:embed="rId7">
              <a:alphaModFix/>
            </a:blip>
            <a:srcRect b="0" l="0" r="0" t="0"/>
            <a:stretch/>
          </p:blipFill>
          <p:spPr>
            <a:xfrm>
              <a:off x="2956773" y="1949245"/>
              <a:ext cx="213848" cy="228883"/>
            </a:xfrm>
            <a:prstGeom prst="rect">
              <a:avLst/>
            </a:prstGeom>
            <a:noFill/>
            <a:ln>
              <a:noFill/>
            </a:ln>
          </p:spPr>
        </p:pic>
        <p:pic>
          <p:nvPicPr>
            <p:cNvPr id="61" name="Google Shape;61;p13"/>
            <p:cNvPicPr preferRelativeResize="0"/>
            <p:nvPr/>
          </p:nvPicPr>
          <p:blipFill rotWithShape="1">
            <a:blip r:embed="rId7">
              <a:alphaModFix/>
            </a:blip>
            <a:srcRect b="0" l="0" r="0" t="0"/>
            <a:stretch/>
          </p:blipFill>
          <p:spPr>
            <a:xfrm>
              <a:off x="5947540" y="2272679"/>
              <a:ext cx="213848" cy="228883"/>
            </a:xfrm>
            <a:prstGeom prst="rect">
              <a:avLst/>
            </a:prstGeom>
            <a:noFill/>
            <a:ln>
              <a:noFill/>
            </a:ln>
          </p:spPr>
        </p:pic>
        <p:pic>
          <p:nvPicPr>
            <p:cNvPr id="62" name="Google Shape;62;p13"/>
            <p:cNvPicPr preferRelativeResize="0"/>
            <p:nvPr/>
          </p:nvPicPr>
          <p:blipFill rotWithShape="1">
            <a:blip r:embed="rId7">
              <a:alphaModFix/>
            </a:blip>
            <a:srcRect b="0" l="0" r="0" t="0"/>
            <a:stretch/>
          </p:blipFill>
          <p:spPr>
            <a:xfrm>
              <a:off x="6007435" y="1765566"/>
              <a:ext cx="213848" cy="228883"/>
            </a:xfrm>
            <a:prstGeom prst="rect">
              <a:avLst/>
            </a:prstGeom>
            <a:noFill/>
            <a:ln>
              <a:noFill/>
            </a:ln>
          </p:spPr>
        </p:pic>
        <p:pic>
          <p:nvPicPr>
            <p:cNvPr id="63" name="Google Shape;63;p13"/>
            <p:cNvPicPr preferRelativeResize="0"/>
            <p:nvPr/>
          </p:nvPicPr>
          <p:blipFill rotWithShape="1">
            <a:blip r:embed="rId7">
              <a:alphaModFix/>
            </a:blip>
            <a:srcRect b="0" l="0" r="0" t="0"/>
            <a:stretch/>
          </p:blipFill>
          <p:spPr>
            <a:xfrm>
              <a:off x="5560218" y="1438139"/>
              <a:ext cx="213848" cy="228883"/>
            </a:xfrm>
            <a:prstGeom prst="rect">
              <a:avLst/>
            </a:prstGeom>
            <a:noFill/>
            <a:ln>
              <a:noFill/>
            </a:ln>
          </p:spPr>
        </p:pic>
        <p:pic>
          <p:nvPicPr>
            <p:cNvPr id="64" name="Google Shape;64;p13"/>
            <p:cNvPicPr preferRelativeResize="0"/>
            <p:nvPr/>
          </p:nvPicPr>
          <p:blipFill rotWithShape="1">
            <a:blip r:embed="rId7">
              <a:alphaModFix/>
            </a:blip>
            <a:srcRect b="0" l="0" r="0" t="0"/>
            <a:stretch/>
          </p:blipFill>
          <p:spPr>
            <a:xfrm>
              <a:off x="7089165" y="533610"/>
              <a:ext cx="213848" cy="228883"/>
            </a:xfrm>
            <a:prstGeom prst="rect">
              <a:avLst/>
            </a:prstGeom>
            <a:noFill/>
            <a:ln>
              <a:noFill/>
            </a:ln>
          </p:spPr>
        </p:pic>
        <p:pic>
          <p:nvPicPr>
            <p:cNvPr id="65" name="Google Shape;65;p13"/>
            <p:cNvPicPr preferRelativeResize="0"/>
            <p:nvPr/>
          </p:nvPicPr>
          <p:blipFill rotWithShape="1">
            <a:blip r:embed="rId8">
              <a:alphaModFix/>
            </a:blip>
            <a:srcRect b="0" l="0" r="0" t="0"/>
            <a:stretch/>
          </p:blipFill>
          <p:spPr>
            <a:xfrm rot="-309102">
              <a:off x="6874474" y="374007"/>
              <a:ext cx="280137" cy="299834"/>
            </a:xfrm>
            <a:prstGeom prst="rect">
              <a:avLst/>
            </a:prstGeom>
            <a:noFill/>
            <a:ln>
              <a:noFill/>
            </a:ln>
          </p:spPr>
        </p:pic>
        <p:pic>
          <p:nvPicPr>
            <p:cNvPr id="66" name="Google Shape;66;p13"/>
            <p:cNvPicPr preferRelativeResize="0"/>
            <p:nvPr/>
          </p:nvPicPr>
          <p:blipFill rotWithShape="1">
            <a:blip r:embed="rId8">
              <a:alphaModFix/>
            </a:blip>
            <a:srcRect b="0" l="0" r="0" t="0"/>
            <a:stretch/>
          </p:blipFill>
          <p:spPr>
            <a:xfrm rot="-309097">
              <a:off x="6804447" y="1480044"/>
              <a:ext cx="260227" cy="278524"/>
            </a:xfrm>
            <a:prstGeom prst="rect">
              <a:avLst/>
            </a:prstGeom>
            <a:noFill/>
            <a:ln>
              <a:noFill/>
            </a:ln>
          </p:spPr>
        </p:pic>
        <p:pic>
          <p:nvPicPr>
            <p:cNvPr id="67" name="Google Shape;67;p13"/>
            <p:cNvPicPr preferRelativeResize="0"/>
            <p:nvPr/>
          </p:nvPicPr>
          <p:blipFill rotWithShape="1">
            <a:blip r:embed="rId8">
              <a:alphaModFix/>
            </a:blip>
            <a:srcRect b="0" l="0" r="0" t="0"/>
            <a:stretch/>
          </p:blipFill>
          <p:spPr>
            <a:xfrm rot="-309101">
              <a:off x="6086763" y="1873662"/>
              <a:ext cx="247681" cy="265096"/>
            </a:xfrm>
            <a:prstGeom prst="rect">
              <a:avLst/>
            </a:prstGeom>
            <a:noFill/>
            <a:ln>
              <a:noFill/>
            </a:ln>
          </p:spPr>
        </p:pic>
        <p:pic>
          <p:nvPicPr>
            <p:cNvPr id="68" name="Google Shape;68;p13"/>
            <p:cNvPicPr preferRelativeResize="0"/>
            <p:nvPr/>
          </p:nvPicPr>
          <p:blipFill rotWithShape="1">
            <a:blip r:embed="rId8">
              <a:alphaModFix/>
            </a:blip>
            <a:srcRect b="0" l="0" r="0" t="0"/>
            <a:stretch/>
          </p:blipFill>
          <p:spPr>
            <a:xfrm rot="-309095">
              <a:off x="3047803" y="1692990"/>
              <a:ext cx="230228" cy="246417"/>
            </a:xfrm>
            <a:prstGeom prst="rect">
              <a:avLst/>
            </a:prstGeom>
            <a:noFill/>
            <a:ln>
              <a:noFill/>
            </a:ln>
          </p:spPr>
        </p:pic>
        <p:pic>
          <p:nvPicPr>
            <p:cNvPr id="69" name="Google Shape;69;p13"/>
            <p:cNvPicPr preferRelativeResize="0"/>
            <p:nvPr/>
          </p:nvPicPr>
          <p:blipFill rotWithShape="1">
            <a:blip r:embed="rId8">
              <a:alphaModFix/>
            </a:blip>
            <a:srcRect b="0" l="0" r="0" t="0"/>
            <a:stretch/>
          </p:blipFill>
          <p:spPr>
            <a:xfrm rot="-309094">
              <a:off x="2213950" y="3359715"/>
              <a:ext cx="260750" cy="279085"/>
            </a:xfrm>
            <a:prstGeom prst="rect">
              <a:avLst/>
            </a:prstGeom>
            <a:noFill/>
            <a:ln>
              <a:noFill/>
            </a:ln>
          </p:spPr>
        </p:pic>
      </p:grpSp>
      <p:pic>
        <p:nvPicPr>
          <p:cNvPr id="70" name="Google Shape;70;p13"/>
          <p:cNvPicPr preferRelativeResize="0"/>
          <p:nvPr/>
        </p:nvPicPr>
        <p:blipFill rotWithShape="1">
          <a:blip r:embed="rId9">
            <a:alphaModFix/>
          </a:blip>
          <a:srcRect b="0" l="0" r="0" t="0"/>
          <a:stretch/>
        </p:blipFill>
        <p:spPr>
          <a:xfrm>
            <a:off x="247216" y="4432134"/>
            <a:ext cx="2451100" cy="647700"/>
          </a:xfrm>
          <a:prstGeom prst="rect">
            <a:avLst/>
          </a:prstGeom>
          <a:noFill/>
          <a:ln>
            <a:noFill/>
          </a:ln>
        </p:spPr>
      </p:pic>
      <p:pic>
        <p:nvPicPr>
          <p:cNvPr id="71" name="Google Shape;71;p13"/>
          <p:cNvPicPr preferRelativeResize="0"/>
          <p:nvPr/>
        </p:nvPicPr>
        <p:blipFill rotWithShape="1">
          <a:blip r:embed="rId10">
            <a:alphaModFix/>
          </a:blip>
          <a:srcRect b="0" l="0" r="0" t="24868"/>
          <a:stretch/>
        </p:blipFill>
        <p:spPr>
          <a:xfrm>
            <a:off x="3535231" y="0"/>
            <a:ext cx="6024410" cy="2511320"/>
          </a:xfrm>
          <a:prstGeom prst="rect">
            <a:avLst/>
          </a:prstGeom>
          <a:noFill/>
          <a:ln>
            <a:noFill/>
          </a:ln>
        </p:spPr>
      </p:pic>
      <p:pic>
        <p:nvPicPr>
          <p:cNvPr id="72" name="Google Shape;72;p13"/>
          <p:cNvPicPr preferRelativeResize="0"/>
          <p:nvPr/>
        </p:nvPicPr>
        <p:blipFill rotWithShape="1">
          <a:blip r:embed="rId11">
            <a:alphaModFix/>
          </a:blip>
          <a:srcRect b="35090" l="0" r="0" t="0"/>
          <a:stretch/>
        </p:blipFill>
        <p:spPr>
          <a:xfrm>
            <a:off x="2468293" y="3254503"/>
            <a:ext cx="5245104" cy="1888996"/>
          </a:xfrm>
          <a:prstGeom prst="rect">
            <a:avLst/>
          </a:prstGeom>
          <a:noFill/>
          <a:ln>
            <a:noFill/>
          </a:ln>
        </p:spPr>
      </p:pic>
      <p:pic>
        <p:nvPicPr>
          <p:cNvPr id="73" name="Google Shape;73;p13"/>
          <p:cNvPicPr preferRelativeResize="0"/>
          <p:nvPr/>
        </p:nvPicPr>
        <p:blipFill rotWithShape="1">
          <a:blip r:embed="rId12">
            <a:alphaModFix/>
          </a:blip>
          <a:srcRect b="0" l="0" r="0" t="0"/>
          <a:stretch/>
        </p:blipFill>
        <p:spPr>
          <a:xfrm>
            <a:off x="3526451" y="1508715"/>
            <a:ext cx="3952094" cy="2751742"/>
          </a:xfrm>
          <a:prstGeom prst="rect">
            <a:avLst/>
          </a:prstGeom>
          <a:noFill/>
          <a:ln>
            <a:noFill/>
          </a:ln>
        </p:spPr>
      </p:pic>
      <p:pic>
        <p:nvPicPr>
          <p:cNvPr id="74" name="Google Shape;74;p13"/>
          <p:cNvPicPr preferRelativeResize="0"/>
          <p:nvPr/>
        </p:nvPicPr>
        <p:blipFill rotWithShape="1">
          <a:blip r:embed="rId13">
            <a:alphaModFix/>
          </a:blip>
          <a:srcRect b="0" l="0" r="0" t="0"/>
          <a:stretch/>
        </p:blipFill>
        <p:spPr>
          <a:xfrm>
            <a:off x="7418458" y="3409859"/>
            <a:ext cx="1590189" cy="159018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bg>
      <p:bgPr>
        <a:solidFill>
          <a:schemeClr val="lt1"/>
        </a:solidFill>
      </p:bgPr>
    </p:bg>
    <p:spTree>
      <p:nvGrpSpPr>
        <p:cNvPr id="75" name="Shape 75"/>
        <p:cNvGrpSpPr/>
        <p:nvPr/>
      </p:nvGrpSpPr>
      <p:grpSpPr>
        <a:xfrm>
          <a:off x="0" y="0"/>
          <a:ext cx="0" cy="0"/>
          <a:chOff x="0" y="0"/>
          <a:chExt cx="0" cy="0"/>
        </a:xfrm>
      </p:grpSpPr>
      <p:sp>
        <p:nvSpPr>
          <p:cNvPr id="76" name="Google Shape;76;p14"/>
          <p:cNvSpPr txBox="1"/>
          <p:nvPr>
            <p:ph type="ctrTitle"/>
          </p:nvPr>
        </p:nvSpPr>
        <p:spPr>
          <a:xfrm>
            <a:off x="720000" y="948600"/>
            <a:ext cx="3852000" cy="1896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24763"/>
              </a:buClr>
              <a:buSzPts val="4300"/>
              <a:buFont typeface="Montserrat ExtraBold"/>
              <a:buNone/>
              <a:defRPr sz="4300">
                <a:solidFill>
                  <a:schemeClr val="dk2"/>
                </a:solidFill>
                <a:latin typeface="Montserrat ExtraBold"/>
                <a:ea typeface="Montserrat ExtraBold"/>
                <a:cs typeface="Montserrat ExtraBold"/>
                <a:sym typeface="Montserrat ExtraBold"/>
              </a:defRPr>
            </a:lvl1pPr>
            <a:lvl2pPr lvl="1"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2pPr>
            <a:lvl3pPr lvl="2"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3pPr>
            <a:lvl4pPr lvl="3"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4pPr>
            <a:lvl5pPr lvl="4"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5pPr>
            <a:lvl6pPr lvl="5"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6pPr>
            <a:lvl7pPr lvl="6"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7pPr>
            <a:lvl8pPr lvl="7"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8pPr>
            <a:lvl9pPr lvl="8" algn="l">
              <a:lnSpc>
                <a:spcPct val="100000"/>
              </a:lnSpc>
              <a:spcBef>
                <a:spcPts val="0"/>
              </a:spcBef>
              <a:spcAft>
                <a:spcPts val="0"/>
              </a:spcAft>
              <a:buClr>
                <a:srgbClr val="024763"/>
              </a:buClr>
              <a:buSzPts val="2500"/>
              <a:buFont typeface="Montserrat ExtraBold"/>
              <a:buNone/>
              <a:defRPr sz="2500">
                <a:solidFill>
                  <a:srgbClr val="024763"/>
                </a:solidFill>
                <a:latin typeface="Montserrat ExtraBold"/>
                <a:ea typeface="Montserrat ExtraBold"/>
                <a:cs typeface="Montserrat ExtraBold"/>
                <a:sym typeface="Montserrat ExtraBold"/>
              </a:defRPr>
            </a:lvl9pPr>
          </a:lstStyle>
          <a:p/>
        </p:txBody>
      </p:sp>
      <p:sp>
        <p:nvSpPr>
          <p:cNvPr id="77" name="Google Shape;77;p14"/>
          <p:cNvSpPr txBox="1"/>
          <p:nvPr>
            <p:ph idx="1" type="subTitle"/>
          </p:nvPr>
        </p:nvSpPr>
        <p:spPr>
          <a:xfrm>
            <a:off x="720000" y="2350647"/>
            <a:ext cx="3852000" cy="189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24763"/>
              </a:buClr>
              <a:buSzPts val="1800"/>
              <a:buFont typeface="Montserrat"/>
              <a:buNone/>
              <a:defRPr>
                <a:solidFill>
                  <a:schemeClr val="dk1"/>
                </a:solidFill>
                <a:latin typeface="Montserrat"/>
                <a:ea typeface="Montserrat"/>
                <a:cs typeface="Montserrat"/>
                <a:sym typeface="Montserrat"/>
              </a:defRPr>
            </a:lvl1pPr>
            <a:lvl2pPr lvl="1"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2pPr>
            <a:lvl3pPr lvl="2"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3pPr>
            <a:lvl4pPr lvl="3"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4pPr>
            <a:lvl5pPr lvl="4"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5pPr>
            <a:lvl6pPr lvl="5"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6pPr>
            <a:lvl7pPr lvl="6"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7pPr>
            <a:lvl8pPr lvl="7"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8pPr>
            <a:lvl9pPr lvl="8" algn="l">
              <a:lnSpc>
                <a:spcPct val="100000"/>
              </a:lnSpc>
              <a:spcBef>
                <a:spcPts val="0"/>
              </a:spcBef>
              <a:spcAft>
                <a:spcPts val="0"/>
              </a:spcAft>
              <a:buClr>
                <a:srgbClr val="024763"/>
              </a:buClr>
              <a:buSzPts val="1800"/>
              <a:buFont typeface="Montserrat"/>
              <a:buNone/>
              <a:defRPr sz="1800">
                <a:solidFill>
                  <a:srgbClr val="024763"/>
                </a:solidFill>
                <a:latin typeface="Montserrat"/>
                <a:ea typeface="Montserrat"/>
                <a:cs typeface="Montserrat"/>
                <a:sym typeface="Montserrat"/>
              </a:defRPr>
            </a:lvl9pPr>
          </a:lstStyle>
          <a:p/>
        </p:txBody>
      </p:sp>
      <p:cxnSp>
        <p:nvCxnSpPr>
          <p:cNvPr id="78" name="Google Shape;78;p14"/>
          <p:cNvCxnSpPr/>
          <p:nvPr/>
        </p:nvCxnSpPr>
        <p:spPr>
          <a:xfrm>
            <a:off x="364253" y="4756527"/>
            <a:ext cx="8415600" cy="0"/>
          </a:xfrm>
          <a:prstGeom prst="straightConnector1">
            <a:avLst/>
          </a:prstGeom>
          <a:noFill/>
          <a:ln cap="flat" cmpd="sng" w="12700">
            <a:solidFill>
              <a:schemeClr val="accent5"/>
            </a:solidFill>
            <a:prstDash val="solid"/>
            <a:round/>
            <a:headEnd len="sm" w="sm" type="none"/>
            <a:tailEnd len="sm" w="sm" type="none"/>
          </a:ln>
        </p:spPr>
      </p:cxnSp>
      <p:sp>
        <p:nvSpPr>
          <p:cNvPr id="79" name="Google Shape;79;p14"/>
          <p:cNvSpPr txBox="1"/>
          <p:nvPr/>
        </p:nvSpPr>
        <p:spPr>
          <a:xfrm>
            <a:off x="266260" y="4801449"/>
            <a:ext cx="5766900" cy="28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800" u="none" cap="none" strike="noStrike">
                <a:solidFill>
                  <a:schemeClr val="dk2"/>
                </a:solidFill>
                <a:latin typeface="Montserrat"/>
                <a:ea typeface="Montserrat"/>
                <a:cs typeface="Montserrat"/>
                <a:sym typeface="Montserrat"/>
              </a:rPr>
              <a:t>Speaker Names </a:t>
            </a:r>
            <a:r>
              <a:rPr b="0" i="0" lang="en-GB" sz="800" u="none" cap="none" strike="noStrike">
                <a:solidFill>
                  <a:schemeClr val="dk1"/>
                </a:solidFill>
                <a:latin typeface="Montserrat"/>
                <a:ea typeface="Montserrat"/>
                <a:cs typeface="Montserrat"/>
                <a:sym typeface="Montserrat"/>
              </a:rPr>
              <a:t>Topic Title Goes Here</a:t>
            </a:r>
            <a:endParaRPr/>
          </a:p>
        </p:txBody>
      </p:sp>
      <p:sp>
        <p:nvSpPr>
          <p:cNvPr id="80" name="Google Shape;80;p14"/>
          <p:cNvSpPr txBox="1"/>
          <p:nvPr/>
        </p:nvSpPr>
        <p:spPr>
          <a:xfrm>
            <a:off x="3103730" y="4801449"/>
            <a:ext cx="5766900" cy="288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GB" sz="800" u="none" cap="none" strike="noStrike">
                <a:solidFill>
                  <a:schemeClr val="dk1"/>
                </a:solidFill>
                <a:latin typeface="Montserrat"/>
                <a:ea typeface="Montserrat"/>
                <a:cs typeface="Montserrat"/>
                <a:sym typeface="Montserrat"/>
              </a:rPr>
              <a:t>‹#›</a:t>
            </a:fld>
            <a:endParaRPr b="0" i="0" sz="800" u="none" cap="none" strike="noStrike">
              <a:solidFill>
                <a:schemeClr val="dk1"/>
              </a:solidFill>
              <a:latin typeface="Montserrat"/>
              <a:ea typeface="Montserrat"/>
              <a:cs typeface="Montserrat"/>
              <a:sym typeface="Montserrat"/>
            </a:endParaRPr>
          </a:p>
        </p:txBody>
      </p:sp>
      <p:pic>
        <p:nvPicPr>
          <p:cNvPr id="81" name="Google Shape;81;p14"/>
          <p:cNvPicPr preferRelativeResize="0"/>
          <p:nvPr/>
        </p:nvPicPr>
        <p:blipFill rotWithShape="1">
          <a:blip r:embed="rId2">
            <a:alphaModFix amt="5000"/>
          </a:blip>
          <a:srcRect b="-2440" l="2690" r="-2689" t="3224"/>
          <a:stretch/>
        </p:blipFill>
        <p:spPr>
          <a:xfrm>
            <a:off x="0" y="-841"/>
            <a:ext cx="4048024" cy="291022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unsplash.com/@schiba?utm_source=unsplash&amp;utm_medium=referral&amp;utm_content=creditCopyText" TargetMode="External"/><Relationship Id="rId4" Type="http://schemas.openxmlformats.org/officeDocument/2006/relationships/hyperlink" Target="https://unsplash.com/@schiba?utm_source=unsplash&amp;utm_medium=referral&amp;utm_content=creditCopyText" TargetMode="External"/><Relationship Id="rId5" Type="http://schemas.openxmlformats.org/officeDocument/2006/relationships/hyperlink" Target="https://unsplash.com/photos/a-bunch-of-flags-that-are-hanging-in-the-air-qkWOI6b2p5w?utm_source=unsplash&amp;utm_medium=referral&amp;utm_content=creditCopyText" TargetMode="External"/><Relationship Id="rId6" Type="http://schemas.openxmlformats.org/officeDocument/2006/relationships/hyperlink" Target="https://unsplash.com/photos/a-bunch-of-flags-that-are-hanging-in-the-air-qkWOI6b2p5w?utm_source=unsplash&amp;utm_medium=referral&amp;utm_content=creditCopyText" TargetMode="External"/><Relationship Id="rId7" Type="http://schemas.openxmlformats.org/officeDocument/2006/relationships/image" Target="../media/image3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hyperlink" Target="https://www.thoughtworks.com/en-us/profiles/leaders/martin-fowl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hyperlink" Target="https://launchdarkly.com/leadershi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hyperlink" Target="https://www.cloudbees.com/blog/5-best-practices-for-feature-flagg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gif"/><Relationship Id="rId4" Type="http://schemas.openxmlformats.org/officeDocument/2006/relationships/hyperlink" Target="https://tenor.com/en-CA/view/the-ren-and-stimpy-show-red-button-button-press-gif-558395306384956713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hyperlink" Target="http://scifi.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hyperlink" Target="https://www.prodpad.com/glossary/product-adoption-curv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jpg"/><Relationship Id="rId4" Type="http://schemas.openxmlformats.org/officeDocument/2006/relationships/hyperlink" Target="https://www.statsig.com/blog/lose-half-a-billion-dollars-with-bad-feature-flags-knight-capita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oundofdevelopmen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jpg"/><Relationship Id="rId4" Type="http://schemas.openxmlformats.org/officeDocument/2006/relationships/hyperlink" Target="https://www.flickr.com/photos/nataliemaynor/298836643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posthog.com/newsletter/feature-flag-mistake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7.jpg"/><Relationship Id="rId4" Type="http://schemas.openxmlformats.org/officeDocument/2006/relationships/hyperlink" Target="https://newsletter.manager.dev/p/feature-flags-are-ruining-your-codebas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8.jpg"/><Relationship Id="rId4" Type="http://schemas.openxmlformats.org/officeDocument/2006/relationships/hyperlink" Target="https://www.reddit.com/r/CrappyDesign/comments/6cdo95/this_light_switch/#lightbox"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2.png"/><Relationship Id="rId4" Type="http://schemas.openxmlformats.org/officeDocument/2006/relationships/hyperlink" Target="https://medium.com/@ridvanozcan48"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5.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1.png"/><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6.png"/><Relationship Id="rId4" Type="http://schemas.openxmlformats.org/officeDocument/2006/relationships/hyperlink" Target="https://www.martinfowler.com/bliki/BranchByAbstraction.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5.png"/><Relationship Id="rId4" Type="http://schemas.openxmlformats.org/officeDocument/2006/relationships/hyperlink" Target="https://martinfowler.com/bliki/KeystoneInterface.htm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36.gif"/><Relationship Id="rId4" Type="http://schemas.openxmlformats.org/officeDocument/2006/relationships/image" Target="../media/image29.gi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idx="1" type="subTitle"/>
          </p:nvPr>
        </p:nvSpPr>
        <p:spPr>
          <a:xfrm>
            <a:off x="421425" y="4000500"/>
            <a:ext cx="8520600" cy="78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GB" sz="3300">
                <a:solidFill>
                  <a:schemeClr val="dk1"/>
                </a:solidFill>
              </a:rPr>
              <a:t>Vaishnavi Venkata Subramanian</a:t>
            </a:r>
            <a:endParaRPr sz="3000"/>
          </a:p>
        </p:txBody>
      </p:sp>
      <p:pic>
        <p:nvPicPr>
          <p:cNvPr id="91" name="Google Shape;91;p16" title="ProfilePicture.jpg"/>
          <p:cNvPicPr preferRelativeResize="0"/>
          <p:nvPr/>
        </p:nvPicPr>
        <p:blipFill>
          <a:blip r:embed="rId3">
            <a:alphaModFix/>
          </a:blip>
          <a:stretch>
            <a:fillRect/>
          </a:stretch>
        </p:blipFill>
        <p:spPr>
          <a:xfrm>
            <a:off x="6443100" y="997525"/>
            <a:ext cx="2548100" cy="2548100"/>
          </a:xfrm>
          <a:prstGeom prst="rect">
            <a:avLst/>
          </a:prstGeom>
          <a:noFill/>
          <a:ln>
            <a:noFill/>
          </a:ln>
        </p:spPr>
      </p:pic>
      <p:sp>
        <p:nvSpPr>
          <p:cNvPr id="92" name="Google Shape;92;p16"/>
          <p:cNvSpPr txBox="1"/>
          <p:nvPr>
            <p:ph type="ctrTitle"/>
          </p:nvPr>
        </p:nvSpPr>
        <p:spPr>
          <a:xfrm>
            <a:off x="311700" y="744575"/>
            <a:ext cx="6317700" cy="2744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GB" sz="3000">
                <a:solidFill>
                  <a:srgbClr val="000000"/>
                </a:solidFill>
              </a:rPr>
              <a:t>The Power of the Pause Button : The Superpower of Feature Flags and the Future of Software Delivery</a:t>
            </a:r>
            <a:endParaRPr sz="3300">
              <a:solidFill>
                <a:srgbClr val="000000"/>
              </a:solidFill>
            </a:endParaRPr>
          </a:p>
          <a:p>
            <a:pPr indent="0" lvl="0" marL="0" rtl="0" algn="l">
              <a:lnSpc>
                <a:spcPct val="100000"/>
              </a:lnSpc>
              <a:spcBef>
                <a:spcPts val="0"/>
              </a:spcBef>
              <a:spcAft>
                <a:spcPts val="0"/>
              </a:spcAft>
              <a:buClr>
                <a:schemeClr val="dk1"/>
              </a:buClr>
              <a:buSzPts val="1100"/>
              <a:buFont typeface="Arial"/>
              <a:buNone/>
            </a:pPr>
            <a:r>
              <a:t/>
            </a:r>
            <a:endParaRPr sz="3300">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7"/>
          <p:cNvPicPr preferRelativeResize="0"/>
          <p:nvPr/>
        </p:nvPicPr>
        <p:blipFill>
          <a:blip r:embed="rId3">
            <a:alphaModFix/>
          </a:blip>
          <a:stretch>
            <a:fillRect/>
          </a:stretch>
        </p:blipFill>
        <p:spPr>
          <a:xfrm>
            <a:off x="152400" y="152400"/>
            <a:ext cx="8573445" cy="4838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8"/>
          <p:cNvPicPr preferRelativeResize="0"/>
          <p:nvPr/>
        </p:nvPicPr>
        <p:blipFill>
          <a:blip r:embed="rId3">
            <a:alphaModFix/>
          </a:blip>
          <a:stretch>
            <a:fillRect/>
          </a:stretch>
        </p:blipFill>
        <p:spPr>
          <a:xfrm>
            <a:off x="947925" y="97525"/>
            <a:ext cx="6842998" cy="4838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nvSpPr>
        <p:spPr>
          <a:xfrm>
            <a:off x="5572575" y="4637100"/>
            <a:ext cx="3470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Photo by</a:t>
            </a:r>
            <a:r>
              <a:rPr lang="en-GB" sz="1100">
                <a:solidFill>
                  <a:schemeClr val="dk1"/>
                </a:solidFill>
                <a:uFill>
                  <a:noFill/>
                </a:uFill>
                <a:hlinkClick r:id="rId3">
                  <a:extLst>
                    <a:ext uri="{A12FA001-AC4F-418D-AE19-62706E023703}">
                      <ahyp:hlinkClr val="tx"/>
                    </a:ext>
                  </a:extLst>
                </a:hlinkClick>
              </a:rPr>
              <a:t> </a:t>
            </a:r>
            <a:r>
              <a:rPr lang="en-GB" sz="1100" u="sng">
                <a:solidFill>
                  <a:schemeClr val="hlink"/>
                </a:solidFill>
                <a:hlinkClick r:id="rId4"/>
              </a:rPr>
              <a:t>Schiba</a:t>
            </a:r>
            <a:r>
              <a:rPr lang="en-GB" sz="1100">
                <a:solidFill>
                  <a:schemeClr val="dk1"/>
                </a:solidFill>
              </a:rPr>
              <a:t> on</a:t>
            </a:r>
            <a:r>
              <a:rPr lang="en-GB" sz="1100">
                <a:solidFill>
                  <a:schemeClr val="dk1"/>
                </a:solidFill>
                <a:uFill>
                  <a:noFill/>
                </a:uFill>
                <a:hlinkClick r:id="rId5">
                  <a:extLst>
                    <a:ext uri="{A12FA001-AC4F-418D-AE19-62706E023703}">
                      <ahyp:hlinkClr val="tx"/>
                    </a:ext>
                  </a:extLst>
                </a:hlinkClick>
              </a:rPr>
              <a:t> </a:t>
            </a:r>
            <a:r>
              <a:rPr lang="en-GB" sz="1100" u="sng">
                <a:solidFill>
                  <a:schemeClr val="hlink"/>
                </a:solidFill>
                <a:hlinkClick r:id="rId6"/>
              </a:rPr>
              <a:t>Unsplash</a:t>
            </a:r>
            <a:endParaRPr/>
          </a:p>
        </p:txBody>
      </p:sp>
      <p:pic>
        <p:nvPicPr>
          <p:cNvPr id="108" name="Google Shape;108;p19"/>
          <p:cNvPicPr preferRelativeResize="0"/>
          <p:nvPr/>
        </p:nvPicPr>
        <p:blipFill>
          <a:blip r:embed="rId7">
            <a:alphaModFix/>
          </a:blip>
          <a:stretch>
            <a:fillRect/>
          </a:stretch>
        </p:blipFill>
        <p:spPr>
          <a:xfrm>
            <a:off x="2431675" y="152400"/>
            <a:ext cx="2717045" cy="48387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0"/>
          <p:cNvPicPr preferRelativeResize="0"/>
          <p:nvPr/>
        </p:nvPicPr>
        <p:blipFill>
          <a:blip r:embed="rId3">
            <a:alphaModFix/>
          </a:blip>
          <a:stretch>
            <a:fillRect/>
          </a:stretch>
        </p:blipFill>
        <p:spPr>
          <a:xfrm>
            <a:off x="808050" y="1062700"/>
            <a:ext cx="3366175" cy="3366175"/>
          </a:xfrm>
          <a:prstGeom prst="rect">
            <a:avLst/>
          </a:prstGeom>
          <a:noFill/>
          <a:ln>
            <a:noFill/>
          </a:ln>
        </p:spPr>
      </p:pic>
      <p:sp>
        <p:nvSpPr>
          <p:cNvPr id="114" name="Google Shape;114;p20"/>
          <p:cNvSpPr txBox="1"/>
          <p:nvPr/>
        </p:nvSpPr>
        <p:spPr>
          <a:xfrm>
            <a:off x="4803900" y="2217425"/>
            <a:ext cx="4340100" cy="14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400">
                <a:solidFill>
                  <a:srgbClr val="001D35"/>
                </a:solidFill>
                <a:highlight>
                  <a:srgbClr val="FFFFFF"/>
                </a:highlight>
                <a:latin typeface="Roboto"/>
                <a:ea typeface="Roboto"/>
                <a:cs typeface="Roboto"/>
                <a:sym typeface="Roboto"/>
              </a:rPr>
              <a:t>Martin Fowler</a:t>
            </a:r>
            <a:endParaRPr sz="2400">
              <a:solidFill>
                <a:srgbClr val="001D35"/>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GB" sz="2400">
                <a:solidFill>
                  <a:srgbClr val="001D35"/>
                </a:solidFill>
                <a:highlight>
                  <a:srgbClr val="FFFFFF"/>
                </a:highlight>
                <a:latin typeface="Roboto"/>
                <a:ea typeface="Roboto"/>
                <a:cs typeface="Roboto"/>
                <a:sym typeface="Roboto"/>
              </a:rPr>
              <a:t>Chief Scientist, </a:t>
            </a:r>
            <a:endParaRPr sz="2400">
              <a:solidFill>
                <a:srgbClr val="001D35"/>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GB" sz="2400">
                <a:solidFill>
                  <a:srgbClr val="001D35"/>
                </a:solidFill>
                <a:highlight>
                  <a:srgbClr val="FFFFFF"/>
                </a:highlight>
                <a:latin typeface="Roboto"/>
                <a:ea typeface="Roboto"/>
                <a:cs typeface="Roboto"/>
                <a:sym typeface="Roboto"/>
              </a:rPr>
              <a:t>Thoughtworks</a:t>
            </a:r>
            <a:endParaRPr sz="2400">
              <a:solidFill>
                <a:srgbClr val="001D35"/>
              </a:solidFill>
              <a:highlight>
                <a:srgbClr val="FFFFFF"/>
              </a:highlight>
              <a:latin typeface="Roboto"/>
              <a:ea typeface="Roboto"/>
              <a:cs typeface="Roboto"/>
              <a:sym typeface="Roboto"/>
            </a:endParaRPr>
          </a:p>
        </p:txBody>
      </p:sp>
      <p:sp>
        <p:nvSpPr>
          <p:cNvPr id="115" name="Google Shape;115;p20"/>
          <p:cNvSpPr txBox="1"/>
          <p:nvPr/>
        </p:nvSpPr>
        <p:spPr>
          <a:xfrm>
            <a:off x="6245425" y="4678925"/>
            <a:ext cx="2702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Roboto"/>
                <a:ea typeface="Roboto"/>
                <a:cs typeface="Roboto"/>
                <a:sym typeface="Roboto"/>
              </a:rPr>
              <a:t>Image : </a:t>
            </a:r>
            <a:r>
              <a:rPr lang="en-GB" sz="1200" u="sng">
                <a:solidFill>
                  <a:schemeClr val="hlink"/>
                </a:solidFill>
                <a:latin typeface="Roboto"/>
                <a:ea typeface="Roboto"/>
                <a:cs typeface="Roboto"/>
                <a:sym typeface="Roboto"/>
                <a:hlinkClick r:id="rId4"/>
              </a:rPr>
              <a:t>thoughtworks</a:t>
            </a:r>
            <a:endParaRPr sz="120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ctrTitle"/>
          </p:nvPr>
        </p:nvSpPr>
        <p:spPr>
          <a:xfrm>
            <a:off x="4385350" y="1028700"/>
            <a:ext cx="4548300" cy="2894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sz="2400"/>
          </a:p>
          <a:p>
            <a:pPr indent="0" lvl="0" marL="0" rtl="0" algn="ctr">
              <a:spcBef>
                <a:spcPts val="0"/>
              </a:spcBef>
              <a:spcAft>
                <a:spcPts val="0"/>
              </a:spcAft>
              <a:buNone/>
            </a:pPr>
            <a:r>
              <a:rPr lang="en-GB" sz="2400"/>
              <a:t>Edith Harbaugh</a:t>
            </a:r>
            <a:endParaRPr sz="2400"/>
          </a:p>
          <a:p>
            <a:pPr indent="0" lvl="0" marL="0" rtl="0" algn="ctr">
              <a:spcBef>
                <a:spcPts val="0"/>
              </a:spcBef>
              <a:spcAft>
                <a:spcPts val="0"/>
              </a:spcAft>
              <a:buNone/>
            </a:pPr>
            <a:r>
              <a:rPr lang="en-GB" sz="2400"/>
              <a:t>         CEO, Executive Chair </a:t>
            </a:r>
            <a:endParaRPr sz="2400"/>
          </a:p>
          <a:p>
            <a:pPr indent="0" lvl="0" marL="0" rtl="0" algn="l">
              <a:spcBef>
                <a:spcPts val="0"/>
              </a:spcBef>
              <a:spcAft>
                <a:spcPts val="0"/>
              </a:spcAft>
              <a:buNone/>
            </a:pPr>
            <a:r>
              <a:rPr lang="en-GB" sz="2400"/>
              <a:t>               LaunchDarkly</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t/>
            </a:r>
            <a:endParaRPr sz="3000"/>
          </a:p>
        </p:txBody>
      </p:sp>
      <p:pic>
        <p:nvPicPr>
          <p:cNvPr id="121" name="Google Shape;121;p21"/>
          <p:cNvPicPr preferRelativeResize="0"/>
          <p:nvPr/>
        </p:nvPicPr>
        <p:blipFill>
          <a:blip r:embed="rId3">
            <a:alphaModFix/>
          </a:blip>
          <a:stretch>
            <a:fillRect/>
          </a:stretch>
        </p:blipFill>
        <p:spPr>
          <a:xfrm>
            <a:off x="800100" y="971050"/>
            <a:ext cx="3070825" cy="3009400"/>
          </a:xfrm>
          <a:prstGeom prst="rect">
            <a:avLst/>
          </a:prstGeom>
          <a:noFill/>
          <a:ln>
            <a:noFill/>
          </a:ln>
        </p:spPr>
      </p:pic>
      <p:sp>
        <p:nvSpPr>
          <p:cNvPr id="122" name="Google Shape;122;p21"/>
          <p:cNvSpPr txBox="1"/>
          <p:nvPr/>
        </p:nvSpPr>
        <p:spPr>
          <a:xfrm>
            <a:off x="7015300" y="4723275"/>
            <a:ext cx="1981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Roboto"/>
                <a:ea typeface="Roboto"/>
                <a:cs typeface="Roboto"/>
                <a:sym typeface="Roboto"/>
              </a:rPr>
              <a:t>Image : </a:t>
            </a:r>
            <a:r>
              <a:rPr lang="en-GB" sz="1200" u="sng">
                <a:solidFill>
                  <a:schemeClr val="hlink"/>
                </a:solidFill>
                <a:latin typeface="Roboto"/>
                <a:ea typeface="Roboto"/>
                <a:cs typeface="Roboto"/>
                <a:sym typeface="Roboto"/>
                <a:hlinkClick r:id="rId4"/>
              </a:rPr>
              <a:t>launchdarkly.com</a:t>
            </a:r>
            <a:endParaRPr sz="12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nvSpPr>
        <p:spPr>
          <a:xfrm>
            <a:off x="178950" y="1640125"/>
            <a:ext cx="8878200" cy="130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200">
                <a:solidFill>
                  <a:schemeClr val="dk1"/>
                </a:solidFill>
                <a:latin typeface="Roboto"/>
                <a:ea typeface="Roboto"/>
                <a:cs typeface="Roboto"/>
                <a:sym typeface="Roboto"/>
              </a:rPr>
              <a:t>Software engineering technique that allows teams to enable or disable specific features in their applications dynamically, without having to redeploy the code.</a:t>
            </a:r>
            <a:endParaRPr sz="2200">
              <a:solidFill>
                <a:schemeClr val="dk1"/>
              </a:solidFill>
              <a:latin typeface="Roboto"/>
              <a:ea typeface="Roboto"/>
              <a:cs typeface="Roboto"/>
              <a:sym typeface="Roboto"/>
            </a:endParaRPr>
          </a:p>
        </p:txBody>
      </p:sp>
      <p:sp>
        <p:nvSpPr>
          <p:cNvPr id="128" name="Google Shape;128;p22"/>
          <p:cNvSpPr txBox="1"/>
          <p:nvPr/>
        </p:nvSpPr>
        <p:spPr>
          <a:xfrm>
            <a:off x="178950" y="348350"/>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Roboto"/>
                <a:ea typeface="Roboto"/>
                <a:cs typeface="Roboto"/>
                <a:sym typeface="Roboto"/>
              </a:rPr>
              <a:t>What Are Feature Flags?</a:t>
            </a:r>
            <a:endParaRPr>
              <a:latin typeface="Roboto"/>
              <a:ea typeface="Roboto"/>
              <a:cs typeface="Roboto"/>
              <a:sym typeface="Roboto"/>
            </a:endParaRPr>
          </a:p>
        </p:txBody>
      </p:sp>
      <p:pic>
        <p:nvPicPr>
          <p:cNvPr id="129" name="Google Shape;129;p22"/>
          <p:cNvPicPr preferRelativeResize="0"/>
          <p:nvPr/>
        </p:nvPicPr>
        <p:blipFill>
          <a:blip r:embed="rId3">
            <a:alphaModFix/>
          </a:blip>
          <a:stretch>
            <a:fillRect/>
          </a:stretch>
        </p:blipFill>
        <p:spPr>
          <a:xfrm>
            <a:off x="412975" y="3153550"/>
            <a:ext cx="1794875" cy="1794875"/>
          </a:xfrm>
          <a:prstGeom prst="rect">
            <a:avLst/>
          </a:prstGeom>
          <a:noFill/>
          <a:ln>
            <a:noFill/>
          </a:ln>
        </p:spPr>
      </p:pic>
      <p:sp>
        <p:nvSpPr>
          <p:cNvPr id="130" name="Google Shape;130;p22"/>
          <p:cNvSpPr txBox="1"/>
          <p:nvPr/>
        </p:nvSpPr>
        <p:spPr>
          <a:xfrm>
            <a:off x="7262125" y="4617725"/>
            <a:ext cx="179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Image : </a:t>
            </a:r>
            <a:r>
              <a:rPr lang="en-GB" u="sng">
                <a:solidFill>
                  <a:schemeClr val="hlink"/>
                </a:solidFill>
                <a:hlinkClick r:id="rId4"/>
              </a:rPr>
              <a:t>cloudbees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nvSpPr>
        <p:spPr>
          <a:xfrm>
            <a:off x="36600" y="1397650"/>
            <a:ext cx="9070800" cy="31032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60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Conditional switches in code to turn features ON or OFF at runtime.</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Like a “pause button” for any feature - no redeploy needed.</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D</a:t>
            </a:r>
            <a:r>
              <a:rPr lang="en-GB" sz="2400">
                <a:solidFill>
                  <a:schemeClr val="dk1"/>
                </a:solidFill>
                <a:latin typeface="Roboto"/>
                <a:ea typeface="Roboto"/>
                <a:cs typeface="Roboto"/>
                <a:sym typeface="Roboto"/>
              </a:rPr>
              <a:t>ecouples the act of deploying code from the act of releasing features to users</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Teams can use feature flags to control exactly when and how users experience changes</a:t>
            </a:r>
            <a:endParaRPr sz="2400">
              <a:solidFill>
                <a:schemeClr val="dk1"/>
              </a:solidFill>
              <a:latin typeface="Roboto"/>
              <a:ea typeface="Roboto"/>
              <a:cs typeface="Roboto"/>
              <a:sym typeface="Roboto"/>
            </a:endParaRPr>
          </a:p>
        </p:txBody>
      </p:sp>
      <p:sp>
        <p:nvSpPr>
          <p:cNvPr id="136" name="Google Shape;136;p23"/>
          <p:cNvSpPr txBox="1"/>
          <p:nvPr/>
        </p:nvSpPr>
        <p:spPr>
          <a:xfrm>
            <a:off x="178950" y="348350"/>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Feature Flags/Toggles</a:t>
            </a:r>
            <a:endParaRPr b="1">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4"/>
          <p:cNvPicPr preferRelativeResize="0"/>
          <p:nvPr/>
        </p:nvPicPr>
        <p:blipFill>
          <a:blip r:embed="rId3">
            <a:alphaModFix/>
          </a:blip>
          <a:stretch>
            <a:fillRect/>
          </a:stretch>
        </p:blipFill>
        <p:spPr>
          <a:xfrm>
            <a:off x="2035275" y="655675"/>
            <a:ext cx="5073450" cy="4058050"/>
          </a:xfrm>
          <a:prstGeom prst="rect">
            <a:avLst/>
          </a:prstGeom>
          <a:noFill/>
          <a:ln>
            <a:noFill/>
          </a:ln>
        </p:spPr>
      </p:pic>
      <p:sp>
        <p:nvSpPr>
          <p:cNvPr id="142" name="Google Shape;142;p24"/>
          <p:cNvSpPr txBox="1"/>
          <p:nvPr/>
        </p:nvSpPr>
        <p:spPr>
          <a:xfrm>
            <a:off x="1980025" y="0"/>
            <a:ext cx="6007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00">
                <a:solidFill>
                  <a:schemeClr val="dk1"/>
                </a:solidFill>
                <a:latin typeface="Roboto"/>
                <a:ea typeface="Roboto"/>
                <a:cs typeface="Roboto"/>
                <a:sym typeface="Roboto"/>
              </a:rPr>
              <a:t>Kill Switch for unexpected events</a:t>
            </a:r>
            <a:endParaRPr b="1" sz="2400">
              <a:solidFill>
                <a:schemeClr val="dk1"/>
              </a:solidFill>
              <a:latin typeface="Roboto"/>
              <a:ea typeface="Roboto"/>
              <a:cs typeface="Roboto"/>
              <a:sym typeface="Roboto"/>
            </a:endParaRPr>
          </a:p>
        </p:txBody>
      </p:sp>
      <p:sp>
        <p:nvSpPr>
          <p:cNvPr id="143" name="Google Shape;143;p24"/>
          <p:cNvSpPr txBox="1"/>
          <p:nvPr/>
        </p:nvSpPr>
        <p:spPr>
          <a:xfrm>
            <a:off x="5833875" y="4713725"/>
            <a:ext cx="1883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Roboto"/>
                <a:ea typeface="Roboto"/>
                <a:cs typeface="Roboto"/>
                <a:sym typeface="Roboto"/>
              </a:rPr>
              <a:t>Image </a:t>
            </a:r>
            <a:r>
              <a:rPr lang="en-GB" sz="1200" u="sng">
                <a:solidFill>
                  <a:schemeClr val="hlink"/>
                </a:solidFill>
                <a:latin typeface="Roboto"/>
                <a:ea typeface="Roboto"/>
                <a:cs typeface="Roboto"/>
                <a:sym typeface="Roboto"/>
                <a:hlinkClick r:id="rId4"/>
              </a:rPr>
              <a:t>tenor</a:t>
            </a:r>
            <a:endParaRPr sz="12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nvSpPr>
        <p:spPr>
          <a:xfrm>
            <a:off x="357900" y="137175"/>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Why Use Feature Flags?</a:t>
            </a:r>
            <a:endParaRPr b="1">
              <a:latin typeface="Roboto"/>
              <a:ea typeface="Roboto"/>
              <a:cs typeface="Roboto"/>
              <a:sym typeface="Roboto"/>
            </a:endParaRPr>
          </a:p>
        </p:txBody>
      </p:sp>
      <p:sp>
        <p:nvSpPr>
          <p:cNvPr id="149" name="Google Shape;149;p25"/>
          <p:cNvSpPr txBox="1"/>
          <p:nvPr/>
        </p:nvSpPr>
        <p:spPr>
          <a:xfrm>
            <a:off x="357900" y="1282500"/>
            <a:ext cx="8338500" cy="22533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60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Safe and gradual rollouts</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Provide a "kill switch" to instantly turn off problematic features without rolling back the entire deployment</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Increase development velocity</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Fast rollback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ctrTitle"/>
          </p:nvPr>
        </p:nvSpPr>
        <p:spPr>
          <a:xfrm>
            <a:off x="311700" y="891550"/>
            <a:ext cx="8520600" cy="2971800"/>
          </a:xfrm>
          <a:prstGeom prst="rect">
            <a:avLst/>
          </a:prstGeom>
        </p:spPr>
        <p:txBody>
          <a:bodyPr anchorCtr="0" anchor="b" bIns="91425" lIns="91425" spcFirstLastPara="1" rIns="91425" wrap="square" tIns="91425">
            <a:noAutofit/>
          </a:bodyPr>
          <a:lstStyle/>
          <a:p>
            <a:pPr indent="-368300" lvl="0" marL="457200" rtl="0" algn="l">
              <a:spcBef>
                <a:spcPts val="0"/>
              </a:spcBef>
              <a:spcAft>
                <a:spcPts val="0"/>
              </a:spcAft>
              <a:buSzPts val="2200"/>
              <a:buChar char="●"/>
            </a:pPr>
            <a:r>
              <a:rPr lang="en-GB" sz="2200"/>
              <a:t>Dark Launch: Deploy the new version of the application anytime. Since the new features are disabled, this doesn't immediately impact users.</a:t>
            </a:r>
            <a:endParaRPr sz="2200"/>
          </a:p>
          <a:p>
            <a:pPr indent="-368300" lvl="0" marL="457200" rtl="0" algn="l">
              <a:spcBef>
                <a:spcPts val="0"/>
              </a:spcBef>
              <a:spcAft>
                <a:spcPts val="0"/>
              </a:spcAft>
              <a:buSzPts val="2200"/>
              <a:buChar char="●"/>
            </a:pPr>
            <a:r>
              <a:rPr lang="en-GB" sz="2200"/>
              <a:t>Enable features next day: Teams can turn on the feature flags based on business needs and conduct a gradual rollout.</a:t>
            </a:r>
            <a:endParaRPr sz="2200"/>
          </a:p>
          <a:p>
            <a:pPr indent="-368300" lvl="0" marL="457200" rtl="0" algn="l">
              <a:lnSpc>
                <a:spcPct val="115000"/>
              </a:lnSpc>
              <a:spcBef>
                <a:spcPts val="0"/>
              </a:spcBef>
              <a:spcAft>
                <a:spcPts val="0"/>
              </a:spcAft>
              <a:buSzPts val="2200"/>
              <a:buFont typeface="Roboto"/>
              <a:buChar char="●"/>
            </a:pPr>
            <a:r>
              <a:rPr lang="en-GB" sz="2200"/>
              <a:t>A/B Testing, Canary Release and Experimentation</a:t>
            </a:r>
            <a:endParaRPr sz="2200"/>
          </a:p>
          <a:p>
            <a:pPr indent="-368300" lvl="0" marL="457200" rtl="0" algn="l">
              <a:lnSpc>
                <a:spcPct val="115000"/>
              </a:lnSpc>
              <a:spcBef>
                <a:spcPts val="0"/>
              </a:spcBef>
              <a:spcAft>
                <a:spcPts val="0"/>
              </a:spcAft>
              <a:buSzPts val="2200"/>
              <a:buFont typeface="Roboto"/>
              <a:buChar char="●"/>
            </a:pPr>
            <a:r>
              <a:rPr lang="en-GB" sz="2200"/>
              <a:t>Improve collaboration - Decouple deployment from release</a:t>
            </a:r>
            <a:endParaRPr sz="2200"/>
          </a:p>
        </p:txBody>
      </p:sp>
      <p:sp>
        <p:nvSpPr>
          <p:cNvPr id="155" name="Google Shape;155;p26"/>
          <p:cNvSpPr txBox="1"/>
          <p:nvPr/>
        </p:nvSpPr>
        <p:spPr>
          <a:xfrm>
            <a:off x="311700" y="123475"/>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Why Use Feature Flags?</a:t>
            </a:r>
            <a:endParaRPr b="1">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7"/>
          <p:cNvPicPr preferRelativeResize="0"/>
          <p:nvPr/>
        </p:nvPicPr>
        <p:blipFill>
          <a:blip r:embed="rId3">
            <a:alphaModFix/>
          </a:blip>
          <a:stretch>
            <a:fillRect/>
          </a:stretch>
        </p:blipFill>
        <p:spPr>
          <a:xfrm>
            <a:off x="1030225" y="152400"/>
            <a:ext cx="3629025" cy="4838700"/>
          </a:xfrm>
          <a:prstGeom prst="rect">
            <a:avLst/>
          </a:prstGeom>
          <a:noFill/>
          <a:ln>
            <a:noFill/>
          </a:ln>
        </p:spPr>
      </p:pic>
      <p:sp>
        <p:nvSpPr>
          <p:cNvPr id="161" name="Google Shape;161;p27"/>
          <p:cNvSpPr txBox="1"/>
          <p:nvPr/>
        </p:nvSpPr>
        <p:spPr>
          <a:xfrm>
            <a:off x="6789300" y="4599500"/>
            <a:ext cx="235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Roboto"/>
                <a:ea typeface="Roboto"/>
                <a:cs typeface="Roboto"/>
                <a:sym typeface="Roboto"/>
              </a:rPr>
              <a:t>Image : </a:t>
            </a:r>
            <a:r>
              <a:rPr lang="en-GB" sz="1200" u="sng">
                <a:solidFill>
                  <a:schemeClr val="hlink"/>
                </a:solidFill>
                <a:latin typeface="Roboto"/>
                <a:ea typeface="Roboto"/>
                <a:cs typeface="Roboto"/>
                <a:sym typeface="Roboto"/>
                <a:hlinkClick r:id="rId4"/>
              </a:rPr>
              <a:t>scifi.net</a:t>
            </a:r>
            <a:endParaRPr sz="1200">
              <a:solidFill>
                <a:schemeClr val="dk2"/>
              </a:solidFill>
              <a:latin typeface="Roboto"/>
              <a:ea typeface="Roboto"/>
              <a:cs typeface="Roboto"/>
              <a:sym typeface="Roboto"/>
            </a:endParaRPr>
          </a:p>
        </p:txBody>
      </p:sp>
      <p:sp>
        <p:nvSpPr>
          <p:cNvPr id="162" name="Google Shape;162;p27"/>
          <p:cNvSpPr txBox="1"/>
          <p:nvPr/>
        </p:nvSpPr>
        <p:spPr>
          <a:xfrm>
            <a:off x="5223800" y="22363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latin typeface="Roboto"/>
                <a:ea typeface="Roboto"/>
                <a:cs typeface="Roboto"/>
                <a:sym typeface="Roboto"/>
              </a:rPr>
              <a:t>Experimentation through A/B Testing</a:t>
            </a:r>
            <a:endParaRPr sz="24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nvSpPr>
        <p:spPr>
          <a:xfrm>
            <a:off x="616675" y="1734350"/>
            <a:ext cx="87861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Roboto"/>
              <a:buChar char="●"/>
            </a:pPr>
            <a:r>
              <a:rPr lang="en-GB" sz="2400">
                <a:latin typeface="Roboto"/>
                <a:ea typeface="Roboto"/>
                <a:cs typeface="Roboto"/>
                <a:sym typeface="Roboto"/>
              </a:rPr>
              <a:t>Release flags</a:t>
            </a:r>
            <a:endParaRPr sz="2400">
              <a:latin typeface="Roboto"/>
              <a:ea typeface="Roboto"/>
              <a:cs typeface="Roboto"/>
              <a:sym typeface="Roboto"/>
            </a:endParaRPr>
          </a:p>
          <a:p>
            <a:pPr indent="0" lvl="0" marL="457200" rtl="0" algn="l">
              <a:spcBef>
                <a:spcPts val="0"/>
              </a:spcBef>
              <a:spcAft>
                <a:spcPts val="0"/>
              </a:spcAft>
              <a:buNone/>
            </a:pPr>
            <a:r>
              <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GB" sz="2400">
                <a:latin typeface="Roboto"/>
                <a:ea typeface="Roboto"/>
                <a:cs typeface="Roboto"/>
                <a:sym typeface="Roboto"/>
              </a:rPr>
              <a:t>Experimentation flags</a:t>
            </a:r>
            <a:endParaRPr sz="2400">
              <a:latin typeface="Roboto"/>
              <a:ea typeface="Roboto"/>
              <a:cs typeface="Roboto"/>
              <a:sym typeface="Roboto"/>
            </a:endParaRPr>
          </a:p>
          <a:p>
            <a:pPr indent="0" lvl="0" marL="457200" rtl="0" algn="l">
              <a:spcBef>
                <a:spcPts val="0"/>
              </a:spcBef>
              <a:spcAft>
                <a:spcPts val="0"/>
              </a:spcAft>
              <a:buNone/>
            </a:pPr>
            <a:r>
              <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GB" sz="2400">
                <a:latin typeface="Roboto"/>
                <a:ea typeface="Roboto"/>
                <a:cs typeface="Roboto"/>
                <a:sym typeface="Roboto"/>
              </a:rPr>
              <a:t>Operational flags</a:t>
            </a:r>
            <a:endParaRPr sz="2400">
              <a:latin typeface="Roboto"/>
              <a:ea typeface="Roboto"/>
              <a:cs typeface="Roboto"/>
              <a:sym typeface="Roboto"/>
            </a:endParaRPr>
          </a:p>
          <a:p>
            <a:pPr indent="0" lvl="0" marL="457200" rtl="0" algn="l">
              <a:spcBef>
                <a:spcPts val="0"/>
              </a:spcBef>
              <a:spcAft>
                <a:spcPts val="0"/>
              </a:spcAft>
              <a:buNone/>
            </a:pPr>
            <a:r>
              <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GB" sz="2400">
                <a:latin typeface="Roboto"/>
                <a:ea typeface="Roboto"/>
                <a:cs typeface="Roboto"/>
                <a:sym typeface="Roboto"/>
              </a:rPr>
              <a:t>Permission flags</a:t>
            </a:r>
            <a:endParaRPr sz="2400">
              <a:latin typeface="Roboto"/>
              <a:ea typeface="Roboto"/>
              <a:cs typeface="Roboto"/>
              <a:sym typeface="Roboto"/>
            </a:endParaRPr>
          </a:p>
        </p:txBody>
      </p:sp>
      <p:sp>
        <p:nvSpPr>
          <p:cNvPr id="168" name="Google Shape;168;p28"/>
          <p:cNvSpPr txBox="1"/>
          <p:nvPr/>
        </p:nvSpPr>
        <p:spPr>
          <a:xfrm>
            <a:off x="616675" y="397000"/>
            <a:ext cx="7120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Types of Feature Toggles</a:t>
            </a:r>
            <a:endParaRPr b="1">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idx="1" type="subTitle"/>
          </p:nvPr>
        </p:nvSpPr>
        <p:spPr>
          <a:xfrm>
            <a:off x="311700" y="1111075"/>
            <a:ext cx="8520600" cy="36300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rgbClr val="000000"/>
              </a:buClr>
              <a:buSzPts val="2400"/>
              <a:buChar char="●"/>
            </a:pPr>
            <a:r>
              <a:rPr lang="en-GB" sz="2400">
                <a:solidFill>
                  <a:srgbClr val="000000"/>
                </a:solidFill>
              </a:rPr>
              <a:t>Allows developers to merge non-ready code to production, turning it on once it’s ready, without the exposure to users.</a:t>
            </a:r>
            <a:endParaRPr sz="2400">
              <a:solidFill>
                <a:srgbClr val="000000"/>
              </a:solidFill>
            </a:endParaRPr>
          </a:p>
          <a:p>
            <a:pPr indent="0" lvl="0" marL="457200" rtl="0" algn="ctr">
              <a:spcBef>
                <a:spcPts val="0"/>
              </a:spcBef>
              <a:spcAft>
                <a:spcPts val="0"/>
              </a:spcAft>
              <a:buNone/>
            </a:pPr>
            <a:r>
              <a:t/>
            </a:r>
            <a:endParaRPr sz="2400">
              <a:solidFill>
                <a:srgbClr val="000000"/>
              </a:solidFill>
            </a:endParaRPr>
          </a:p>
          <a:p>
            <a:pPr indent="-381000" lvl="0" marL="457200" rtl="0" algn="l">
              <a:spcBef>
                <a:spcPts val="0"/>
              </a:spcBef>
              <a:spcAft>
                <a:spcPts val="0"/>
              </a:spcAft>
              <a:buClr>
                <a:srgbClr val="000000"/>
              </a:buClr>
              <a:buSzPts val="2400"/>
              <a:buChar char="●"/>
            </a:pPr>
            <a:r>
              <a:rPr lang="en-GB" sz="2400">
                <a:solidFill>
                  <a:srgbClr val="000000"/>
                </a:solidFill>
              </a:rPr>
              <a:t>Who is responsible for toggling it: Developers.</a:t>
            </a:r>
            <a:endParaRPr sz="2400">
              <a:solidFill>
                <a:srgbClr val="000000"/>
              </a:solidFill>
            </a:endParaRPr>
          </a:p>
          <a:p>
            <a:pPr indent="0" lvl="0" marL="457200" rtl="0" algn="ctr">
              <a:spcBef>
                <a:spcPts val="0"/>
              </a:spcBef>
              <a:spcAft>
                <a:spcPts val="0"/>
              </a:spcAft>
              <a:buNone/>
            </a:pPr>
            <a:r>
              <a:t/>
            </a:r>
            <a:endParaRPr sz="2400">
              <a:solidFill>
                <a:srgbClr val="000000"/>
              </a:solidFill>
            </a:endParaRPr>
          </a:p>
          <a:p>
            <a:pPr indent="-381000" lvl="0" marL="457200" rtl="0" algn="l">
              <a:spcBef>
                <a:spcPts val="0"/>
              </a:spcBef>
              <a:spcAft>
                <a:spcPts val="0"/>
              </a:spcAft>
              <a:buClr>
                <a:srgbClr val="000000"/>
              </a:buClr>
              <a:buSzPts val="2400"/>
              <a:buChar char="●"/>
            </a:pPr>
            <a:r>
              <a:rPr lang="en-GB" sz="2400">
                <a:solidFill>
                  <a:srgbClr val="000000"/>
                </a:solidFill>
              </a:rPr>
              <a:t>When should you delete it: A week or two after the release of the feature</a:t>
            </a:r>
            <a:endParaRPr sz="2400">
              <a:latin typeface="Roboto Medium"/>
              <a:ea typeface="Roboto Medium"/>
              <a:cs typeface="Roboto Medium"/>
              <a:sym typeface="Roboto Medium"/>
            </a:endParaRPr>
          </a:p>
        </p:txBody>
      </p:sp>
      <p:sp>
        <p:nvSpPr>
          <p:cNvPr id="174" name="Google Shape;174;p29"/>
          <p:cNvSpPr txBox="1"/>
          <p:nvPr/>
        </p:nvSpPr>
        <p:spPr>
          <a:xfrm>
            <a:off x="152400" y="152400"/>
            <a:ext cx="8232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                       </a:t>
            </a:r>
            <a:r>
              <a:rPr b="1" lang="en-GB" sz="3300">
                <a:solidFill>
                  <a:schemeClr val="dk1"/>
                </a:solidFill>
                <a:latin typeface="Roboto"/>
                <a:ea typeface="Roboto"/>
                <a:cs typeface="Roboto"/>
                <a:sym typeface="Roboto"/>
              </a:rPr>
              <a:t>Release toggle</a:t>
            </a:r>
            <a:endParaRPr b="1" sz="3300">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idx="1" type="subTitle"/>
          </p:nvPr>
        </p:nvSpPr>
        <p:spPr>
          <a:xfrm>
            <a:off x="152400" y="1010425"/>
            <a:ext cx="8863500" cy="4059900"/>
          </a:xfrm>
          <a:prstGeom prst="rect">
            <a:avLst/>
          </a:prstGeom>
        </p:spPr>
        <p:txBody>
          <a:bodyPr anchorCtr="0" anchor="t" bIns="91425" lIns="91425" spcFirstLastPara="1" rIns="91425" wrap="square" tIns="91425">
            <a:normAutofit/>
          </a:bodyPr>
          <a:lstStyle/>
          <a:p>
            <a:pPr indent="-381000" lvl="0" marL="457200" marR="0" rtl="0" algn="l">
              <a:lnSpc>
                <a:spcPct val="100000"/>
              </a:lnSpc>
              <a:spcBef>
                <a:spcPts val="0"/>
              </a:spcBef>
              <a:spcAft>
                <a:spcPts val="0"/>
              </a:spcAft>
              <a:buClr>
                <a:srgbClr val="000000"/>
              </a:buClr>
              <a:buSzPts val="2400"/>
              <a:buChar char="●"/>
            </a:pPr>
            <a:r>
              <a:rPr lang="en-GB" sz="2400">
                <a:solidFill>
                  <a:srgbClr val="000000"/>
                </a:solidFill>
              </a:rPr>
              <a:t>Allows you to perform A/B testing. You divide the users into groups, each getting a different experience. While the toggle is active, you collect enough data to make the final decisions about which features to promote, refine, or retire.</a:t>
            </a:r>
            <a:endParaRPr sz="2400">
              <a:solidFill>
                <a:srgbClr val="000000"/>
              </a:solidFill>
            </a:endParaRPr>
          </a:p>
          <a:p>
            <a:pPr indent="0" lvl="0" marL="457200" marR="0" rtl="0" algn="l">
              <a:lnSpc>
                <a:spcPct val="100000"/>
              </a:lnSpc>
              <a:spcBef>
                <a:spcPts val="0"/>
              </a:spcBef>
              <a:spcAft>
                <a:spcPts val="0"/>
              </a:spcAft>
              <a:buNone/>
            </a:pPr>
            <a:r>
              <a:t/>
            </a:r>
            <a:endParaRPr sz="2400">
              <a:solidFill>
                <a:srgbClr val="000000"/>
              </a:solidFill>
            </a:endParaRPr>
          </a:p>
          <a:p>
            <a:pPr indent="-381000" lvl="0" marL="457200" marR="0" rtl="0" algn="l">
              <a:lnSpc>
                <a:spcPct val="100000"/>
              </a:lnSpc>
              <a:spcBef>
                <a:spcPts val="0"/>
              </a:spcBef>
              <a:spcAft>
                <a:spcPts val="0"/>
              </a:spcAft>
              <a:buClr>
                <a:srgbClr val="000000"/>
              </a:buClr>
              <a:buSzPts val="2400"/>
              <a:buChar char="●"/>
            </a:pPr>
            <a:r>
              <a:rPr lang="en-GB" sz="2400">
                <a:solidFill>
                  <a:srgbClr val="000000"/>
                </a:solidFill>
              </a:rPr>
              <a:t>Who is responsible for toggling it: It varies, but mostly PMs.</a:t>
            </a:r>
            <a:endParaRPr sz="2400">
              <a:solidFill>
                <a:srgbClr val="000000"/>
              </a:solidFill>
            </a:endParaRPr>
          </a:p>
          <a:p>
            <a:pPr indent="0" lvl="0" marL="457200" marR="0" rtl="0" algn="l">
              <a:lnSpc>
                <a:spcPct val="100000"/>
              </a:lnSpc>
              <a:spcBef>
                <a:spcPts val="0"/>
              </a:spcBef>
              <a:spcAft>
                <a:spcPts val="0"/>
              </a:spcAft>
              <a:buNone/>
            </a:pPr>
            <a:r>
              <a:t/>
            </a:r>
            <a:endParaRPr sz="2400">
              <a:solidFill>
                <a:srgbClr val="000000"/>
              </a:solidFill>
            </a:endParaRPr>
          </a:p>
          <a:p>
            <a:pPr indent="-381000" lvl="0" marL="457200" marR="0" rtl="0" algn="l">
              <a:lnSpc>
                <a:spcPct val="100000"/>
              </a:lnSpc>
              <a:spcBef>
                <a:spcPts val="0"/>
              </a:spcBef>
              <a:spcAft>
                <a:spcPts val="0"/>
              </a:spcAft>
              <a:buClr>
                <a:srgbClr val="000000"/>
              </a:buClr>
              <a:buSzPts val="2400"/>
              <a:buChar char="●"/>
            </a:pPr>
            <a:r>
              <a:rPr lang="en-GB" sz="2400">
                <a:solidFill>
                  <a:srgbClr val="000000"/>
                </a:solidFill>
              </a:rPr>
              <a:t>When should you delete it: a few days/weeks - once you get enough data to make a final decision.</a:t>
            </a:r>
            <a:endParaRPr/>
          </a:p>
        </p:txBody>
      </p:sp>
      <p:sp>
        <p:nvSpPr>
          <p:cNvPr id="180" name="Google Shape;180;p30"/>
          <p:cNvSpPr txBox="1"/>
          <p:nvPr/>
        </p:nvSpPr>
        <p:spPr>
          <a:xfrm>
            <a:off x="152400" y="152400"/>
            <a:ext cx="8520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               </a:t>
            </a:r>
            <a:r>
              <a:rPr b="1" lang="en-GB" sz="3300">
                <a:solidFill>
                  <a:schemeClr val="dk1"/>
                </a:solidFill>
                <a:latin typeface="Roboto"/>
                <a:ea typeface="Roboto"/>
                <a:cs typeface="Roboto"/>
                <a:sym typeface="Roboto"/>
              </a:rPr>
              <a:t>Experimentation toggle</a:t>
            </a:r>
            <a:endParaRPr b="1" sz="33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idx="1" type="subTitle"/>
          </p:nvPr>
        </p:nvSpPr>
        <p:spPr>
          <a:xfrm>
            <a:off x="152400" y="1010425"/>
            <a:ext cx="8850000" cy="4005000"/>
          </a:xfrm>
          <a:prstGeom prst="rect">
            <a:avLst/>
          </a:prstGeom>
        </p:spPr>
        <p:txBody>
          <a:bodyPr anchorCtr="0" anchor="t" bIns="91425" lIns="91425" spcFirstLastPara="1" rIns="91425" wrap="square" tIns="91425">
            <a:normAutofit lnSpcReduction="10000"/>
          </a:bodyPr>
          <a:lstStyle/>
          <a:p>
            <a:pPr indent="-368300" lvl="0" marL="457200" marR="0" rtl="0" algn="l">
              <a:lnSpc>
                <a:spcPct val="100000"/>
              </a:lnSpc>
              <a:spcBef>
                <a:spcPts val="0"/>
              </a:spcBef>
              <a:spcAft>
                <a:spcPts val="0"/>
              </a:spcAft>
              <a:buClr>
                <a:srgbClr val="000000"/>
              </a:buClr>
              <a:buSzPts val="2200"/>
              <a:buChar char="●"/>
            </a:pPr>
            <a:r>
              <a:rPr lang="en-GB" sz="2200">
                <a:solidFill>
                  <a:srgbClr val="000000"/>
                </a:solidFill>
              </a:rPr>
              <a:t>May introduce when rolling out a new feature which has unclear performance implications so that system operators can disable or degrade that feature quickly in production if needed. Also called kill switches or circuit breakers</a:t>
            </a:r>
            <a:endParaRPr sz="2200">
              <a:solidFill>
                <a:srgbClr val="000000"/>
              </a:solidFill>
            </a:endParaRPr>
          </a:p>
          <a:p>
            <a:pPr indent="0" lvl="0" marL="457200" marR="0" rtl="0" algn="l">
              <a:lnSpc>
                <a:spcPct val="100000"/>
              </a:lnSpc>
              <a:spcBef>
                <a:spcPts val="0"/>
              </a:spcBef>
              <a:spcAft>
                <a:spcPts val="0"/>
              </a:spcAft>
              <a:buNone/>
            </a:pPr>
            <a:r>
              <a:t/>
            </a:r>
            <a:endParaRPr sz="2200">
              <a:solidFill>
                <a:srgbClr val="000000"/>
              </a:solidFill>
            </a:endParaRPr>
          </a:p>
          <a:p>
            <a:pPr indent="-368300" lvl="0" marL="457200" marR="0" rtl="0" algn="l">
              <a:lnSpc>
                <a:spcPct val="100000"/>
              </a:lnSpc>
              <a:spcBef>
                <a:spcPts val="0"/>
              </a:spcBef>
              <a:spcAft>
                <a:spcPts val="0"/>
              </a:spcAft>
              <a:buClr>
                <a:srgbClr val="000000"/>
              </a:buClr>
              <a:buSzPts val="2200"/>
              <a:buChar char="●"/>
            </a:pPr>
            <a:r>
              <a:rPr lang="en-GB" sz="2200">
                <a:solidFill>
                  <a:srgbClr val="000000"/>
                </a:solidFill>
              </a:rPr>
              <a:t>Who is responsible for toggling it: Ops team - probably through a dedicated tool.</a:t>
            </a:r>
            <a:endParaRPr sz="2200">
              <a:solidFill>
                <a:srgbClr val="000000"/>
              </a:solidFill>
            </a:endParaRPr>
          </a:p>
          <a:p>
            <a:pPr indent="0" lvl="0" marL="457200" marR="0" rtl="0" algn="l">
              <a:lnSpc>
                <a:spcPct val="100000"/>
              </a:lnSpc>
              <a:spcBef>
                <a:spcPts val="0"/>
              </a:spcBef>
              <a:spcAft>
                <a:spcPts val="0"/>
              </a:spcAft>
              <a:buNone/>
            </a:pPr>
            <a:r>
              <a:t/>
            </a:r>
            <a:endParaRPr sz="2200">
              <a:solidFill>
                <a:srgbClr val="000000"/>
              </a:solidFill>
            </a:endParaRPr>
          </a:p>
          <a:p>
            <a:pPr indent="-368300" lvl="0" marL="457200" marR="0" rtl="0" algn="l">
              <a:lnSpc>
                <a:spcPct val="100000"/>
              </a:lnSpc>
              <a:spcBef>
                <a:spcPts val="0"/>
              </a:spcBef>
              <a:spcAft>
                <a:spcPts val="0"/>
              </a:spcAft>
              <a:buClr>
                <a:srgbClr val="000000"/>
              </a:buClr>
              <a:buSzPts val="2200"/>
              <a:buChar char="●"/>
            </a:pPr>
            <a:r>
              <a:rPr lang="en-GB" sz="2200">
                <a:solidFill>
                  <a:srgbClr val="000000"/>
                </a:solidFill>
              </a:rPr>
              <a:t>When should you delete it: 1-2 weeks, once you gain confidence in the new feature. In rare cases, you might keep some “Kill Switches”, to stop non-critical functionality when the system is under unusually high load.</a:t>
            </a:r>
            <a:endParaRPr sz="2200">
              <a:latin typeface="Roboto Medium"/>
              <a:ea typeface="Roboto Medium"/>
              <a:cs typeface="Roboto Medium"/>
              <a:sym typeface="Roboto Medium"/>
            </a:endParaRPr>
          </a:p>
        </p:txBody>
      </p:sp>
      <p:sp>
        <p:nvSpPr>
          <p:cNvPr id="186" name="Google Shape;186;p31"/>
          <p:cNvSpPr txBox="1"/>
          <p:nvPr/>
        </p:nvSpPr>
        <p:spPr>
          <a:xfrm>
            <a:off x="152400" y="152400"/>
            <a:ext cx="85206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300">
                <a:solidFill>
                  <a:schemeClr val="dk1"/>
                </a:solidFill>
                <a:latin typeface="Roboto"/>
                <a:ea typeface="Roboto"/>
                <a:cs typeface="Roboto"/>
                <a:sym typeface="Roboto"/>
              </a:rPr>
              <a:t>Operational toggles</a:t>
            </a:r>
            <a:endParaRPr b="1" sz="3300">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idx="1" type="subTitle"/>
          </p:nvPr>
        </p:nvSpPr>
        <p:spPr>
          <a:xfrm>
            <a:off x="73150" y="777050"/>
            <a:ext cx="9070800" cy="43113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000000"/>
              </a:buClr>
              <a:buSzPts val="2000"/>
              <a:buChar char="●"/>
            </a:pPr>
            <a:r>
              <a:rPr lang="en-GB" sz="2000">
                <a:solidFill>
                  <a:srgbClr val="000000"/>
                </a:solidFill>
              </a:rPr>
              <a:t>Allows one to change the features and experiences specific users have on the application. It may be through having “premium” features for paying customers, geography or “alpha” / “beta” features, for internal users / beta customers.</a:t>
            </a:r>
            <a:endParaRPr sz="2000">
              <a:solidFill>
                <a:srgbClr val="000000"/>
              </a:solidFill>
            </a:endParaRPr>
          </a:p>
          <a:p>
            <a:pPr indent="0" lvl="0" marL="457200" rtl="0" algn="l">
              <a:spcBef>
                <a:spcPts val="0"/>
              </a:spcBef>
              <a:spcAft>
                <a:spcPts val="0"/>
              </a:spcAft>
              <a:buNone/>
            </a:pPr>
            <a:r>
              <a:t/>
            </a:r>
            <a:endParaRPr sz="2000">
              <a:solidFill>
                <a:srgbClr val="000000"/>
              </a:solidFill>
            </a:endParaRPr>
          </a:p>
          <a:p>
            <a:pPr indent="-355600" lvl="0" marL="457200" rtl="0" algn="l">
              <a:spcBef>
                <a:spcPts val="0"/>
              </a:spcBef>
              <a:spcAft>
                <a:spcPts val="0"/>
              </a:spcAft>
              <a:buClr>
                <a:srgbClr val="000000"/>
              </a:buClr>
              <a:buSzPts val="2000"/>
              <a:buChar char="●"/>
            </a:pPr>
            <a:r>
              <a:rPr lang="en-GB" sz="2000">
                <a:solidFill>
                  <a:srgbClr val="000000"/>
                </a:solidFill>
              </a:rPr>
              <a:t>This type is dangerous because it needs to be long-lived. Treating it the same way as the other toggles, as something that will be deleted soon, is a critical and common mistake.</a:t>
            </a:r>
            <a:endParaRPr sz="2000">
              <a:solidFill>
                <a:srgbClr val="000000"/>
              </a:solidFill>
            </a:endParaRPr>
          </a:p>
          <a:p>
            <a:pPr indent="0" lvl="0" marL="457200" rtl="0" algn="l">
              <a:spcBef>
                <a:spcPts val="0"/>
              </a:spcBef>
              <a:spcAft>
                <a:spcPts val="0"/>
              </a:spcAft>
              <a:buNone/>
            </a:pPr>
            <a:r>
              <a:t/>
            </a:r>
            <a:endParaRPr sz="2000">
              <a:solidFill>
                <a:srgbClr val="000000"/>
              </a:solidFill>
            </a:endParaRPr>
          </a:p>
          <a:p>
            <a:pPr indent="-355600" lvl="0" marL="457200" rtl="0" algn="l">
              <a:spcBef>
                <a:spcPts val="0"/>
              </a:spcBef>
              <a:spcAft>
                <a:spcPts val="0"/>
              </a:spcAft>
              <a:buClr>
                <a:srgbClr val="000000"/>
              </a:buClr>
              <a:buSzPts val="2000"/>
              <a:buChar char="●"/>
            </a:pPr>
            <a:r>
              <a:rPr lang="en-GB" sz="2000">
                <a:solidFill>
                  <a:srgbClr val="000000"/>
                </a:solidFill>
              </a:rPr>
              <a:t>Who is responsible for toggling it: Set role-based access control (RBAC) to specify who can delete flags in a given environment.</a:t>
            </a:r>
            <a:endParaRPr sz="2000">
              <a:solidFill>
                <a:srgbClr val="000000"/>
              </a:solidFill>
            </a:endParaRPr>
          </a:p>
          <a:p>
            <a:pPr indent="0" lvl="0" marL="457200" rtl="0" algn="l">
              <a:spcBef>
                <a:spcPts val="0"/>
              </a:spcBef>
              <a:spcAft>
                <a:spcPts val="0"/>
              </a:spcAft>
              <a:buNone/>
            </a:pPr>
            <a:r>
              <a:t/>
            </a:r>
            <a:endParaRPr sz="2000">
              <a:solidFill>
                <a:srgbClr val="000000"/>
              </a:solidFill>
            </a:endParaRPr>
          </a:p>
          <a:p>
            <a:pPr indent="-355600" lvl="0" marL="457200" rtl="0" algn="l">
              <a:spcBef>
                <a:spcPts val="0"/>
              </a:spcBef>
              <a:spcAft>
                <a:spcPts val="0"/>
              </a:spcAft>
              <a:buClr>
                <a:srgbClr val="000000"/>
              </a:buClr>
              <a:buSzPts val="2000"/>
              <a:buChar char="●"/>
            </a:pPr>
            <a:r>
              <a:rPr lang="en-GB" sz="2000">
                <a:solidFill>
                  <a:srgbClr val="000000"/>
                </a:solidFill>
              </a:rPr>
              <a:t>When should you delete it: Collective decision. Enable monitoring and </a:t>
            </a:r>
            <a:r>
              <a:rPr lang="en-GB" sz="2000">
                <a:solidFill>
                  <a:srgbClr val="000000"/>
                </a:solidFill>
              </a:rPr>
              <a:t>observability. Thorough review and documentation</a:t>
            </a:r>
            <a:endParaRPr sz="2000">
              <a:latin typeface="Roboto Medium"/>
              <a:ea typeface="Roboto Medium"/>
              <a:cs typeface="Roboto Medium"/>
              <a:sym typeface="Roboto Medium"/>
            </a:endParaRPr>
          </a:p>
        </p:txBody>
      </p:sp>
      <p:sp>
        <p:nvSpPr>
          <p:cNvPr id="192" name="Google Shape;192;p32"/>
          <p:cNvSpPr txBox="1"/>
          <p:nvPr/>
        </p:nvSpPr>
        <p:spPr>
          <a:xfrm>
            <a:off x="152400" y="32806"/>
            <a:ext cx="87813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300">
                <a:solidFill>
                  <a:schemeClr val="dk1"/>
                </a:solidFill>
                <a:latin typeface="Roboto"/>
                <a:ea typeface="Roboto"/>
                <a:cs typeface="Roboto"/>
                <a:sym typeface="Roboto"/>
              </a:rPr>
              <a:t>Permission toggles</a:t>
            </a:r>
            <a:endParaRPr b="1" sz="33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3"/>
          <p:cNvPicPr preferRelativeResize="0"/>
          <p:nvPr/>
        </p:nvPicPr>
        <p:blipFill>
          <a:blip r:embed="rId3">
            <a:alphaModFix/>
          </a:blip>
          <a:stretch>
            <a:fillRect/>
          </a:stretch>
        </p:blipFill>
        <p:spPr>
          <a:xfrm>
            <a:off x="1181100" y="783325"/>
            <a:ext cx="5969501" cy="3352800"/>
          </a:xfrm>
          <a:prstGeom prst="rect">
            <a:avLst/>
          </a:prstGeom>
          <a:noFill/>
          <a:ln>
            <a:noFill/>
          </a:ln>
        </p:spPr>
      </p:pic>
      <p:sp>
        <p:nvSpPr>
          <p:cNvPr id="198" name="Google Shape;198;p33"/>
          <p:cNvSpPr txBox="1"/>
          <p:nvPr/>
        </p:nvSpPr>
        <p:spPr>
          <a:xfrm>
            <a:off x="6975975" y="4404200"/>
            <a:ext cx="178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latin typeface="Roboto"/>
                <a:ea typeface="Roboto"/>
                <a:cs typeface="Roboto"/>
                <a:sym typeface="Roboto"/>
              </a:rPr>
              <a:t>Image : </a:t>
            </a:r>
            <a:r>
              <a:rPr lang="en-GB" sz="1000" u="sng">
                <a:solidFill>
                  <a:schemeClr val="hlink"/>
                </a:solidFill>
                <a:latin typeface="Roboto"/>
                <a:ea typeface="Roboto"/>
                <a:cs typeface="Roboto"/>
                <a:sym typeface="Roboto"/>
                <a:hlinkClick r:id="rId4"/>
              </a:rPr>
              <a:t>prodpad.com</a:t>
            </a:r>
            <a:endParaRPr sz="10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ctrTitle"/>
          </p:nvPr>
        </p:nvSpPr>
        <p:spPr>
          <a:xfrm>
            <a:off x="676350" y="2209975"/>
            <a:ext cx="8226600" cy="838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The double edged sword!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5"/>
          <p:cNvPicPr preferRelativeResize="0"/>
          <p:nvPr/>
        </p:nvPicPr>
        <p:blipFill>
          <a:blip r:embed="rId3">
            <a:alphaModFix/>
          </a:blip>
          <a:stretch>
            <a:fillRect/>
          </a:stretch>
        </p:blipFill>
        <p:spPr>
          <a:xfrm>
            <a:off x="2206375" y="1449190"/>
            <a:ext cx="4895850" cy="1857375"/>
          </a:xfrm>
          <a:prstGeom prst="rect">
            <a:avLst/>
          </a:prstGeom>
          <a:noFill/>
          <a:ln>
            <a:noFill/>
          </a:ln>
        </p:spPr>
      </p:pic>
      <p:sp>
        <p:nvSpPr>
          <p:cNvPr id="209" name="Google Shape;209;p35"/>
          <p:cNvSpPr txBox="1"/>
          <p:nvPr/>
        </p:nvSpPr>
        <p:spPr>
          <a:xfrm>
            <a:off x="2206375" y="3493000"/>
            <a:ext cx="5232300" cy="1291500"/>
          </a:xfrm>
          <a:prstGeom prst="rect">
            <a:avLst/>
          </a:prstGeom>
          <a:noFill/>
          <a:ln>
            <a:noFill/>
          </a:ln>
        </p:spPr>
        <p:txBody>
          <a:bodyPr anchorCtr="0" anchor="t" bIns="91425" lIns="91425" spcFirstLastPara="1" rIns="91425" wrap="square" tIns="91425">
            <a:spAutoFit/>
          </a:bodyPr>
          <a:lstStyle/>
          <a:p>
            <a:pPr indent="0" lvl="0" marL="0" rtl="0" algn="l">
              <a:lnSpc>
                <a:spcPct val="137500"/>
              </a:lnSpc>
              <a:spcBef>
                <a:spcPts val="0"/>
              </a:spcBef>
              <a:spcAft>
                <a:spcPts val="0"/>
              </a:spcAft>
              <a:buClr>
                <a:schemeClr val="dk1"/>
              </a:buClr>
              <a:buSzPts val="1100"/>
              <a:buFont typeface="Arial"/>
              <a:buNone/>
            </a:pPr>
            <a:r>
              <a:rPr b="1" lang="en-GB" sz="3000">
                <a:solidFill>
                  <a:srgbClr val="101418"/>
                </a:solidFill>
                <a:highlight>
                  <a:srgbClr val="FFFFFF"/>
                </a:highlight>
                <a:latin typeface="Roboto"/>
                <a:ea typeface="Roboto"/>
                <a:cs typeface="Roboto"/>
                <a:sym typeface="Roboto"/>
              </a:rPr>
              <a:t>Knight Capital Group</a:t>
            </a:r>
            <a:endParaRPr b="1" sz="3000">
              <a:solidFill>
                <a:srgbClr val="101418"/>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nvSpPr>
        <p:spPr>
          <a:xfrm>
            <a:off x="1179500" y="498550"/>
            <a:ext cx="552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5" name="Google Shape;215;p36"/>
          <p:cNvSpPr txBox="1"/>
          <p:nvPr/>
        </p:nvSpPr>
        <p:spPr>
          <a:xfrm>
            <a:off x="679325" y="1843300"/>
            <a:ext cx="7515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0">
                <a:latin typeface="Roboto"/>
                <a:ea typeface="Roboto"/>
                <a:cs typeface="Roboto"/>
                <a:sym typeface="Roboto"/>
              </a:rPr>
              <a:t>Power Peg and SMARS (Smart Market Access Routing System)</a:t>
            </a:r>
            <a:endParaRPr/>
          </a:p>
        </p:txBody>
      </p:sp>
      <p:sp>
        <p:nvSpPr>
          <p:cNvPr id="216" name="Google Shape;216;p36"/>
          <p:cNvSpPr txBox="1"/>
          <p:nvPr/>
        </p:nvSpPr>
        <p:spPr>
          <a:xfrm>
            <a:off x="779875" y="3509475"/>
            <a:ext cx="674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Roboto"/>
                <a:ea typeface="Roboto"/>
                <a:cs typeface="Roboto"/>
                <a:sym typeface="Roboto"/>
              </a:rPr>
              <a:t>August 1st, 2012, preparing for NYSE’s </a:t>
            </a:r>
            <a:r>
              <a:rPr lang="en-GB">
                <a:latin typeface="Roboto"/>
                <a:ea typeface="Roboto"/>
                <a:cs typeface="Roboto"/>
                <a:sym typeface="Roboto"/>
              </a:rPr>
              <a:t>Retail Liquidity Program</a:t>
            </a:r>
            <a:endParaRPr>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37"/>
          <p:cNvSpPr txBox="1"/>
          <p:nvPr/>
        </p:nvSpPr>
        <p:spPr>
          <a:xfrm>
            <a:off x="1179500" y="498550"/>
            <a:ext cx="552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22" name="Google Shape;222;p37"/>
          <p:cNvSpPr txBox="1"/>
          <p:nvPr>
            <p:ph idx="1" type="subTitle"/>
          </p:nvPr>
        </p:nvSpPr>
        <p:spPr>
          <a:xfrm>
            <a:off x="152400" y="1260600"/>
            <a:ext cx="8991600" cy="365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rgbClr val="000000"/>
              </a:solidFill>
            </a:endParaRPr>
          </a:p>
          <a:p>
            <a:pPr indent="-330200" lvl="0" marL="457200" rtl="0" algn="l">
              <a:spcBef>
                <a:spcPts val="0"/>
              </a:spcBef>
              <a:spcAft>
                <a:spcPts val="0"/>
              </a:spcAft>
              <a:buClr>
                <a:srgbClr val="000000"/>
              </a:buClr>
              <a:buSzPts val="1600"/>
              <a:buChar char="●"/>
            </a:pPr>
            <a:r>
              <a:rPr lang="en-GB" sz="1600">
                <a:solidFill>
                  <a:srgbClr val="000000"/>
                </a:solidFill>
              </a:rPr>
              <a:t>Power Peg - Trading algorithm that bought high and sold low; it was specifically designed to move stock prices higher and lower in order to verify behavior of its other proprietary trading algorithms in a controlled environment. Last used in 2003</a:t>
            </a:r>
            <a:endParaRPr sz="1600">
              <a:solidFill>
                <a:srgbClr val="000000"/>
              </a:solidFill>
            </a:endParaRPr>
          </a:p>
          <a:p>
            <a:pPr indent="-330200" lvl="0" marL="457200" rtl="0" algn="l">
              <a:spcBef>
                <a:spcPts val="0"/>
              </a:spcBef>
              <a:spcAft>
                <a:spcPts val="0"/>
              </a:spcAft>
              <a:buClr>
                <a:srgbClr val="000000"/>
              </a:buClr>
              <a:buSzPts val="1600"/>
              <a:buChar char="●"/>
            </a:pPr>
            <a:r>
              <a:rPr lang="en-GB" sz="1600">
                <a:solidFill>
                  <a:srgbClr val="000000"/>
                </a:solidFill>
              </a:rPr>
              <a:t>It was not to be used in the live, production environment.</a:t>
            </a:r>
            <a:endParaRPr sz="1600">
              <a:solidFill>
                <a:srgbClr val="000000"/>
              </a:solidFill>
            </a:endParaRPr>
          </a:p>
          <a:p>
            <a:pPr indent="-330200" lvl="0" marL="457200" rtl="0" algn="l">
              <a:spcBef>
                <a:spcPts val="0"/>
              </a:spcBef>
              <a:spcAft>
                <a:spcPts val="0"/>
              </a:spcAft>
              <a:buClr>
                <a:srgbClr val="000000"/>
              </a:buClr>
              <a:buSzPts val="1600"/>
              <a:buChar char="●"/>
            </a:pPr>
            <a:r>
              <a:rPr lang="en-GB" sz="1600">
                <a:solidFill>
                  <a:srgbClr val="000000"/>
                </a:solidFill>
              </a:rPr>
              <a:t>The errant code created a "ping-ponging" pattern of buying at the ask price (higher) and selling at the bid price (lower)—the exact opposite of profitable trading. Some stocks experienced dramatic price movements</a:t>
            </a:r>
            <a:endParaRPr sz="1600"/>
          </a:p>
          <a:p>
            <a:pPr indent="0" lvl="0" marL="0" rtl="0" algn="ctr">
              <a:spcBef>
                <a:spcPts val="0"/>
              </a:spcBef>
              <a:spcAft>
                <a:spcPts val="0"/>
              </a:spcAft>
              <a:buNone/>
            </a:pPr>
            <a:r>
              <a:t/>
            </a:r>
            <a:endParaRPr sz="1600"/>
          </a:p>
        </p:txBody>
      </p:sp>
      <p:sp>
        <p:nvSpPr>
          <p:cNvPr id="223" name="Google Shape;223;p37"/>
          <p:cNvSpPr txBox="1"/>
          <p:nvPr/>
        </p:nvSpPr>
        <p:spPr>
          <a:xfrm>
            <a:off x="152400" y="152400"/>
            <a:ext cx="8991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latin typeface="Roboto"/>
                <a:ea typeface="Roboto"/>
                <a:cs typeface="Roboto"/>
                <a:sym typeface="Roboto"/>
              </a:rPr>
              <a:t>Power Peg and SMARS (Smart Market Access Routing System)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8"/>
          <p:cNvPicPr preferRelativeResize="0"/>
          <p:nvPr/>
        </p:nvPicPr>
        <p:blipFill>
          <a:blip r:embed="rId3">
            <a:alphaModFix/>
          </a:blip>
          <a:stretch>
            <a:fillRect/>
          </a:stretch>
        </p:blipFill>
        <p:spPr>
          <a:xfrm>
            <a:off x="1708825" y="1295400"/>
            <a:ext cx="5905500" cy="3324225"/>
          </a:xfrm>
          <a:prstGeom prst="rect">
            <a:avLst/>
          </a:prstGeom>
          <a:noFill/>
          <a:ln>
            <a:noFill/>
          </a:ln>
        </p:spPr>
      </p:pic>
      <p:sp>
        <p:nvSpPr>
          <p:cNvPr id="229" name="Google Shape;229;p38"/>
          <p:cNvSpPr txBox="1"/>
          <p:nvPr/>
        </p:nvSpPr>
        <p:spPr>
          <a:xfrm>
            <a:off x="624000" y="141575"/>
            <a:ext cx="852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latin typeface="Roboto"/>
                <a:ea typeface="Roboto"/>
                <a:cs typeface="Roboto"/>
                <a:sym typeface="Roboto"/>
              </a:rPr>
              <a:t>How to lose half a billion dollars with incorrect feature flags and a deployment failure</a:t>
            </a:r>
            <a:endParaRPr sz="2400">
              <a:latin typeface="Roboto"/>
              <a:ea typeface="Roboto"/>
              <a:cs typeface="Roboto"/>
              <a:sym typeface="Roboto"/>
            </a:endParaRPr>
          </a:p>
        </p:txBody>
      </p:sp>
      <p:sp>
        <p:nvSpPr>
          <p:cNvPr id="230" name="Google Shape;230;p38"/>
          <p:cNvSpPr txBox="1"/>
          <p:nvPr/>
        </p:nvSpPr>
        <p:spPr>
          <a:xfrm>
            <a:off x="5924100" y="4743300"/>
            <a:ext cx="321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Roboto"/>
                <a:ea typeface="Roboto"/>
                <a:cs typeface="Roboto"/>
                <a:sym typeface="Roboto"/>
              </a:rPr>
              <a:t>Image : </a:t>
            </a:r>
            <a:r>
              <a:rPr lang="en-GB" u="sng">
                <a:solidFill>
                  <a:schemeClr val="hlink"/>
                </a:solidFill>
                <a:latin typeface="Roboto"/>
                <a:ea typeface="Roboto"/>
                <a:cs typeface="Roboto"/>
                <a:sym typeface="Roboto"/>
                <a:hlinkClick r:id="rId4"/>
              </a:rPr>
              <a:t>statsig.com</a:t>
            </a:r>
            <a:endParaRPr>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nvSpPr>
        <p:spPr>
          <a:xfrm>
            <a:off x="1348725" y="1626300"/>
            <a:ext cx="6775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0">
                <a:latin typeface="Roboto"/>
                <a:ea typeface="Roboto"/>
                <a:cs typeface="Roboto"/>
                <a:sym typeface="Roboto"/>
              </a:rPr>
              <a:t>“</a:t>
            </a:r>
            <a:r>
              <a:rPr lang="en-GB" sz="3000">
                <a:latin typeface="Roboto"/>
                <a:ea typeface="Roboto"/>
                <a:cs typeface="Roboto"/>
                <a:sym typeface="Roboto"/>
              </a:rPr>
              <a:t>Murphy's Law applies double in production environments”</a:t>
            </a:r>
            <a:endParaRPr sz="3000">
              <a:latin typeface="Roboto"/>
              <a:ea typeface="Roboto"/>
              <a:cs typeface="Roboto"/>
              <a:sym typeface="Roboto"/>
            </a:endParaRPr>
          </a:p>
        </p:txBody>
      </p:sp>
      <p:sp>
        <p:nvSpPr>
          <p:cNvPr id="236" name="Google Shape;236;p39"/>
          <p:cNvSpPr txBox="1"/>
          <p:nvPr/>
        </p:nvSpPr>
        <p:spPr>
          <a:xfrm>
            <a:off x="6504050" y="4695225"/>
            <a:ext cx="253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Roboto"/>
                <a:ea typeface="Roboto"/>
                <a:cs typeface="Roboto"/>
                <a:sym typeface="Roboto"/>
              </a:rPr>
              <a:t>Credit : </a:t>
            </a:r>
            <a:r>
              <a:rPr lang="en-GB" sz="1200" u="sng">
                <a:solidFill>
                  <a:schemeClr val="hlink"/>
                </a:solidFill>
                <a:latin typeface="Roboto"/>
                <a:ea typeface="Roboto"/>
                <a:cs typeface="Roboto"/>
                <a:sym typeface="Roboto"/>
                <a:hlinkClick r:id="rId3"/>
              </a:rPr>
              <a:t>soundofdevelopment</a:t>
            </a:r>
            <a:endParaRPr sz="12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nvSpPr>
        <p:spPr>
          <a:xfrm>
            <a:off x="265175" y="1653700"/>
            <a:ext cx="8435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0">
                <a:latin typeface="Roboto"/>
                <a:ea typeface="Roboto"/>
                <a:cs typeface="Roboto"/>
                <a:sym typeface="Roboto"/>
              </a:rPr>
              <a:t>Dead Code is Dead Weight : Unused code shouldn't just lie dormant in your production systems but must be removed entirely.</a:t>
            </a:r>
            <a:endParaRPr sz="3000">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1"/>
          <p:cNvSpPr txBox="1"/>
          <p:nvPr/>
        </p:nvSpPr>
        <p:spPr>
          <a:xfrm>
            <a:off x="553200" y="0"/>
            <a:ext cx="78591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1" lang="en-GB" sz="2400">
                <a:solidFill>
                  <a:schemeClr val="dk1"/>
                </a:solidFill>
                <a:latin typeface="Roboto"/>
                <a:ea typeface="Roboto"/>
                <a:cs typeface="Roboto"/>
                <a:sym typeface="Roboto"/>
              </a:rPr>
              <a:t>Mistakes to Avoid when Adopting </a:t>
            </a:r>
            <a:endParaRPr b="1" sz="2400">
              <a:solidFill>
                <a:schemeClr val="dk1"/>
              </a:solidFill>
              <a:latin typeface="Roboto"/>
              <a:ea typeface="Roboto"/>
              <a:cs typeface="Roboto"/>
              <a:sym typeface="Roboto"/>
            </a:endParaRPr>
          </a:p>
          <a:p>
            <a:pPr indent="0" lvl="0" marL="0" marR="0" rtl="0" algn="ctr">
              <a:lnSpc>
                <a:spcPct val="100000"/>
              </a:lnSpc>
              <a:spcBef>
                <a:spcPts val="0"/>
              </a:spcBef>
              <a:spcAft>
                <a:spcPts val="0"/>
              </a:spcAft>
              <a:buNone/>
            </a:pPr>
            <a:r>
              <a:rPr b="1" lang="en-GB" sz="2400">
                <a:solidFill>
                  <a:schemeClr val="dk1"/>
                </a:solidFill>
                <a:latin typeface="Roboto"/>
                <a:ea typeface="Roboto"/>
                <a:cs typeface="Roboto"/>
                <a:sym typeface="Roboto"/>
              </a:rPr>
              <a:t>Feature Flags</a:t>
            </a:r>
            <a:endParaRPr b="1" sz="2400">
              <a:solidFill>
                <a:schemeClr val="dk1"/>
              </a:solidFill>
              <a:latin typeface="Roboto"/>
              <a:ea typeface="Roboto"/>
              <a:cs typeface="Roboto"/>
              <a:sym typeface="Roboto"/>
            </a:endParaRPr>
          </a:p>
        </p:txBody>
      </p:sp>
      <p:sp>
        <p:nvSpPr>
          <p:cNvPr id="247" name="Google Shape;247;p41"/>
          <p:cNvSpPr txBox="1"/>
          <p:nvPr/>
        </p:nvSpPr>
        <p:spPr>
          <a:xfrm>
            <a:off x="495775" y="1430550"/>
            <a:ext cx="4647600" cy="2893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rgbClr val="000000"/>
              </a:buClr>
              <a:buSzPts val="1600"/>
              <a:buFont typeface="Roboto"/>
              <a:buChar char="●"/>
            </a:pPr>
            <a:r>
              <a:rPr lang="en-GB" sz="1600">
                <a:latin typeface="Roboto"/>
                <a:ea typeface="Roboto"/>
                <a:cs typeface="Roboto"/>
                <a:sym typeface="Roboto"/>
              </a:rPr>
              <a:t>Leaving stale flags in code causing a debt</a:t>
            </a:r>
            <a:endParaRPr sz="1600">
              <a:latin typeface="Roboto"/>
              <a:ea typeface="Roboto"/>
              <a:cs typeface="Roboto"/>
              <a:sym typeface="Roboto"/>
            </a:endParaRPr>
          </a:p>
          <a:p>
            <a:pPr indent="0" lvl="0" marL="0" marR="0" rtl="0" algn="l">
              <a:lnSpc>
                <a:spcPct val="100000"/>
              </a:lnSpc>
              <a:spcBef>
                <a:spcPts val="0"/>
              </a:spcBef>
              <a:spcAft>
                <a:spcPts val="0"/>
              </a:spcAft>
              <a:buNone/>
            </a:pPr>
            <a:r>
              <a:t/>
            </a:r>
            <a:endParaRPr sz="1600">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GB" sz="1600">
                <a:latin typeface="Roboto"/>
                <a:ea typeface="Roboto"/>
                <a:cs typeface="Roboto"/>
                <a:sym typeface="Roboto"/>
              </a:rPr>
              <a:t>Never reuse a toggle</a:t>
            </a:r>
            <a:endParaRPr sz="1600">
              <a:latin typeface="Roboto"/>
              <a:ea typeface="Roboto"/>
              <a:cs typeface="Roboto"/>
              <a:sym typeface="Roboto"/>
            </a:endParaRPr>
          </a:p>
          <a:p>
            <a:pPr indent="0" lvl="0" marL="457200" marR="0" rtl="0" algn="l">
              <a:lnSpc>
                <a:spcPct val="100000"/>
              </a:lnSpc>
              <a:spcBef>
                <a:spcPts val="0"/>
              </a:spcBef>
              <a:spcAft>
                <a:spcPts val="0"/>
              </a:spcAft>
              <a:buNone/>
            </a:pPr>
            <a:r>
              <a:t/>
            </a:r>
            <a:endParaRPr sz="1600">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GB" sz="1600">
                <a:latin typeface="Roboto"/>
                <a:ea typeface="Roboto"/>
                <a:cs typeface="Roboto"/>
                <a:sym typeface="Roboto"/>
              </a:rPr>
              <a:t>Poor flag naming conventions</a:t>
            </a:r>
            <a:endParaRPr sz="1600">
              <a:latin typeface="Roboto"/>
              <a:ea typeface="Roboto"/>
              <a:cs typeface="Roboto"/>
              <a:sym typeface="Roboto"/>
            </a:endParaRPr>
          </a:p>
          <a:p>
            <a:pPr indent="0" lvl="0" marL="0" marR="0" rtl="0" algn="l">
              <a:lnSpc>
                <a:spcPct val="100000"/>
              </a:lnSpc>
              <a:spcBef>
                <a:spcPts val="0"/>
              </a:spcBef>
              <a:spcAft>
                <a:spcPts val="0"/>
              </a:spcAft>
              <a:buNone/>
            </a:pPr>
            <a:r>
              <a:t/>
            </a:r>
            <a:endParaRPr sz="1600">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GB" sz="1600">
                <a:latin typeface="Roboto"/>
                <a:ea typeface="Roboto"/>
                <a:cs typeface="Roboto"/>
                <a:sym typeface="Roboto"/>
              </a:rPr>
              <a:t>Lack of documentation</a:t>
            </a:r>
            <a:endParaRPr sz="1600">
              <a:latin typeface="Roboto"/>
              <a:ea typeface="Roboto"/>
              <a:cs typeface="Roboto"/>
              <a:sym typeface="Roboto"/>
            </a:endParaRPr>
          </a:p>
          <a:p>
            <a:pPr indent="0" lvl="0" marL="457200" marR="0" rtl="0" algn="l">
              <a:lnSpc>
                <a:spcPct val="100000"/>
              </a:lnSpc>
              <a:spcBef>
                <a:spcPts val="0"/>
              </a:spcBef>
              <a:spcAft>
                <a:spcPts val="0"/>
              </a:spcAft>
              <a:buNone/>
            </a:pPr>
            <a:r>
              <a:t/>
            </a:r>
            <a:endParaRPr sz="1600">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GB" sz="1600">
                <a:latin typeface="Roboto"/>
                <a:ea typeface="Roboto"/>
                <a:cs typeface="Roboto"/>
                <a:sym typeface="Roboto"/>
              </a:rPr>
              <a:t>Performance bottlenecks</a:t>
            </a:r>
            <a:endParaRPr sz="1600">
              <a:latin typeface="Roboto"/>
              <a:ea typeface="Roboto"/>
              <a:cs typeface="Roboto"/>
              <a:sym typeface="Roboto"/>
            </a:endParaRPr>
          </a:p>
          <a:p>
            <a:pPr indent="0" lvl="0" marL="457200" marR="0" rtl="0" algn="l">
              <a:lnSpc>
                <a:spcPct val="100000"/>
              </a:lnSpc>
              <a:spcBef>
                <a:spcPts val="0"/>
              </a:spcBef>
              <a:spcAft>
                <a:spcPts val="0"/>
              </a:spcAft>
              <a:buNone/>
            </a:pPr>
            <a:r>
              <a:t/>
            </a:r>
            <a:endParaRPr sz="1600">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GB" sz="1600">
                <a:latin typeface="Roboto"/>
                <a:ea typeface="Roboto"/>
                <a:cs typeface="Roboto"/>
                <a:sym typeface="Roboto"/>
              </a:rPr>
              <a:t>Security and Access Control</a:t>
            </a:r>
            <a:endParaRPr sz="1600"/>
          </a:p>
        </p:txBody>
      </p:sp>
      <p:pic>
        <p:nvPicPr>
          <p:cNvPr id="248" name="Google Shape;248;p41"/>
          <p:cNvPicPr preferRelativeResize="0"/>
          <p:nvPr/>
        </p:nvPicPr>
        <p:blipFill>
          <a:blip r:embed="rId3">
            <a:alphaModFix/>
          </a:blip>
          <a:stretch>
            <a:fillRect/>
          </a:stretch>
        </p:blipFill>
        <p:spPr>
          <a:xfrm>
            <a:off x="5983607" y="1265375"/>
            <a:ext cx="2560593" cy="3414100"/>
          </a:xfrm>
          <a:prstGeom prst="rect">
            <a:avLst/>
          </a:prstGeom>
          <a:noFill/>
          <a:ln>
            <a:noFill/>
          </a:ln>
        </p:spPr>
      </p:pic>
      <p:sp>
        <p:nvSpPr>
          <p:cNvPr id="249" name="Google Shape;249;p41"/>
          <p:cNvSpPr txBox="1"/>
          <p:nvPr/>
        </p:nvSpPr>
        <p:spPr>
          <a:xfrm>
            <a:off x="7392800" y="4781725"/>
            <a:ext cx="1234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Roboto"/>
                <a:ea typeface="Roboto"/>
                <a:cs typeface="Roboto"/>
                <a:sym typeface="Roboto"/>
              </a:rPr>
              <a:t>Image : </a:t>
            </a:r>
            <a:r>
              <a:rPr lang="en-GB" sz="1200" u="sng">
                <a:solidFill>
                  <a:schemeClr val="hlink"/>
                </a:solidFill>
                <a:latin typeface="Roboto"/>
                <a:ea typeface="Roboto"/>
                <a:cs typeface="Roboto"/>
                <a:sym typeface="Roboto"/>
                <a:hlinkClick r:id="rId4"/>
              </a:rPr>
              <a:t>flickr</a:t>
            </a:r>
            <a:endParaRPr sz="12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nvSpPr>
        <p:spPr>
          <a:xfrm>
            <a:off x="165150" y="896875"/>
            <a:ext cx="8493900" cy="37557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1600"/>
              </a:spcBef>
              <a:spcAft>
                <a:spcPts val="0"/>
              </a:spcAft>
              <a:buClr>
                <a:srgbClr val="374151"/>
              </a:buClr>
              <a:buSzPts val="1600"/>
              <a:buFont typeface="Roboto"/>
              <a:buChar char="●"/>
            </a:pPr>
            <a:r>
              <a:rPr lang="en-GB" sz="1600">
                <a:solidFill>
                  <a:srgbClr val="111827"/>
                </a:solidFill>
                <a:highlight>
                  <a:srgbClr val="FDFDF8"/>
                </a:highlight>
                <a:latin typeface="Roboto"/>
                <a:ea typeface="Roboto"/>
                <a:cs typeface="Roboto"/>
                <a:sym typeface="Roboto"/>
              </a:rPr>
              <a:t>Are descriptive.</a:t>
            </a:r>
            <a:r>
              <a:rPr lang="en-GB" sz="1600">
                <a:solidFill>
                  <a:srgbClr val="374151"/>
                </a:solidFill>
                <a:highlight>
                  <a:srgbClr val="FDFDF8"/>
                </a:highlight>
                <a:latin typeface="Roboto"/>
                <a:ea typeface="Roboto"/>
                <a:cs typeface="Roboto"/>
                <a:sym typeface="Roboto"/>
              </a:rPr>
              <a:t> For example, </a:t>
            </a:r>
            <a:r>
              <a:rPr lang="en-GB" sz="1600">
                <a:solidFill>
                  <a:srgbClr val="F54E00"/>
                </a:solidFill>
                <a:highlight>
                  <a:srgbClr val="FDFDF8"/>
                </a:highlight>
                <a:latin typeface="Roboto"/>
                <a:ea typeface="Roboto"/>
                <a:cs typeface="Roboto"/>
                <a:sym typeface="Roboto"/>
              </a:rPr>
              <a:t>is-v2-billing-dashboard-enabled</a:t>
            </a:r>
            <a:r>
              <a:rPr lang="en-GB" sz="1600">
                <a:solidFill>
                  <a:srgbClr val="374151"/>
                </a:solidFill>
                <a:highlight>
                  <a:srgbClr val="FDFDF8"/>
                </a:highlight>
                <a:latin typeface="Roboto"/>
                <a:ea typeface="Roboto"/>
                <a:cs typeface="Roboto"/>
                <a:sym typeface="Roboto"/>
              </a:rPr>
              <a:t> is much clearer than </a:t>
            </a:r>
            <a:r>
              <a:rPr lang="en-GB" sz="1600">
                <a:solidFill>
                  <a:srgbClr val="F54E00"/>
                </a:solidFill>
                <a:highlight>
                  <a:srgbClr val="FDFDF8"/>
                </a:highlight>
                <a:latin typeface="Roboto"/>
                <a:ea typeface="Roboto"/>
                <a:cs typeface="Roboto"/>
                <a:sym typeface="Roboto"/>
              </a:rPr>
              <a:t>is-dashboard-enabled</a:t>
            </a:r>
            <a:r>
              <a:rPr lang="en-GB" sz="1600">
                <a:solidFill>
                  <a:srgbClr val="374151"/>
                </a:solidFill>
                <a:highlight>
                  <a:srgbClr val="FDFDF8"/>
                </a:highlight>
                <a:latin typeface="Roboto"/>
                <a:ea typeface="Roboto"/>
                <a:cs typeface="Roboto"/>
                <a:sym typeface="Roboto"/>
              </a:rPr>
              <a:t>. It includes useful version and product context.</a:t>
            </a:r>
            <a:endParaRPr sz="1600">
              <a:solidFill>
                <a:srgbClr val="374151"/>
              </a:solidFill>
              <a:highlight>
                <a:srgbClr val="FDFDF8"/>
              </a:highlight>
              <a:latin typeface="Roboto"/>
              <a:ea typeface="Roboto"/>
              <a:cs typeface="Roboto"/>
              <a:sym typeface="Roboto"/>
            </a:endParaRPr>
          </a:p>
          <a:p>
            <a:pPr indent="-330200" lvl="0" marL="457200" rtl="0" algn="l">
              <a:lnSpc>
                <a:spcPct val="150000"/>
              </a:lnSpc>
              <a:spcBef>
                <a:spcPts val="0"/>
              </a:spcBef>
              <a:spcAft>
                <a:spcPts val="0"/>
              </a:spcAft>
              <a:buClr>
                <a:srgbClr val="374151"/>
              </a:buClr>
              <a:buSzPts val="1600"/>
              <a:buFont typeface="Roboto"/>
              <a:buChar char="●"/>
            </a:pPr>
            <a:r>
              <a:rPr lang="en-GB" sz="1600">
                <a:solidFill>
                  <a:srgbClr val="111827"/>
                </a:solidFill>
                <a:highlight>
                  <a:srgbClr val="FDFDF8"/>
                </a:highlight>
                <a:latin typeface="Roboto"/>
                <a:ea typeface="Roboto"/>
                <a:cs typeface="Roboto"/>
                <a:sym typeface="Roboto"/>
              </a:rPr>
              <a:t>Use name "types".</a:t>
            </a:r>
            <a:r>
              <a:rPr lang="en-GB" sz="1600">
                <a:solidFill>
                  <a:srgbClr val="374151"/>
                </a:solidFill>
                <a:highlight>
                  <a:srgbClr val="FDFDF8"/>
                </a:highlight>
                <a:latin typeface="Roboto"/>
                <a:ea typeface="Roboto"/>
                <a:cs typeface="Roboto"/>
                <a:sym typeface="Roboto"/>
              </a:rPr>
              <a:t> This helps organize them and makes their purpose clear. Types might include experiments, releases, and permissions. For example, instead of </a:t>
            </a:r>
            <a:r>
              <a:rPr lang="en-GB" sz="1600">
                <a:solidFill>
                  <a:srgbClr val="F54E00"/>
                </a:solidFill>
                <a:highlight>
                  <a:srgbClr val="FDFDF8"/>
                </a:highlight>
                <a:latin typeface="Roboto"/>
                <a:ea typeface="Roboto"/>
                <a:cs typeface="Roboto"/>
                <a:sym typeface="Roboto"/>
              </a:rPr>
              <a:t>new-billing</a:t>
            </a:r>
            <a:r>
              <a:rPr lang="en-GB" sz="1600">
                <a:solidFill>
                  <a:srgbClr val="374151"/>
                </a:solidFill>
                <a:highlight>
                  <a:srgbClr val="FDFDF8"/>
                </a:highlight>
                <a:latin typeface="Roboto"/>
                <a:ea typeface="Roboto"/>
                <a:cs typeface="Roboto"/>
                <a:sym typeface="Roboto"/>
              </a:rPr>
              <a:t>, they would be </a:t>
            </a:r>
            <a:r>
              <a:rPr lang="en-GB" sz="1600">
                <a:solidFill>
                  <a:srgbClr val="F54E00"/>
                </a:solidFill>
                <a:highlight>
                  <a:srgbClr val="FDFDF8"/>
                </a:highlight>
                <a:latin typeface="Roboto"/>
                <a:ea typeface="Roboto"/>
                <a:cs typeface="Roboto"/>
                <a:sym typeface="Roboto"/>
              </a:rPr>
              <a:t>new-billing-experiment</a:t>
            </a:r>
            <a:r>
              <a:rPr lang="en-GB" sz="1600">
                <a:solidFill>
                  <a:srgbClr val="374151"/>
                </a:solidFill>
                <a:highlight>
                  <a:srgbClr val="FDFDF8"/>
                </a:highlight>
                <a:latin typeface="Roboto"/>
                <a:ea typeface="Roboto"/>
                <a:cs typeface="Roboto"/>
                <a:sym typeface="Roboto"/>
              </a:rPr>
              <a:t> or </a:t>
            </a:r>
            <a:r>
              <a:rPr lang="en-GB" sz="1600">
                <a:solidFill>
                  <a:srgbClr val="F54E00"/>
                </a:solidFill>
                <a:highlight>
                  <a:srgbClr val="FDFDF8"/>
                </a:highlight>
                <a:latin typeface="Roboto"/>
                <a:ea typeface="Roboto"/>
                <a:cs typeface="Roboto"/>
                <a:sym typeface="Roboto"/>
              </a:rPr>
              <a:t>new-billing-release</a:t>
            </a:r>
            <a:r>
              <a:rPr lang="en-GB" sz="1600">
                <a:solidFill>
                  <a:srgbClr val="374151"/>
                </a:solidFill>
                <a:highlight>
                  <a:srgbClr val="FDFDF8"/>
                </a:highlight>
                <a:latin typeface="Roboto"/>
                <a:ea typeface="Roboto"/>
                <a:cs typeface="Roboto"/>
                <a:sym typeface="Roboto"/>
              </a:rPr>
              <a:t>.</a:t>
            </a:r>
            <a:endParaRPr sz="1600">
              <a:solidFill>
                <a:srgbClr val="374151"/>
              </a:solidFill>
              <a:highlight>
                <a:srgbClr val="FDFDF8"/>
              </a:highlight>
              <a:latin typeface="Roboto"/>
              <a:ea typeface="Roboto"/>
              <a:cs typeface="Roboto"/>
              <a:sym typeface="Roboto"/>
            </a:endParaRPr>
          </a:p>
          <a:p>
            <a:pPr indent="-330200" lvl="0" marL="457200" rtl="0" algn="l">
              <a:lnSpc>
                <a:spcPct val="150000"/>
              </a:lnSpc>
              <a:spcBef>
                <a:spcPts val="0"/>
              </a:spcBef>
              <a:spcAft>
                <a:spcPts val="0"/>
              </a:spcAft>
              <a:buClr>
                <a:srgbClr val="374151"/>
              </a:buClr>
              <a:buSzPts val="1600"/>
              <a:buFont typeface="Roboto"/>
              <a:buChar char="●"/>
            </a:pPr>
            <a:r>
              <a:rPr lang="en-GB" sz="1600">
                <a:solidFill>
                  <a:srgbClr val="111827"/>
                </a:solidFill>
                <a:highlight>
                  <a:srgbClr val="FDFDF8"/>
                </a:highlight>
                <a:latin typeface="Roboto"/>
                <a:ea typeface="Roboto"/>
                <a:cs typeface="Roboto"/>
                <a:sym typeface="Roboto"/>
              </a:rPr>
              <a:t>Reflect their return type.</a:t>
            </a:r>
            <a:r>
              <a:rPr lang="en-GB" sz="1600">
                <a:solidFill>
                  <a:srgbClr val="374151"/>
                </a:solidFill>
                <a:highlight>
                  <a:srgbClr val="FDFDF8"/>
                </a:highlight>
                <a:latin typeface="Roboto"/>
                <a:ea typeface="Roboto"/>
                <a:cs typeface="Roboto"/>
                <a:sym typeface="Roboto"/>
              </a:rPr>
              <a:t> For example, </a:t>
            </a:r>
            <a:r>
              <a:rPr lang="en-GB" sz="1600">
                <a:solidFill>
                  <a:srgbClr val="F54E00"/>
                </a:solidFill>
                <a:highlight>
                  <a:srgbClr val="FDFDF8"/>
                </a:highlight>
                <a:latin typeface="Roboto"/>
                <a:ea typeface="Roboto"/>
                <a:cs typeface="Roboto"/>
                <a:sym typeface="Roboto"/>
              </a:rPr>
              <a:t>is-premium-user</a:t>
            </a:r>
            <a:r>
              <a:rPr lang="en-GB" sz="1600">
                <a:solidFill>
                  <a:srgbClr val="374151"/>
                </a:solidFill>
                <a:highlight>
                  <a:srgbClr val="FDFDF8"/>
                </a:highlight>
                <a:latin typeface="Roboto"/>
                <a:ea typeface="Roboto"/>
                <a:cs typeface="Roboto"/>
                <a:sym typeface="Roboto"/>
              </a:rPr>
              <a:t> for a boolean, </a:t>
            </a:r>
            <a:r>
              <a:rPr lang="en-GB" sz="1600">
                <a:solidFill>
                  <a:srgbClr val="F54E00"/>
                </a:solidFill>
                <a:highlight>
                  <a:srgbClr val="FDFDF8"/>
                </a:highlight>
                <a:latin typeface="Roboto"/>
                <a:ea typeface="Roboto"/>
                <a:cs typeface="Roboto"/>
                <a:sym typeface="Roboto"/>
              </a:rPr>
              <a:t>enabled-integrations</a:t>
            </a:r>
            <a:r>
              <a:rPr lang="en-GB" sz="1600">
                <a:solidFill>
                  <a:srgbClr val="374151"/>
                </a:solidFill>
                <a:highlight>
                  <a:srgbClr val="FDFDF8"/>
                </a:highlight>
                <a:latin typeface="Roboto"/>
                <a:ea typeface="Roboto"/>
                <a:cs typeface="Roboto"/>
                <a:sym typeface="Roboto"/>
              </a:rPr>
              <a:t> for an array, or </a:t>
            </a:r>
            <a:r>
              <a:rPr lang="en-GB" sz="1600">
                <a:solidFill>
                  <a:srgbClr val="F54E00"/>
                </a:solidFill>
                <a:highlight>
                  <a:srgbClr val="FDFDF8"/>
                </a:highlight>
                <a:latin typeface="Roboto"/>
                <a:ea typeface="Roboto"/>
                <a:cs typeface="Roboto"/>
                <a:sym typeface="Roboto"/>
              </a:rPr>
              <a:t>selected-theme</a:t>
            </a:r>
            <a:r>
              <a:rPr lang="en-GB" sz="1600">
                <a:solidFill>
                  <a:srgbClr val="374151"/>
                </a:solidFill>
                <a:highlight>
                  <a:srgbClr val="FDFDF8"/>
                </a:highlight>
                <a:latin typeface="Roboto"/>
                <a:ea typeface="Roboto"/>
                <a:cs typeface="Roboto"/>
                <a:sym typeface="Roboto"/>
              </a:rPr>
              <a:t> for a single string.</a:t>
            </a:r>
            <a:endParaRPr sz="1600">
              <a:solidFill>
                <a:srgbClr val="374151"/>
              </a:solidFill>
              <a:highlight>
                <a:srgbClr val="FDFDF8"/>
              </a:highlight>
              <a:latin typeface="Roboto"/>
              <a:ea typeface="Roboto"/>
              <a:cs typeface="Roboto"/>
              <a:sym typeface="Roboto"/>
            </a:endParaRPr>
          </a:p>
          <a:p>
            <a:pPr indent="-330200" lvl="0" marL="457200" rtl="0" algn="l">
              <a:lnSpc>
                <a:spcPct val="150000"/>
              </a:lnSpc>
              <a:spcBef>
                <a:spcPts val="0"/>
              </a:spcBef>
              <a:spcAft>
                <a:spcPts val="0"/>
              </a:spcAft>
              <a:buClr>
                <a:srgbClr val="374151"/>
              </a:buClr>
              <a:buSzPts val="1600"/>
              <a:buFont typeface="Roboto"/>
              <a:buChar char="●"/>
            </a:pPr>
            <a:r>
              <a:rPr lang="en-GB" sz="1600">
                <a:solidFill>
                  <a:srgbClr val="111827"/>
                </a:solidFill>
                <a:highlight>
                  <a:srgbClr val="FDFDF8"/>
                </a:highlight>
                <a:latin typeface="Roboto"/>
                <a:ea typeface="Roboto"/>
                <a:cs typeface="Roboto"/>
                <a:sym typeface="Roboto"/>
              </a:rPr>
              <a:t>Use positive language for boolean flags.</a:t>
            </a:r>
            <a:r>
              <a:rPr lang="en-GB" sz="1600">
                <a:solidFill>
                  <a:srgbClr val="374151"/>
                </a:solidFill>
                <a:highlight>
                  <a:srgbClr val="FDFDF8"/>
                </a:highlight>
                <a:latin typeface="Roboto"/>
                <a:ea typeface="Roboto"/>
                <a:cs typeface="Roboto"/>
                <a:sym typeface="Roboto"/>
              </a:rPr>
              <a:t> For example, </a:t>
            </a:r>
            <a:r>
              <a:rPr lang="en-GB" sz="1600">
                <a:solidFill>
                  <a:srgbClr val="F54E00"/>
                </a:solidFill>
                <a:highlight>
                  <a:srgbClr val="FDFDF8"/>
                </a:highlight>
                <a:latin typeface="Roboto"/>
                <a:ea typeface="Roboto"/>
                <a:cs typeface="Roboto"/>
                <a:sym typeface="Roboto"/>
              </a:rPr>
              <a:t>is-premium-user</a:t>
            </a:r>
            <a:r>
              <a:rPr lang="en-GB" sz="1600">
                <a:solidFill>
                  <a:srgbClr val="374151"/>
                </a:solidFill>
                <a:highlight>
                  <a:srgbClr val="FDFDF8"/>
                </a:highlight>
                <a:latin typeface="Roboto"/>
                <a:ea typeface="Roboto"/>
                <a:cs typeface="Roboto"/>
                <a:sym typeface="Roboto"/>
              </a:rPr>
              <a:t> instead of </a:t>
            </a:r>
            <a:r>
              <a:rPr lang="en-GB" sz="1600">
                <a:solidFill>
                  <a:srgbClr val="F54E00"/>
                </a:solidFill>
                <a:highlight>
                  <a:srgbClr val="FDFDF8"/>
                </a:highlight>
                <a:latin typeface="Roboto"/>
                <a:ea typeface="Roboto"/>
                <a:cs typeface="Roboto"/>
                <a:sym typeface="Roboto"/>
              </a:rPr>
              <a:t>is-not-premium-user</a:t>
            </a:r>
            <a:r>
              <a:rPr lang="en-GB" sz="1600">
                <a:solidFill>
                  <a:srgbClr val="374151"/>
                </a:solidFill>
                <a:highlight>
                  <a:srgbClr val="FDFDF8"/>
                </a:highlight>
                <a:latin typeface="Roboto"/>
                <a:ea typeface="Roboto"/>
                <a:cs typeface="Roboto"/>
                <a:sym typeface="Roboto"/>
              </a:rPr>
              <a:t>. This helps avoid confusing double negatives when checking the flag value (e.g. </a:t>
            </a:r>
            <a:r>
              <a:rPr lang="en-GB" sz="1600">
                <a:solidFill>
                  <a:srgbClr val="F54E00"/>
                </a:solidFill>
                <a:highlight>
                  <a:srgbClr val="FDFDF8"/>
                </a:highlight>
                <a:latin typeface="Roboto"/>
                <a:ea typeface="Roboto"/>
                <a:cs typeface="Roboto"/>
                <a:sym typeface="Roboto"/>
              </a:rPr>
              <a:t>if !is_not_premium_user</a:t>
            </a:r>
            <a:r>
              <a:rPr lang="en-GB" sz="1600">
                <a:solidFill>
                  <a:srgbClr val="374151"/>
                </a:solidFill>
                <a:highlight>
                  <a:srgbClr val="FDFDF8"/>
                </a:highlight>
                <a:latin typeface="Roboto"/>
                <a:ea typeface="Roboto"/>
                <a:cs typeface="Roboto"/>
                <a:sym typeface="Roboto"/>
              </a:rPr>
              <a:t>).</a:t>
            </a:r>
            <a:endParaRPr sz="1600">
              <a:solidFill>
                <a:srgbClr val="374151"/>
              </a:solidFill>
              <a:highlight>
                <a:srgbClr val="FDFDF8"/>
              </a:highlight>
              <a:latin typeface="Roboto"/>
              <a:ea typeface="Roboto"/>
              <a:cs typeface="Roboto"/>
              <a:sym typeface="Roboto"/>
            </a:endParaRPr>
          </a:p>
        </p:txBody>
      </p:sp>
      <p:sp>
        <p:nvSpPr>
          <p:cNvPr id="255" name="Google Shape;255;p42"/>
          <p:cNvSpPr txBox="1"/>
          <p:nvPr/>
        </p:nvSpPr>
        <p:spPr>
          <a:xfrm>
            <a:off x="7180475" y="4695175"/>
            <a:ext cx="174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Roboto"/>
                <a:ea typeface="Roboto"/>
                <a:cs typeface="Roboto"/>
                <a:sym typeface="Roboto"/>
              </a:rPr>
              <a:t>Source : </a:t>
            </a:r>
            <a:r>
              <a:rPr lang="en-GB" sz="1200" u="sng">
                <a:solidFill>
                  <a:schemeClr val="hlink"/>
                </a:solidFill>
                <a:latin typeface="Roboto"/>
                <a:ea typeface="Roboto"/>
                <a:cs typeface="Roboto"/>
                <a:sym typeface="Roboto"/>
                <a:hlinkClick r:id="rId3"/>
              </a:rPr>
              <a:t>posthog.com</a:t>
            </a:r>
            <a:endParaRPr sz="1200">
              <a:latin typeface="Roboto"/>
              <a:ea typeface="Roboto"/>
              <a:cs typeface="Roboto"/>
              <a:sym typeface="Roboto"/>
            </a:endParaRPr>
          </a:p>
        </p:txBody>
      </p:sp>
      <p:sp>
        <p:nvSpPr>
          <p:cNvPr id="256" name="Google Shape;256;p42"/>
          <p:cNvSpPr txBox="1"/>
          <p:nvPr/>
        </p:nvSpPr>
        <p:spPr>
          <a:xfrm>
            <a:off x="440425" y="165150"/>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300"/>
              </a:spcBef>
              <a:spcAft>
                <a:spcPts val="1300"/>
              </a:spcAft>
              <a:buNone/>
            </a:pPr>
            <a:r>
              <a:rPr lang="en-GB" sz="2400">
                <a:solidFill>
                  <a:srgbClr val="2B2B2B"/>
                </a:solidFill>
                <a:highlight>
                  <a:srgbClr val="FDFDF8"/>
                </a:highlight>
                <a:latin typeface="Roboto"/>
                <a:ea typeface="Roboto"/>
                <a:cs typeface="Roboto"/>
                <a:sym typeface="Roboto"/>
              </a:rPr>
              <a:t>Good names</a:t>
            </a:r>
            <a:endParaRPr sz="2400">
              <a:solidFill>
                <a:srgbClr val="2B2B2B"/>
              </a:solidFill>
              <a:highlight>
                <a:srgbClr val="FDFDF8"/>
              </a:highlight>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sp>
        <p:nvSpPr>
          <p:cNvPr id="261" name="Google Shape;261;p43"/>
          <p:cNvSpPr txBox="1"/>
          <p:nvPr/>
        </p:nvSpPr>
        <p:spPr>
          <a:xfrm>
            <a:off x="936275" y="559350"/>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The Meta Game Problem</a:t>
            </a:r>
            <a:endParaRPr b="1">
              <a:latin typeface="Roboto"/>
              <a:ea typeface="Roboto"/>
              <a:cs typeface="Roboto"/>
              <a:sym typeface="Roboto"/>
            </a:endParaRPr>
          </a:p>
        </p:txBody>
      </p:sp>
      <p:sp>
        <p:nvSpPr>
          <p:cNvPr id="262" name="Google Shape;262;p43"/>
          <p:cNvSpPr txBox="1"/>
          <p:nvPr/>
        </p:nvSpPr>
        <p:spPr>
          <a:xfrm>
            <a:off x="745025" y="1601300"/>
            <a:ext cx="8047200" cy="14037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60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Manual cleanup doesn’t work - devs are busy</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Flags become permanent, codebase gets messy</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Bugs and confusion increase over time</a:t>
            </a:r>
            <a:endParaRPr sz="2400">
              <a:solidFill>
                <a:schemeClr val="dk1"/>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nvSpPr>
        <p:spPr>
          <a:xfrm>
            <a:off x="262950" y="397775"/>
            <a:ext cx="8618100" cy="554100"/>
          </a:xfrm>
          <a:prstGeom prst="rect">
            <a:avLst/>
          </a:prstGeom>
          <a:noFill/>
          <a:ln>
            <a:noFill/>
          </a:ln>
        </p:spPr>
        <p:txBody>
          <a:bodyPr anchorCtr="0" anchor="t" bIns="91425" lIns="91425" spcFirstLastPara="1" rIns="91425" wrap="square" tIns="91425">
            <a:spAutoFit/>
          </a:bodyPr>
          <a:lstStyle/>
          <a:p>
            <a:pPr indent="0" lvl="0" marL="0" rtl="0" algn="l">
              <a:lnSpc>
                <a:spcPct val="116000"/>
              </a:lnSpc>
              <a:spcBef>
                <a:spcPts val="1700"/>
              </a:spcBef>
              <a:spcAft>
                <a:spcPts val="1100"/>
              </a:spcAft>
              <a:buNone/>
            </a:pPr>
            <a:r>
              <a:rPr b="1" lang="en-GB" sz="2400">
                <a:solidFill>
                  <a:schemeClr val="dk1"/>
                </a:solidFill>
                <a:highlight>
                  <a:srgbClr val="FFFFFF"/>
                </a:highlight>
                <a:latin typeface="Roboto"/>
                <a:ea typeface="Roboto"/>
                <a:cs typeface="Roboto"/>
                <a:sym typeface="Roboto"/>
              </a:rPr>
              <a:t>What’s wrong with the feature flags addiction</a:t>
            </a:r>
            <a:endParaRPr b="1" sz="2400">
              <a:solidFill>
                <a:schemeClr val="dk1"/>
              </a:solidFill>
              <a:highlight>
                <a:srgbClr val="FFFFFF"/>
              </a:highlight>
              <a:latin typeface="Roboto"/>
              <a:ea typeface="Roboto"/>
              <a:cs typeface="Roboto"/>
              <a:sym typeface="Roboto"/>
            </a:endParaRPr>
          </a:p>
        </p:txBody>
      </p:sp>
      <p:sp>
        <p:nvSpPr>
          <p:cNvPr id="268" name="Google Shape;268;p44"/>
          <p:cNvSpPr txBox="1"/>
          <p:nvPr/>
        </p:nvSpPr>
        <p:spPr>
          <a:xfrm>
            <a:off x="253700" y="1555800"/>
            <a:ext cx="4318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highlight>
                  <a:srgbClr val="FFFFFF"/>
                </a:highlight>
                <a:latin typeface="Roboto"/>
                <a:ea typeface="Roboto"/>
                <a:cs typeface="Roboto"/>
                <a:sym typeface="Roboto"/>
              </a:rPr>
              <a:t>Feature Flags have a tendency to multiply rapidly, particularly when first introduced.</a:t>
            </a:r>
            <a:endParaRPr sz="20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20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GB" sz="2000">
                <a:solidFill>
                  <a:schemeClr val="dk1"/>
                </a:solidFill>
                <a:highlight>
                  <a:srgbClr val="FFFFFF"/>
                </a:highlight>
                <a:latin typeface="Roboto"/>
                <a:ea typeface="Roboto"/>
                <a:cs typeface="Roboto"/>
                <a:sym typeface="Roboto"/>
              </a:rPr>
              <a:t>They are useful and cheap to create and so often a lot are created. </a:t>
            </a:r>
            <a:endParaRPr sz="2000">
              <a:solidFill>
                <a:schemeClr val="dk1"/>
              </a:solidFill>
              <a:latin typeface="Roboto"/>
              <a:ea typeface="Roboto"/>
              <a:cs typeface="Roboto"/>
              <a:sym typeface="Roboto"/>
            </a:endParaRPr>
          </a:p>
        </p:txBody>
      </p:sp>
      <p:pic>
        <p:nvPicPr>
          <p:cNvPr id="269" name="Google Shape;269;p44"/>
          <p:cNvPicPr preferRelativeResize="0"/>
          <p:nvPr/>
        </p:nvPicPr>
        <p:blipFill>
          <a:blip r:embed="rId3">
            <a:alphaModFix/>
          </a:blip>
          <a:stretch>
            <a:fillRect/>
          </a:stretch>
        </p:blipFill>
        <p:spPr>
          <a:xfrm>
            <a:off x="4762300" y="1555800"/>
            <a:ext cx="4267300" cy="2595575"/>
          </a:xfrm>
          <a:prstGeom prst="rect">
            <a:avLst/>
          </a:prstGeom>
          <a:noFill/>
          <a:ln>
            <a:noFill/>
          </a:ln>
        </p:spPr>
      </p:pic>
      <p:sp>
        <p:nvSpPr>
          <p:cNvPr id="270" name="Google Shape;270;p44"/>
          <p:cNvSpPr txBox="1"/>
          <p:nvPr/>
        </p:nvSpPr>
        <p:spPr>
          <a:xfrm>
            <a:off x="7266975" y="4567425"/>
            <a:ext cx="176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Roboto"/>
                <a:ea typeface="Roboto"/>
                <a:cs typeface="Roboto"/>
                <a:sym typeface="Roboto"/>
              </a:rPr>
              <a:t>Image </a:t>
            </a:r>
            <a:r>
              <a:rPr lang="en-GB" u="sng">
                <a:solidFill>
                  <a:schemeClr val="hlink"/>
                </a:solidFill>
                <a:latin typeface="Roboto"/>
                <a:ea typeface="Roboto"/>
                <a:cs typeface="Roboto"/>
                <a:sym typeface="Roboto"/>
                <a:hlinkClick r:id="rId4"/>
              </a:rPr>
              <a:t>manager.dev</a:t>
            </a:r>
            <a:endParaRPr>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5"/>
          <p:cNvPicPr preferRelativeResize="0"/>
          <p:nvPr/>
        </p:nvPicPr>
        <p:blipFill>
          <a:blip r:embed="rId3">
            <a:alphaModFix/>
          </a:blip>
          <a:stretch>
            <a:fillRect/>
          </a:stretch>
        </p:blipFill>
        <p:spPr>
          <a:xfrm>
            <a:off x="1318350" y="115925"/>
            <a:ext cx="3675950" cy="4911650"/>
          </a:xfrm>
          <a:prstGeom prst="rect">
            <a:avLst/>
          </a:prstGeom>
          <a:noFill/>
          <a:ln>
            <a:noFill/>
          </a:ln>
        </p:spPr>
      </p:pic>
      <p:sp>
        <p:nvSpPr>
          <p:cNvPr id="276" name="Google Shape;276;p45"/>
          <p:cNvSpPr txBox="1"/>
          <p:nvPr/>
        </p:nvSpPr>
        <p:spPr>
          <a:xfrm>
            <a:off x="5383650" y="2294700"/>
            <a:ext cx="34917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rPr lang="en-GB" sz="2400">
                <a:solidFill>
                  <a:schemeClr val="dk1"/>
                </a:solidFill>
                <a:latin typeface="Roboto"/>
                <a:ea typeface="Roboto"/>
                <a:cs typeface="Roboto"/>
                <a:sym typeface="Roboto"/>
              </a:rPr>
              <a:t>Conflicting Flags</a:t>
            </a:r>
            <a:endParaRPr sz="2400">
              <a:solidFill>
                <a:schemeClr val="dk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6"/>
          <p:cNvSpPr txBox="1"/>
          <p:nvPr>
            <p:ph type="ctrTitle"/>
          </p:nvPr>
        </p:nvSpPr>
        <p:spPr>
          <a:xfrm>
            <a:off x="4393700" y="2227800"/>
            <a:ext cx="3758100" cy="687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000"/>
              <a:t>Overused Flags</a:t>
            </a:r>
            <a:endParaRPr sz="3000"/>
          </a:p>
        </p:txBody>
      </p:sp>
      <p:pic>
        <p:nvPicPr>
          <p:cNvPr id="282" name="Google Shape;282;p46"/>
          <p:cNvPicPr preferRelativeResize="0"/>
          <p:nvPr/>
        </p:nvPicPr>
        <p:blipFill>
          <a:blip r:embed="rId3">
            <a:alphaModFix/>
          </a:blip>
          <a:stretch>
            <a:fillRect/>
          </a:stretch>
        </p:blipFill>
        <p:spPr>
          <a:xfrm>
            <a:off x="1731575" y="826400"/>
            <a:ext cx="2840436" cy="3787249"/>
          </a:xfrm>
          <a:prstGeom prst="rect">
            <a:avLst/>
          </a:prstGeom>
          <a:noFill/>
          <a:ln>
            <a:noFill/>
          </a:ln>
        </p:spPr>
      </p:pic>
      <p:sp>
        <p:nvSpPr>
          <p:cNvPr id="283" name="Google Shape;283;p46"/>
          <p:cNvSpPr txBox="1"/>
          <p:nvPr/>
        </p:nvSpPr>
        <p:spPr>
          <a:xfrm>
            <a:off x="7817500" y="4718800"/>
            <a:ext cx="1266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latin typeface="Roboto"/>
                <a:ea typeface="Roboto"/>
                <a:cs typeface="Roboto"/>
                <a:sym typeface="Roboto"/>
              </a:rPr>
              <a:t>Image : </a:t>
            </a:r>
            <a:r>
              <a:rPr lang="en-GB" sz="1000" u="sng">
                <a:solidFill>
                  <a:schemeClr val="hlink"/>
                </a:solidFill>
                <a:latin typeface="Roboto"/>
                <a:ea typeface="Roboto"/>
                <a:cs typeface="Roboto"/>
                <a:sym typeface="Roboto"/>
                <a:hlinkClick r:id="rId4"/>
              </a:rPr>
              <a:t>reddit</a:t>
            </a:r>
            <a:endParaRPr sz="10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7"/>
          <p:cNvSpPr txBox="1"/>
          <p:nvPr/>
        </p:nvSpPr>
        <p:spPr>
          <a:xfrm>
            <a:off x="924125" y="328325"/>
            <a:ext cx="666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89" name="Google Shape;289;p47"/>
          <p:cNvSpPr txBox="1"/>
          <p:nvPr>
            <p:ph idx="1" type="subTitle"/>
          </p:nvPr>
        </p:nvSpPr>
        <p:spPr>
          <a:xfrm>
            <a:off x="416050" y="1574125"/>
            <a:ext cx="8640900" cy="3345300"/>
          </a:xfrm>
          <a:prstGeom prst="rect">
            <a:avLst/>
          </a:prstGeom>
        </p:spPr>
        <p:txBody>
          <a:bodyPr anchorCtr="0" anchor="t" bIns="91425" lIns="91425" spcFirstLastPara="1" rIns="91425" wrap="square" tIns="91425">
            <a:normAutofit fontScale="92500" lnSpcReduction="20000"/>
          </a:bodyPr>
          <a:lstStyle/>
          <a:p>
            <a:pPr indent="-369570" lvl="0" marL="457200" marR="0" rtl="0" algn="l">
              <a:lnSpc>
                <a:spcPct val="100000"/>
              </a:lnSpc>
              <a:spcBef>
                <a:spcPts val="0"/>
              </a:spcBef>
              <a:spcAft>
                <a:spcPts val="0"/>
              </a:spcAft>
              <a:buClr>
                <a:srgbClr val="000000"/>
              </a:buClr>
              <a:buSzPct val="100000"/>
              <a:buChar char="●"/>
            </a:pPr>
            <a:r>
              <a:rPr lang="en-GB" sz="2400">
                <a:solidFill>
                  <a:srgbClr val="000000"/>
                </a:solidFill>
              </a:rPr>
              <a:t>Centralized Flag Management Tools</a:t>
            </a:r>
            <a:endParaRPr sz="2400">
              <a:solidFill>
                <a:srgbClr val="000000"/>
              </a:solidFill>
            </a:endParaRPr>
          </a:p>
          <a:p>
            <a:pPr indent="0" lvl="0" marL="914400" marR="0" rtl="0" algn="l">
              <a:lnSpc>
                <a:spcPct val="100000"/>
              </a:lnSpc>
              <a:spcBef>
                <a:spcPts val="0"/>
              </a:spcBef>
              <a:spcAft>
                <a:spcPts val="0"/>
              </a:spcAft>
              <a:buNone/>
            </a:pPr>
            <a:r>
              <a:t/>
            </a:r>
            <a:endParaRPr sz="2400">
              <a:solidFill>
                <a:srgbClr val="000000"/>
              </a:solidFill>
            </a:endParaRPr>
          </a:p>
          <a:p>
            <a:pPr indent="-369570" lvl="0" marL="457200" marR="0" rtl="0" algn="l">
              <a:lnSpc>
                <a:spcPct val="100000"/>
              </a:lnSpc>
              <a:spcBef>
                <a:spcPts val="0"/>
              </a:spcBef>
              <a:spcAft>
                <a:spcPts val="0"/>
              </a:spcAft>
              <a:buClr>
                <a:srgbClr val="000000"/>
              </a:buClr>
              <a:buSzPct val="100000"/>
              <a:buChar char="●"/>
            </a:pPr>
            <a:r>
              <a:rPr lang="en-GB" sz="2400">
                <a:solidFill>
                  <a:srgbClr val="000000"/>
                </a:solidFill>
              </a:rPr>
              <a:t>Flag carefully. Define Flag Lifecycles</a:t>
            </a:r>
            <a:endParaRPr sz="2400">
              <a:solidFill>
                <a:srgbClr val="000000"/>
              </a:solidFill>
            </a:endParaRPr>
          </a:p>
          <a:p>
            <a:pPr indent="0" lvl="0" marL="914400" marR="0" rtl="0" algn="l">
              <a:lnSpc>
                <a:spcPct val="100000"/>
              </a:lnSpc>
              <a:spcBef>
                <a:spcPts val="0"/>
              </a:spcBef>
              <a:spcAft>
                <a:spcPts val="0"/>
              </a:spcAft>
              <a:buNone/>
            </a:pPr>
            <a:r>
              <a:t/>
            </a:r>
            <a:endParaRPr sz="2400">
              <a:solidFill>
                <a:srgbClr val="000000"/>
              </a:solidFill>
            </a:endParaRPr>
          </a:p>
          <a:p>
            <a:pPr indent="-369570" lvl="0" marL="457200" marR="0" rtl="0" algn="l">
              <a:lnSpc>
                <a:spcPct val="100000"/>
              </a:lnSpc>
              <a:spcBef>
                <a:spcPts val="0"/>
              </a:spcBef>
              <a:spcAft>
                <a:spcPts val="0"/>
              </a:spcAft>
              <a:buClr>
                <a:srgbClr val="000000"/>
              </a:buClr>
              <a:buSzPct val="100000"/>
              <a:buChar char="●"/>
            </a:pPr>
            <a:r>
              <a:rPr lang="en-GB" sz="2400">
                <a:solidFill>
                  <a:srgbClr val="000000"/>
                </a:solidFill>
              </a:rPr>
              <a:t>Integrate with CI/CD Pipelines</a:t>
            </a:r>
            <a:endParaRPr sz="2400">
              <a:solidFill>
                <a:srgbClr val="000000"/>
              </a:solidFill>
            </a:endParaRPr>
          </a:p>
          <a:p>
            <a:pPr indent="0" lvl="0" marL="914400" marR="0" rtl="0" algn="l">
              <a:lnSpc>
                <a:spcPct val="100000"/>
              </a:lnSpc>
              <a:spcBef>
                <a:spcPts val="0"/>
              </a:spcBef>
              <a:spcAft>
                <a:spcPts val="0"/>
              </a:spcAft>
              <a:buNone/>
            </a:pPr>
            <a:r>
              <a:t/>
            </a:r>
            <a:endParaRPr sz="2400">
              <a:solidFill>
                <a:srgbClr val="000000"/>
              </a:solidFill>
            </a:endParaRPr>
          </a:p>
          <a:p>
            <a:pPr indent="-369570" lvl="0" marL="457200" marR="0" rtl="0" algn="l">
              <a:lnSpc>
                <a:spcPct val="100000"/>
              </a:lnSpc>
              <a:spcBef>
                <a:spcPts val="0"/>
              </a:spcBef>
              <a:spcAft>
                <a:spcPts val="0"/>
              </a:spcAft>
              <a:buClr>
                <a:srgbClr val="000000"/>
              </a:buClr>
              <a:buSzPct val="100000"/>
              <a:buChar char="●"/>
            </a:pPr>
            <a:r>
              <a:rPr lang="en-GB" sz="2400">
                <a:solidFill>
                  <a:srgbClr val="000000"/>
                </a:solidFill>
              </a:rPr>
              <a:t>Observability and Monitoring</a:t>
            </a:r>
            <a:endParaRPr sz="2400">
              <a:solidFill>
                <a:srgbClr val="000000"/>
              </a:solidFill>
            </a:endParaRPr>
          </a:p>
          <a:p>
            <a:pPr indent="0" lvl="0" marL="914400" marR="0" rtl="0" algn="l">
              <a:lnSpc>
                <a:spcPct val="100000"/>
              </a:lnSpc>
              <a:spcBef>
                <a:spcPts val="0"/>
              </a:spcBef>
              <a:spcAft>
                <a:spcPts val="0"/>
              </a:spcAft>
              <a:buNone/>
            </a:pPr>
            <a:r>
              <a:t/>
            </a:r>
            <a:endParaRPr sz="2400">
              <a:solidFill>
                <a:srgbClr val="000000"/>
              </a:solidFill>
            </a:endParaRPr>
          </a:p>
          <a:p>
            <a:pPr indent="-369570" lvl="0" marL="457200" marR="0" rtl="0" algn="l">
              <a:lnSpc>
                <a:spcPct val="100000"/>
              </a:lnSpc>
              <a:spcBef>
                <a:spcPts val="0"/>
              </a:spcBef>
              <a:spcAft>
                <a:spcPts val="0"/>
              </a:spcAft>
              <a:buClr>
                <a:srgbClr val="000000"/>
              </a:buClr>
              <a:buSzPct val="100000"/>
              <a:buChar char="●"/>
            </a:pPr>
            <a:r>
              <a:rPr lang="en-GB" sz="2400">
                <a:solidFill>
                  <a:srgbClr val="000000"/>
                </a:solidFill>
              </a:rPr>
              <a:t>Team Education</a:t>
            </a:r>
            <a:endParaRPr sz="2400">
              <a:solidFill>
                <a:srgbClr val="000000"/>
              </a:solidFill>
            </a:endParaRPr>
          </a:p>
          <a:p>
            <a:pPr indent="0" lvl="0" marL="914400" marR="0" rtl="0" algn="l">
              <a:lnSpc>
                <a:spcPct val="100000"/>
              </a:lnSpc>
              <a:spcBef>
                <a:spcPts val="0"/>
              </a:spcBef>
              <a:spcAft>
                <a:spcPts val="0"/>
              </a:spcAft>
              <a:buNone/>
            </a:pPr>
            <a:r>
              <a:t/>
            </a:r>
            <a:endParaRPr sz="2400">
              <a:solidFill>
                <a:srgbClr val="000000"/>
              </a:solidFill>
            </a:endParaRPr>
          </a:p>
          <a:p>
            <a:pPr indent="-369570" lvl="0" marL="457200" marR="0" rtl="0" algn="l">
              <a:lnSpc>
                <a:spcPct val="100000"/>
              </a:lnSpc>
              <a:spcBef>
                <a:spcPts val="0"/>
              </a:spcBef>
              <a:spcAft>
                <a:spcPts val="0"/>
              </a:spcAft>
              <a:buClr>
                <a:srgbClr val="000000"/>
              </a:buClr>
              <a:buSzPct val="100000"/>
              <a:buChar char="●"/>
            </a:pPr>
            <a:r>
              <a:rPr lang="en-GB" sz="2400">
                <a:solidFill>
                  <a:srgbClr val="000000"/>
                </a:solidFill>
              </a:rPr>
              <a:t>Trunk Based Delivery</a:t>
            </a:r>
            <a:endParaRPr sz="2400">
              <a:solidFill>
                <a:srgbClr val="000000"/>
              </a:solidFill>
            </a:endParaRPr>
          </a:p>
        </p:txBody>
      </p:sp>
      <p:sp>
        <p:nvSpPr>
          <p:cNvPr id="290" name="Google Shape;290;p47"/>
          <p:cNvSpPr txBox="1"/>
          <p:nvPr/>
        </p:nvSpPr>
        <p:spPr>
          <a:xfrm>
            <a:off x="292800" y="152400"/>
            <a:ext cx="8640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Best Practices for Scaling Feature Flag Management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idx="1" type="subTitle"/>
          </p:nvPr>
        </p:nvSpPr>
        <p:spPr>
          <a:xfrm>
            <a:off x="169200" y="1106425"/>
            <a:ext cx="8974800" cy="3845100"/>
          </a:xfrm>
          <a:prstGeom prst="rect">
            <a:avLst/>
          </a:prstGeom>
        </p:spPr>
        <p:txBody>
          <a:bodyPr anchorCtr="0" anchor="t" bIns="91425" lIns="91425" spcFirstLastPara="1" rIns="91425" wrap="square" tIns="91425">
            <a:normAutofit/>
          </a:bodyPr>
          <a:lstStyle/>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Have a designated owner responsible for reviewing and monitoring flag’s status</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Remove it when it is no longer needed </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Regular audits of the codebase</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Automated tools to track flag usage </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Clear documentation can all help ensure that stale flags are identified and eliminated promptly</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No expiry? Build fails.</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Automated detection and alerts. When a flag hits the criteria, alert someone (like the owner) that it might be time to remove it. Keep reminding them until they do.</a:t>
            </a:r>
            <a:endParaRPr sz="1600">
              <a:solidFill>
                <a:srgbClr val="000000"/>
              </a:solidFill>
            </a:endParaRPr>
          </a:p>
        </p:txBody>
      </p:sp>
      <p:sp>
        <p:nvSpPr>
          <p:cNvPr id="296" name="Google Shape;296;p48"/>
          <p:cNvSpPr txBox="1"/>
          <p:nvPr/>
        </p:nvSpPr>
        <p:spPr>
          <a:xfrm>
            <a:off x="0" y="0"/>
            <a:ext cx="90708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5200">
                <a:solidFill>
                  <a:schemeClr val="dk1"/>
                </a:solidFill>
                <a:latin typeface="Roboto"/>
                <a:ea typeface="Roboto"/>
                <a:cs typeface="Roboto"/>
                <a:sym typeface="Roboto"/>
              </a:rPr>
              <a:t>Flag Lifecycle</a:t>
            </a:r>
            <a:endParaRPr sz="5200">
              <a:solidFill>
                <a:schemeClr val="dk1"/>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49"/>
          <p:cNvPicPr preferRelativeResize="0"/>
          <p:nvPr/>
        </p:nvPicPr>
        <p:blipFill>
          <a:blip r:embed="rId3">
            <a:alphaModFix/>
          </a:blip>
          <a:stretch>
            <a:fillRect/>
          </a:stretch>
        </p:blipFill>
        <p:spPr>
          <a:xfrm>
            <a:off x="1168402" y="0"/>
            <a:ext cx="7091796" cy="5143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ph type="ctrTitle"/>
          </p:nvPr>
        </p:nvSpPr>
        <p:spPr>
          <a:xfrm>
            <a:off x="155450" y="77725"/>
            <a:ext cx="8676900" cy="946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Documentation</a:t>
            </a:r>
            <a:endParaRPr/>
          </a:p>
        </p:txBody>
      </p:sp>
      <p:sp>
        <p:nvSpPr>
          <p:cNvPr id="307" name="Google Shape;307;p50"/>
          <p:cNvSpPr txBox="1"/>
          <p:nvPr>
            <p:ph idx="1" type="subTitle"/>
          </p:nvPr>
        </p:nvSpPr>
        <p:spPr>
          <a:xfrm>
            <a:off x="215700" y="1202425"/>
            <a:ext cx="8325300" cy="3579900"/>
          </a:xfrm>
          <a:prstGeom prst="rect">
            <a:avLst/>
          </a:prstGeom>
        </p:spPr>
        <p:txBody>
          <a:bodyPr anchorCtr="0" anchor="t" bIns="91425" lIns="91425" spcFirstLastPara="1" rIns="91425" wrap="square" tIns="91425">
            <a:normAutofit/>
          </a:bodyPr>
          <a:lstStyle/>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Flag’s purpose</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Owner</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Creation date</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Always provide default behavior for each flag if the configuration system fails or the flag value is undefined.</a:t>
            </a:r>
            <a:endParaRPr sz="1600">
              <a:solidFill>
                <a:srgbClr val="000000"/>
              </a:solidFill>
            </a:endParaRPr>
          </a:p>
          <a:p>
            <a:pPr indent="-330200" lvl="0" marL="457200" marR="0" rtl="0" algn="l">
              <a:lnSpc>
                <a:spcPct val="100000"/>
              </a:lnSpc>
              <a:spcBef>
                <a:spcPts val="0"/>
              </a:spcBef>
              <a:spcAft>
                <a:spcPts val="0"/>
              </a:spcAft>
              <a:buClr>
                <a:srgbClr val="000000"/>
              </a:buClr>
              <a:buSzPts val="1600"/>
              <a:buChar char="●"/>
            </a:pPr>
            <a:r>
              <a:rPr lang="en-GB" sz="1600">
                <a:solidFill>
                  <a:srgbClr val="000000"/>
                </a:solidFill>
              </a:rPr>
              <a:t>Planned removal date  </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Observability and Monitoring</a:t>
            </a:r>
            <a:endParaRPr/>
          </a:p>
        </p:txBody>
      </p:sp>
      <p:sp>
        <p:nvSpPr>
          <p:cNvPr id="313" name="Google Shape;313;p5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chemeClr val="dk1"/>
                </a:solidFill>
              </a:rPr>
              <a:t>Make Alerts Matter</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ctrTitle"/>
          </p:nvPr>
        </p:nvSpPr>
        <p:spPr>
          <a:xfrm>
            <a:off x="324400" y="932675"/>
            <a:ext cx="4742400" cy="1984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GB" sz="2800"/>
              <a:t>You cannot resolve a broken feature without knowing it's broken</a:t>
            </a:r>
            <a:endParaRPr sz="2800"/>
          </a:p>
          <a:p>
            <a:pPr indent="0" lvl="0" marL="0" rtl="0" algn="ctr">
              <a:spcBef>
                <a:spcPts val="0"/>
              </a:spcBef>
              <a:spcAft>
                <a:spcPts val="0"/>
              </a:spcAft>
              <a:buNone/>
            </a:pPr>
            <a:r>
              <a:t/>
            </a:r>
            <a:endParaRPr sz="2800">
              <a:solidFill>
                <a:schemeClr val="dk2"/>
              </a:solidFill>
            </a:endParaRPr>
          </a:p>
        </p:txBody>
      </p:sp>
      <p:sp>
        <p:nvSpPr>
          <p:cNvPr id="319" name="Google Shape;319;p52"/>
          <p:cNvSpPr txBox="1"/>
          <p:nvPr>
            <p:ph idx="1" type="subTitle"/>
          </p:nvPr>
        </p:nvSpPr>
        <p:spPr>
          <a:xfrm>
            <a:off x="366550" y="3294775"/>
            <a:ext cx="4658100" cy="1536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chemeClr val="dk1"/>
                </a:solidFill>
              </a:rPr>
              <a:t>Akin to having a sprinkler system without a smoke detector</a:t>
            </a:r>
            <a:endParaRPr>
              <a:solidFill>
                <a:schemeClr val="dk1"/>
              </a:solidFill>
            </a:endParaRPr>
          </a:p>
        </p:txBody>
      </p:sp>
      <p:pic>
        <p:nvPicPr>
          <p:cNvPr id="320" name="Google Shape;320;p52"/>
          <p:cNvPicPr preferRelativeResize="0"/>
          <p:nvPr/>
        </p:nvPicPr>
        <p:blipFill>
          <a:blip r:embed="rId3">
            <a:alphaModFix/>
          </a:blip>
          <a:stretch>
            <a:fillRect/>
          </a:stretch>
        </p:blipFill>
        <p:spPr>
          <a:xfrm>
            <a:off x="5335825" y="1260450"/>
            <a:ext cx="3370975" cy="33709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4" name="Shape 324"/>
        <p:cNvGrpSpPr/>
        <p:nvPr/>
      </p:nvGrpSpPr>
      <p:grpSpPr>
        <a:xfrm>
          <a:off x="0" y="0"/>
          <a:ext cx="0" cy="0"/>
          <a:chOff x="0" y="0"/>
          <a:chExt cx="0" cy="0"/>
        </a:xfrm>
      </p:grpSpPr>
      <p:sp>
        <p:nvSpPr>
          <p:cNvPr id="325" name="Google Shape;325;p53"/>
          <p:cNvSpPr txBox="1"/>
          <p:nvPr/>
        </p:nvSpPr>
        <p:spPr>
          <a:xfrm>
            <a:off x="222550" y="1640125"/>
            <a:ext cx="8786100" cy="205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Instantly enable or disable features</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Reduce risk during launches</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Respond to issues in real-time</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t/>
            </a:r>
            <a:endParaRPr sz="2400">
              <a:solidFill>
                <a:schemeClr val="dk1"/>
              </a:solidFill>
            </a:endParaRPr>
          </a:p>
        </p:txBody>
      </p:sp>
      <p:sp>
        <p:nvSpPr>
          <p:cNvPr id="326" name="Google Shape;326;p53"/>
          <p:cNvSpPr txBox="1"/>
          <p:nvPr/>
        </p:nvSpPr>
        <p:spPr>
          <a:xfrm>
            <a:off x="178950" y="348350"/>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The “Pause Button” Metaphor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0" name="Shape 330"/>
        <p:cNvGrpSpPr/>
        <p:nvPr/>
      </p:nvGrpSpPr>
      <p:grpSpPr>
        <a:xfrm>
          <a:off x="0" y="0"/>
          <a:ext cx="0" cy="0"/>
          <a:chOff x="0" y="0"/>
          <a:chExt cx="0" cy="0"/>
        </a:xfrm>
      </p:grpSpPr>
      <p:sp>
        <p:nvSpPr>
          <p:cNvPr id="331" name="Google Shape;331;p54"/>
          <p:cNvSpPr txBox="1"/>
          <p:nvPr/>
        </p:nvSpPr>
        <p:spPr>
          <a:xfrm>
            <a:off x="222550" y="1640125"/>
            <a:ext cx="8786100" cy="155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Release code with features OFF, enable later</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No redeploy needed, everything works</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t/>
            </a:r>
            <a:endParaRPr sz="2400">
              <a:solidFill>
                <a:schemeClr val="dk1"/>
              </a:solidFill>
            </a:endParaRPr>
          </a:p>
        </p:txBody>
      </p:sp>
      <p:sp>
        <p:nvSpPr>
          <p:cNvPr id="332" name="Google Shape;332;p54"/>
          <p:cNvSpPr txBox="1"/>
          <p:nvPr/>
        </p:nvSpPr>
        <p:spPr>
          <a:xfrm>
            <a:off x="178950" y="348350"/>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Feature Flag Decoupling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5"/>
          <p:cNvSpPr txBox="1"/>
          <p:nvPr/>
        </p:nvSpPr>
        <p:spPr>
          <a:xfrm>
            <a:off x="222550" y="1640125"/>
            <a:ext cx="8786100" cy="23304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60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Safe Deployments: Ship code with features OFF, enable later</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Instant Rollbacks: Turn off features if issues arise. No redeployment</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Progressive Delivery: Canary, beta, or region-based rollouts</a:t>
            </a:r>
            <a:endParaRPr sz="24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2400">
              <a:solidFill>
                <a:schemeClr val="dk1"/>
              </a:solidFill>
            </a:endParaRPr>
          </a:p>
        </p:txBody>
      </p:sp>
      <p:sp>
        <p:nvSpPr>
          <p:cNvPr id="338" name="Google Shape;338;p55"/>
          <p:cNvSpPr txBox="1"/>
          <p:nvPr/>
        </p:nvSpPr>
        <p:spPr>
          <a:xfrm>
            <a:off x="178950" y="348350"/>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Superpowers Unlocked</a:t>
            </a:r>
            <a:endParaRPr b="1">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nvSpPr>
        <p:spPr>
          <a:xfrm>
            <a:off x="222550" y="1640125"/>
            <a:ext cx="87861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t/>
            </a:r>
            <a:endParaRPr sz="2400">
              <a:solidFill>
                <a:schemeClr val="dk1"/>
              </a:solidFill>
            </a:endParaRPr>
          </a:p>
        </p:txBody>
      </p:sp>
      <p:sp>
        <p:nvSpPr>
          <p:cNvPr id="344" name="Google Shape;344;p56"/>
          <p:cNvSpPr txBox="1"/>
          <p:nvPr/>
        </p:nvSpPr>
        <p:spPr>
          <a:xfrm>
            <a:off x="1115575" y="278700"/>
            <a:ext cx="58842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Roboto"/>
                <a:ea typeface="Roboto"/>
                <a:cs typeface="Roboto"/>
                <a:sym typeface="Roboto"/>
              </a:rPr>
              <a:t>Real-World Example</a:t>
            </a:r>
            <a:endParaRPr>
              <a:latin typeface="Roboto"/>
              <a:ea typeface="Roboto"/>
              <a:cs typeface="Roboto"/>
              <a:sym typeface="Roboto"/>
            </a:endParaRPr>
          </a:p>
        </p:txBody>
      </p:sp>
      <p:pic>
        <p:nvPicPr>
          <p:cNvPr id="345" name="Google Shape;345;p56"/>
          <p:cNvPicPr preferRelativeResize="0"/>
          <p:nvPr/>
        </p:nvPicPr>
        <p:blipFill>
          <a:blip r:embed="rId3">
            <a:alphaModFix/>
          </a:blip>
          <a:stretch>
            <a:fillRect/>
          </a:stretch>
        </p:blipFill>
        <p:spPr>
          <a:xfrm>
            <a:off x="999300" y="971400"/>
            <a:ext cx="3969507" cy="2644474"/>
          </a:xfrm>
          <a:prstGeom prst="rect">
            <a:avLst/>
          </a:prstGeom>
          <a:noFill/>
          <a:ln>
            <a:noFill/>
          </a:ln>
        </p:spPr>
      </p:pic>
      <p:sp>
        <p:nvSpPr>
          <p:cNvPr id="346" name="Google Shape;346;p56"/>
          <p:cNvSpPr txBox="1"/>
          <p:nvPr/>
        </p:nvSpPr>
        <p:spPr>
          <a:xfrm>
            <a:off x="1264575" y="3828325"/>
            <a:ext cx="42957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rPr lang="en-GB" sz="2000">
                <a:solidFill>
                  <a:schemeClr val="dk1"/>
                </a:solidFill>
                <a:latin typeface="Roboto"/>
                <a:ea typeface="Roboto"/>
                <a:cs typeface="Roboto"/>
                <a:sym typeface="Roboto"/>
              </a:rPr>
              <a:t>Feature Flags Customer Lifecycle</a:t>
            </a:r>
            <a:endParaRPr sz="2000">
              <a:solidFill>
                <a:schemeClr val="dk1"/>
              </a:solidFill>
              <a:latin typeface="Roboto"/>
              <a:ea typeface="Roboto"/>
              <a:cs typeface="Roboto"/>
              <a:sym typeface="Roboto"/>
            </a:endParaRPr>
          </a:p>
        </p:txBody>
      </p:sp>
      <p:sp>
        <p:nvSpPr>
          <p:cNvPr id="347" name="Google Shape;347;p56"/>
          <p:cNvSpPr txBox="1"/>
          <p:nvPr/>
        </p:nvSpPr>
        <p:spPr>
          <a:xfrm>
            <a:off x="6075250" y="4689250"/>
            <a:ext cx="2933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latin typeface="Roboto"/>
                <a:ea typeface="Roboto"/>
                <a:cs typeface="Roboto"/>
                <a:sym typeface="Roboto"/>
              </a:rPr>
              <a:t>Image : </a:t>
            </a:r>
            <a:r>
              <a:rPr lang="en-GB" sz="1000" u="sng">
                <a:solidFill>
                  <a:schemeClr val="hlink"/>
                </a:solidFill>
                <a:latin typeface="Roboto"/>
                <a:ea typeface="Roboto"/>
                <a:cs typeface="Roboto"/>
                <a:sym typeface="Roboto"/>
                <a:hlinkClick r:id="rId4"/>
              </a:rPr>
              <a:t>https://medium.com/@ridvanozcan48</a:t>
            </a:r>
            <a:endParaRPr sz="1000">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nvSpPr>
        <p:spPr>
          <a:xfrm>
            <a:off x="817750" y="546150"/>
            <a:ext cx="616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Roboto"/>
                <a:ea typeface="Roboto"/>
                <a:cs typeface="Roboto"/>
                <a:sym typeface="Roboto"/>
              </a:rPr>
              <a:t>Activate various levels to </a:t>
            </a:r>
            <a:r>
              <a:rPr lang="en-GB">
                <a:solidFill>
                  <a:schemeClr val="dk1"/>
                </a:solidFill>
                <a:latin typeface="Roboto"/>
                <a:ea typeface="Roboto"/>
                <a:cs typeface="Roboto"/>
                <a:sym typeface="Roboto"/>
              </a:rPr>
              <a:t>reproduce</a:t>
            </a:r>
            <a:r>
              <a:rPr lang="en-GB">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p:txBody>
      </p:sp>
      <p:pic>
        <p:nvPicPr>
          <p:cNvPr id="353" name="Google Shape;353;p57"/>
          <p:cNvPicPr preferRelativeResize="0"/>
          <p:nvPr/>
        </p:nvPicPr>
        <p:blipFill>
          <a:blip r:embed="rId3">
            <a:alphaModFix/>
          </a:blip>
          <a:stretch>
            <a:fillRect/>
          </a:stretch>
        </p:blipFill>
        <p:spPr>
          <a:xfrm>
            <a:off x="337475" y="1072600"/>
            <a:ext cx="8877300" cy="3562350"/>
          </a:xfrm>
          <a:prstGeom prst="rect">
            <a:avLst/>
          </a:prstGeom>
          <a:noFill/>
          <a:ln>
            <a:noFill/>
          </a:ln>
        </p:spPr>
      </p:pic>
      <p:sp>
        <p:nvSpPr>
          <p:cNvPr id="354" name="Google Shape;354;p57"/>
          <p:cNvSpPr txBox="1"/>
          <p:nvPr/>
        </p:nvSpPr>
        <p:spPr>
          <a:xfrm>
            <a:off x="632150" y="53550"/>
            <a:ext cx="4597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chemeClr val="dk1"/>
                </a:solidFill>
                <a:latin typeface="Roboto"/>
                <a:ea typeface="Roboto"/>
                <a:cs typeface="Roboto"/>
                <a:sym typeface="Roboto"/>
              </a:rPr>
              <a:t>Verbose Logging for Troubleshooting</a:t>
            </a:r>
            <a:endParaRPr sz="2000">
              <a:solidFill>
                <a:schemeClr val="dk1"/>
              </a:solidFill>
              <a:latin typeface="Roboto"/>
              <a:ea typeface="Roboto"/>
              <a:cs typeface="Roboto"/>
              <a:sym typeface="Roboto"/>
            </a:endParaRPr>
          </a:p>
        </p:txBody>
      </p:sp>
      <p:sp>
        <p:nvSpPr>
          <p:cNvPr id="355" name="Google Shape;355;p57"/>
          <p:cNvSpPr txBox="1"/>
          <p:nvPr/>
        </p:nvSpPr>
        <p:spPr>
          <a:xfrm>
            <a:off x="5143500" y="4761200"/>
            <a:ext cx="3908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latin typeface="Roboto"/>
                <a:ea typeface="Roboto"/>
                <a:cs typeface="Roboto"/>
                <a:sym typeface="Roboto"/>
              </a:rPr>
              <a:t>https://medium.com/shipbook/android-log-levels-c0313055fdb9</a:t>
            </a:r>
            <a:endParaRPr sz="1000">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p58"/>
          <p:cNvSpPr txBox="1"/>
          <p:nvPr/>
        </p:nvSpPr>
        <p:spPr>
          <a:xfrm>
            <a:off x="222550" y="1640125"/>
            <a:ext cx="8786100" cy="105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New UI shipped to production, but only 5% of users see it</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If bugs appear, instantly revert for all users—no redeploy</a:t>
            </a:r>
            <a:endParaRPr sz="2400">
              <a:solidFill>
                <a:schemeClr val="dk1"/>
              </a:solidFill>
              <a:latin typeface="Calibri"/>
              <a:ea typeface="Calibri"/>
              <a:cs typeface="Calibri"/>
              <a:sym typeface="Calibri"/>
            </a:endParaRPr>
          </a:p>
        </p:txBody>
      </p:sp>
      <p:sp>
        <p:nvSpPr>
          <p:cNvPr id="361" name="Google Shape;361;p58"/>
          <p:cNvSpPr txBox="1"/>
          <p:nvPr/>
        </p:nvSpPr>
        <p:spPr>
          <a:xfrm>
            <a:off x="178950" y="348350"/>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Real-World Example</a:t>
            </a:r>
            <a:endParaRPr/>
          </a:p>
        </p:txBody>
      </p:sp>
      <p:sp>
        <p:nvSpPr>
          <p:cNvPr id="362" name="Google Shape;362;p58"/>
          <p:cNvSpPr txBox="1"/>
          <p:nvPr/>
        </p:nvSpPr>
        <p:spPr>
          <a:xfrm>
            <a:off x="1950375" y="3964025"/>
            <a:ext cx="43281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9"/>
          <p:cNvSpPr txBox="1"/>
          <p:nvPr/>
        </p:nvSpPr>
        <p:spPr>
          <a:xfrm>
            <a:off x="128025" y="681225"/>
            <a:ext cx="8819400" cy="418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In June 2025 Google Cloud, Google Workspace and Google Security Operations products experienced increased 503 errors in external API requests, impacting customers.</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According to the incident report by Google, on May 29, 2025, a new feature was added to Service Control for additional quota policy checks. This code change and binary release went through their region by region rollout, but the code path that failed was never exercised during this rollout due to needing a policy change that would trigger the code. As a safety precaution, this code change came with a red-button to turn off that particular policy serving path. </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The issue with this change was that it did not have appropriate error handling </a:t>
            </a:r>
            <a:r>
              <a:rPr lang="en-GB" sz="2000">
                <a:solidFill>
                  <a:schemeClr val="dk1"/>
                </a:solidFill>
                <a:highlight>
                  <a:srgbClr val="FF0000"/>
                </a:highlight>
                <a:latin typeface="Roboto"/>
                <a:ea typeface="Roboto"/>
                <a:cs typeface="Roboto"/>
                <a:sym typeface="Roboto"/>
              </a:rPr>
              <a:t>nor was it feature flag protected</a:t>
            </a:r>
            <a:r>
              <a:rPr lang="en-GB" sz="2000">
                <a:solidFill>
                  <a:schemeClr val="dk1"/>
                </a:solidFill>
                <a:latin typeface="Roboto"/>
                <a:ea typeface="Roboto"/>
                <a:cs typeface="Roboto"/>
                <a:sym typeface="Roboto"/>
              </a:rPr>
              <a:t>.</a:t>
            </a:r>
            <a:endParaRPr sz="2000">
              <a:solidFill>
                <a:schemeClr val="dk1"/>
              </a:solidFill>
              <a:latin typeface="Roboto"/>
              <a:ea typeface="Roboto"/>
              <a:cs typeface="Roboto"/>
              <a:sym typeface="Roboto"/>
            </a:endParaRPr>
          </a:p>
        </p:txBody>
      </p:sp>
      <p:sp>
        <p:nvSpPr>
          <p:cNvPr id="368" name="Google Shape;368;p59"/>
          <p:cNvSpPr txBox="1"/>
          <p:nvPr/>
        </p:nvSpPr>
        <p:spPr>
          <a:xfrm>
            <a:off x="64475" y="0"/>
            <a:ext cx="907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0">
                <a:solidFill>
                  <a:schemeClr val="dk1"/>
                </a:solidFill>
                <a:latin typeface="Roboto"/>
                <a:ea typeface="Roboto"/>
                <a:cs typeface="Roboto"/>
                <a:sym typeface="Roboto"/>
              </a:rPr>
              <a:t>Google Cloud Suffers Major Disruption </a:t>
            </a:r>
            <a:endParaRPr sz="3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0"/>
          <p:cNvSpPr txBox="1"/>
          <p:nvPr/>
        </p:nvSpPr>
        <p:spPr>
          <a:xfrm>
            <a:off x="227575" y="939075"/>
            <a:ext cx="8664600" cy="36048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60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Too many flags (“flag debt”)</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Flags never cleaned up</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Hard-to-test flags (e.g., hidden in databases)</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Configuration drift between environments - Development and Production flags are different</a:t>
            </a:r>
            <a:endParaRPr sz="2400">
              <a:solidFill>
                <a:schemeClr val="dk1"/>
              </a:solidFill>
              <a:latin typeface="Roboto"/>
              <a:ea typeface="Roboto"/>
              <a:cs typeface="Roboto"/>
              <a:sym typeface="Roboto"/>
            </a:endParaRPr>
          </a:p>
          <a:p>
            <a:pPr indent="-381000" lvl="0" marL="457200" rtl="0" algn="l">
              <a:lnSpc>
                <a:spcPct val="115000"/>
              </a:lnSpc>
              <a:spcBef>
                <a:spcPts val="0"/>
              </a:spcBef>
              <a:spcAft>
                <a:spcPts val="0"/>
              </a:spcAft>
              <a:buClr>
                <a:schemeClr val="dk1"/>
              </a:buClr>
              <a:buSzPts val="2400"/>
              <a:buFont typeface="Roboto"/>
              <a:buChar char="●"/>
            </a:pPr>
            <a:r>
              <a:rPr lang="en-GB" sz="2400">
                <a:solidFill>
                  <a:schemeClr val="dk1"/>
                </a:solidFill>
                <a:latin typeface="Roboto"/>
                <a:ea typeface="Roboto"/>
                <a:cs typeface="Roboto"/>
                <a:sym typeface="Roboto"/>
              </a:rPr>
              <a:t>New developers start, current flag configuration is unknown until runtime</a:t>
            </a:r>
            <a:endParaRPr sz="24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2400">
              <a:solidFill>
                <a:schemeClr val="dk1"/>
              </a:solidFill>
            </a:endParaRPr>
          </a:p>
        </p:txBody>
      </p:sp>
      <p:sp>
        <p:nvSpPr>
          <p:cNvPr id="374" name="Google Shape;374;p60"/>
          <p:cNvSpPr txBox="1"/>
          <p:nvPr/>
        </p:nvSpPr>
        <p:spPr>
          <a:xfrm>
            <a:off x="106000" y="129475"/>
            <a:ext cx="8786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Roboto Black"/>
                <a:ea typeface="Roboto Black"/>
                <a:cs typeface="Roboto Black"/>
                <a:sym typeface="Roboto Black"/>
              </a:rPr>
              <a:t>Pitfalls</a:t>
            </a:r>
            <a:endParaRPr>
              <a:latin typeface="Roboto Black"/>
              <a:ea typeface="Roboto Black"/>
              <a:cs typeface="Roboto Black"/>
              <a:sym typeface="Roboto Black"/>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sp>
        <p:nvSpPr>
          <p:cNvPr id="379" name="Google Shape;379;p61"/>
          <p:cNvSpPr txBox="1"/>
          <p:nvPr/>
        </p:nvSpPr>
        <p:spPr>
          <a:xfrm>
            <a:off x="936275" y="559350"/>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The Solution: Mandatory Expiry</a:t>
            </a:r>
            <a:endParaRPr/>
          </a:p>
        </p:txBody>
      </p:sp>
      <p:sp>
        <p:nvSpPr>
          <p:cNvPr id="380" name="Google Shape;380;p61"/>
          <p:cNvSpPr txBox="1"/>
          <p:nvPr/>
        </p:nvSpPr>
        <p:spPr>
          <a:xfrm>
            <a:off x="790375" y="1313250"/>
            <a:ext cx="7348500" cy="24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Every flag must have:</a:t>
            </a:r>
            <a:endParaRPr sz="2400">
              <a:solidFill>
                <a:schemeClr val="dk1"/>
              </a:solidFill>
              <a:latin typeface="Calibri"/>
              <a:ea typeface="Calibri"/>
              <a:cs typeface="Calibri"/>
              <a:sym typeface="Calibri"/>
            </a:endParaRPr>
          </a:p>
          <a:p>
            <a:pPr indent="0" lvl="0" marL="12700" rtl="0" algn="l">
              <a:lnSpc>
                <a:spcPct val="115000"/>
              </a:lnSpc>
              <a:spcBef>
                <a:spcPts val="500"/>
              </a:spcBef>
              <a:spcAft>
                <a:spcPts val="0"/>
              </a:spcAft>
              <a:buNone/>
            </a:pPr>
            <a:r>
              <a:rPr lang="en-GB" sz="2100">
                <a:solidFill>
                  <a:schemeClr val="dk1"/>
                </a:solidFill>
              </a:rPr>
              <a:t>–</a:t>
            </a:r>
            <a:r>
              <a:rPr lang="en-GB" sz="2100">
                <a:solidFill>
                  <a:schemeClr val="dk1"/>
                </a:solidFill>
                <a:latin typeface="Calibri"/>
                <a:ea typeface="Calibri"/>
                <a:cs typeface="Calibri"/>
                <a:sym typeface="Calibri"/>
              </a:rPr>
              <a:t>An expiry date (hard-coded)</a:t>
            </a:r>
            <a:endParaRPr sz="2100">
              <a:solidFill>
                <a:schemeClr val="dk1"/>
              </a:solidFill>
              <a:latin typeface="Calibri"/>
              <a:ea typeface="Calibri"/>
              <a:cs typeface="Calibri"/>
              <a:sym typeface="Calibri"/>
            </a:endParaRPr>
          </a:p>
          <a:p>
            <a:pPr indent="0" lvl="0" marL="12700" rtl="0" algn="l">
              <a:lnSpc>
                <a:spcPct val="115000"/>
              </a:lnSpc>
              <a:spcBef>
                <a:spcPts val="500"/>
              </a:spcBef>
              <a:spcAft>
                <a:spcPts val="0"/>
              </a:spcAft>
              <a:buNone/>
            </a:pPr>
            <a:r>
              <a:rPr lang="en-GB" sz="2100">
                <a:solidFill>
                  <a:schemeClr val="dk1"/>
                </a:solidFill>
              </a:rPr>
              <a:t>–</a:t>
            </a:r>
            <a:r>
              <a:rPr lang="en-GB" sz="2100">
                <a:solidFill>
                  <a:schemeClr val="dk1"/>
                </a:solidFill>
                <a:latin typeface="Calibri"/>
                <a:ea typeface="Calibri"/>
                <a:cs typeface="Calibri"/>
                <a:sym typeface="Calibri"/>
              </a:rPr>
              <a:t>A permanent value after expiry (ON/OFF/variant)</a:t>
            </a:r>
            <a:endParaRPr sz="21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No expiry? Build fails.</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t/>
            </a:r>
            <a:endParaRPr sz="24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4" name="Shape 384"/>
        <p:cNvGrpSpPr/>
        <p:nvPr/>
      </p:nvGrpSpPr>
      <p:grpSpPr>
        <a:xfrm>
          <a:off x="0" y="0"/>
          <a:ext cx="0" cy="0"/>
          <a:chOff x="0" y="0"/>
          <a:chExt cx="0" cy="0"/>
        </a:xfrm>
      </p:grpSpPr>
      <p:sp>
        <p:nvSpPr>
          <p:cNvPr id="385" name="Google Shape;385;p62"/>
          <p:cNvSpPr txBox="1"/>
          <p:nvPr/>
        </p:nvSpPr>
        <p:spPr>
          <a:xfrm>
            <a:off x="936275" y="559350"/>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Enforced by Code</a:t>
            </a:r>
            <a:endParaRPr/>
          </a:p>
        </p:txBody>
      </p:sp>
      <p:sp>
        <p:nvSpPr>
          <p:cNvPr id="386" name="Google Shape;386;p62"/>
          <p:cNvSpPr txBox="1"/>
          <p:nvPr/>
        </p:nvSpPr>
        <p:spPr>
          <a:xfrm>
            <a:off x="790375" y="1313250"/>
            <a:ext cx="7871400" cy="205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After expiry, flag always returns the permanent value</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No manual intervention needed</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No more flag debt</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t/>
            </a:r>
            <a:endParaRPr sz="24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p63"/>
          <p:cNvSpPr txBox="1"/>
          <p:nvPr>
            <p:ph type="ctrTitle"/>
          </p:nvPr>
        </p:nvSpPr>
        <p:spPr>
          <a:xfrm>
            <a:off x="201975" y="141075"/>
            <a:ext cx="8520600" cy="896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3300">
                <a:latin typeface="Calibri"/>
                <a:ea typeface="Calibri"/>
                <a:cs typeface="Calibri"/>
                <a:sym typeface="Calibri"/>
              </a:rPr>
              <a:t>Bad </a:t>
            </a:r>
            <a:r>
              <a:rPr lang="en-GB" sz="3300">
                <a:latin typeface="Calibri"/>
                <a:ea typeface="Calibri"/>
                <a:cs typeface="Calibri"/>
                <a:sym typeface="Calibri"/>
              </a:rPr>
              <a:t>Practise - Triangle of Doom</a:t>
            </a:r>
            <a:endParaRPr/>
          </a:p>
        </p:txBody>
      </p:sp>
      <p:pic>
        <p:nvPicPr>
          <p:cNvPr id="392" name="Google Shape;392;p63"/>
          <p:cNvPicPr preferRelativeResize="0"/>
          <p:nvPr/>
        </p:nvPicPr>
        <p:blipFill>
          <a:blip r:embed="rId3">
            <a:alphaModFix/>
          </a:blip>
          <a:stretch>
            <a:fillRect/>
          </a:stretch>
        </p:blipFill>
        <p:spPr>
          <a:xfrm>
            <a:off x="851900" y="1037775"/>
            <a:ext cx="4145300" cy="4932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4"/>
          <p:cNvSpPr txBox="1"/>
          <p:nvPr/>
        </p:nvSpPr>
        <p:spPr>
          <a:xfrm>
            <a:off x="936275" y="559350"/>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Good Practise - Dependency Injection</a:t>
            </a:r>
            <a:endParaRPr/>
          </a:p>
        </p:txBody>
      </p:sp>
      <p:sp>
        <p:nvSpPr>
          <p:cNvPr id="398" name="Google Shape;398;p64"/>
          <p:cNvSpPr txBox="1"/>
          <p:nvPr/>
        </p:nvSpPr>
        <p:spPr>
          <a:xfrm>
            <a:off x="790375" y="1313250"/>
            <a:ext cx="7871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t/>
            </a:r>
            <a:endParaRPr sz="2400">
              <a:solidFill>
                <a:schemeClr val="dk1"/>
              </a:solidFill>
            </a:endParaRPr>
          </a:p>
        </p:txBody>
      </p:sp>
      <p:pic>
        <p:nvPicPr>
          <p:cNvPr id="399" name="Google Shape;399;p64"/>
          <p:cNvPicPr preferRelativeResize="0"/>
          <p:nvPr/>
        </p:nvPicPr>
        <p:blipFill>
          <a:blip r:embed="rId3">
            <a:alphaModFix/>
          </a:blip>
          <a:stretch>
            <a:fillRect/>
          </a:stretch>
        </p:blipFill>
        <p:spPr>
          <a:xfrm>
            <a:off x="1304550" y="1704275"/>
            <a:ext cx="5278584" cy="29713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5"/>
          <p:cNvSpPr txBox="1"/>
          <p:nvPr>
            <p:ph type="ctrTitle"/>
          </p:nvPr>
        </p:nvSpPr>
        <p:spPr>
          <a:xfrm>
            <a:off x="188250" y="96550"/>
            <a:ext cx="8520600" cy="955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600"/>
              <a:t>Branch By Abstraction</a:t>
            </a:r>
            <a:endParaRPr sz="3600"/>
          </a:p>
        </p:txBody>
      </p:sp>
      <p:pic>
        <p:nvPicPr>
          <p:cNvPr id="405" name="Google Shape;405;p65"/>
          <p:cNvPicPr preferRelativeResize="0"/>
          <p:nvPr/>
        </p:nvPicPr>
        <p:blipFill>
          <a:blip r:embed="rId3">
            <a:alphaModFix/>
          </a:blip>
          <a:stretch>
            <a:fillRect/>
          </a:stretch>
        </p:blipFill>
        <p:spPr>
          <a:xfrm>
            <a:off x="84400" y="1243525"/>
            <a:ext cx="3143250" cy="2286000"/>
          </a:xfrm>
          <a:prstGeom prst="rect">
            <a:avLst/>
          </a:prstGeom>
          <a:noFill/>
          <a:ln>
            <a:noFill/>
          </a:ln>
        </p:spPr>
      </p:pic>
      <p:pic>
        <p:nvPicPr>
          <p:cNvPr id="406" name="Google Shape;406;p65"/>
          <p:cNvPicPr preferRelativeResize="0"/>
          <p:nvPr/>
        </p:nvPicPr>
        <p:blipFill>
          <a:blip r:embed="rId4">
            <a:alphaModFix/>
          </a:blip>
          <a:stretch>
            <a:fillRect/>
          </a:stretch>
        </p:blipFill>
        <p:spPr>
          <a:xfrm>
            <a:off x="3640675" y="1355350"/>
            <a:ext cx="447675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id="411" name="Google Shape;411;p66"/>
          <p:cNvPicPr preferRelativeResize="0"/>
          <p:nvPr/>
        </p:nvPicPr>
        <p:blipFill>
          <a:blip r:embed="rId3">
            <a:alphaModFix/>
          </a:blip>
          <a:stretch>
            <a:fillRect/>
          </a:stretch>
        </p:blipFill>
        <p:spPr>
          <a:xfrm>
            <a:off x="2126325" y="1690900"/>
            <a:ext cx="5114925" cy="2886075"/>
          </a:xfrm>
          <a:prstGeom prst="rect">
            <a:avLst/>
          </a:prstGeom>
          <a:noFill/>
          <a:ln>
            <a:noFill/>
          </a:ln>
        </p:spPr>
      </p:pic>
      <p:sp>
        <p:nvSpPr>
          <p:cNvPr id="412" name="Google Shape;412;p66"/>
          <p:cNvSpPr txBox="1"/>
          <p:nvPr>
            <p:ph type="ctrTitle"/>
          </p:nvPr>
        </p:nvSpPr>
        <p:spPr>
          <a:xfrm>
            <a:off x="188250" y="96550"/>
            <a:ext cx="8520600" cy="955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600"/>
              <a:t>Branch By Abstraction</a:t>
            </a:r>
            <a:endParaRPr sz="3600"/>
          </a:p>
        </p:txBody>
      </p:sp>
      <p:sp>
        <p:nvSpPr>
          <p:cNvPr id="413" name="Google Shape;413;p66"/>
          <p:cNvSpPr txBox="1"/>
          <p:nvPr/>
        </p:nvSpPr>
        <p:spPr>
          <a:xfrm>
            <a:off x="5161800" y="4576975"/>
            <a:ext cx="3429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latin typeface="Roboto"/>
                <a:ea typeface="Roboto"/>
                <a:cs typeface="Roboto"/>
                <a:sym typeface="Roboto"/>
              </a:rPr>
              <a:t>Image : </a:t>
            </a:r>
            <a:r>
              <a:rPr lang="en-GB" sz="1200" u="sng">
                <a:solidFill>
                  <a:schemeClr val="hlink"/>
                </a:solidFill>
                <a:latin typeface="Roboto"/>
                <a:ea typeface="Roboto"/>
                <a:cs typeface="Roboto"/>
                <a:sym typeface="Roboto"/>
                <a:hlinkClick r:id="rId4"/>
              </a:rPr>
              <a:t>martinfowler.com</a:t>
            </a:r>
            <a:endParaRPr sz="1200">
              <a:solidFill>
                <a:schemeClr val="dk2"/>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67"/>
          <p:cNvPicPr preferRelativeResize="0"/>
          <p:nvPr/>
        </p:nvPicPr>
        <p:blipFill>
          <a:blip r:embed="rId3">
            <a:alphaModFix/>
          </a:blip>
          <a:stretch>
            <a:fillRect/>
          </a:stretch>
        </p:blipFill>
        <p:spPr>
          <a:xfrm>
            <a:off x="415325" y="304800"/>
            <a:ext cx="4488387" cy="4838700"/>
          </a:xfrm>
          <a:prstGeom prst="rect">
            <a:avLst/>
          </a:prstGeom>
          <a:noFill/>
          <a:ln>
            <a:noFill/>
          </a:ln>
        </p:spPr>
      </p:pic>
      <p:sp>
        <p:nvSpPr>
          <p:cNvPr id="419" name="Google Shape;419;p67"/>
          <p:cNvSpPr txBox="1"/>
          <p:nvPr/>
        </p:nvSpPr>
        <p:spPr>
          <a:xfrm>
            <a:off x="5527525" y="2170050"/>
            <a:ext cx="3384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latin typeface="Roboto"/>
                <a:ea typeface="Roboto"/>
                <a:cs typeface="Roboto"/>
                <a:sym typeface="Roboto"/>
              </a:rPr>
              <a:t>Keystone Interface</a:t>
            </a:r>
            <a:endParaRPr b="1" sz="3000">
              <a:latin typeface="Roboto"/>
              <a:ea typeface="Roboto"/>
              <a:cs typeface="Roboto"/>
              <a:sym typeface="Roboto"/>
            </a:endParaRPr>
          </a:p>
        </p:txBody>
      </p:sp>
      <p:sp>
        <p:nvSpPr>
          <p:cNvPr id="420" name="Google Shape;420;p67"/>
          <p:cNvSpPr txBox="1"/>
          <p:nvPr/>
        </p:nvSpPr>
        <p:spPr>
          <a:xfrm>
            <a:off x="7301475" y="4628175"/>
            <a:ext cx="174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Image : </a:t>
            </a:r>
            <a:r>
              <a:rPr lang="en-GB" sz="1200" u="sng">
                <a:solidFill>
                  <a:schemeClr val="hlink"/>
                </a:solidFill>
                <a:latin typeface="Roboto"/>
                <a:ea typeface="Roboto"/>
                <a:cs typeface="Roboto"/>
                <a:sym typeface="Roboto"/>
                <a:hlinkClick r:id="rId4"/>
              </a:rPr>
              <a:t>martinfowler</a:t>
            </a:r>
            <a:endParaRPr sz="1200">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8"/>
          <p:cNvSpPr txBox="1"/>
          <p:nvPr/>
        </p:nvSpPr>
        <p:spPr>
          <a:xfrm>
            <a:off x="376950" y="504475"/>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Key Takeaways</a:t>
            </a:r>
            <a:endParaRPr b="1">
              <a:latin typeface="Roboto"/>
              <a:ea typeface="Roboto"/>
              <a:cs typeface="Roboto"/>
              <a:sym typeface="Roboto"/>
            </a:endParaRPr>
          </a:p>
        </p:txBody>
      </p:sp>
      <p:sp>
        <p:nvSpPr>
          <p:cNvPr id="426" name="Google Shape;426;p68"/>
          <p:cNvSpPr txBox="1"/>
          <p:nvPr/>
        </p:nvSpPr>
        <p:spPr>
          <a:xfrm>
            <a:off x="307350" y="1754350"/>
            <a:ext cx="7981200" cy="226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600"/>
              </a:spcBef>
              <a:spcAft>
                <a:spcPts val="0"/>
              </a:spcAft>
              <a:buClr>
                <a:schemeClr val="dk1"/>
              </a:buClr>
              <a:buSzPts val="2000"/>
              <a:buFont typeface="Roboto"/>
              <a:buChar char="●"/>
            </a:pPr>
            <a:r>
              <a:rPr lang="en-GB" sz="2000">
                <a:solidFill>
                  <a:schemeClr val="dk1"/>
                </a:solidFill>
                <a:latin typeface="Roboto"/>
                <a:ea typeface="Roboto"/>
                <a:cs typeface="Roboto"/>
                <a:sym typeface="Roboto"/>
              </a:rPr>
              <a:t>Feature flags is a software superpower</a:t>
            </a:r>
            <a:endParaRPr sz="2000">
              <a:solidFill>
                <a:schemeClr val="dk1"/>
              </a:solidFill>
              <a:latin typeface="Roboto"/>
              <a:ea typeface="Roboto"/>
              <a:cs typeface="Roboto"/>
              <a:sym typeface="Roboto"/>
            </a:endParaRPr>
          </a:p>
          <a:p>
            <a:pPr indent="-355600" lvl="0" marL="457200" rtl="0" algn="l">
              <a:lnSpc>
                <a:spcPct val="115000"/>
              </a:lnSpc>
              <a:spcBef>
                <a:spcPts val="0"/>
              </a:spcBef>
              <a:spcAft>
                <a:spcPts val="0"/>
              </a:spcAft>
              <a:buClr>
                <a:schemeClr val="dk1"/>
              </a:buClr>
              <a:buSzPts val="2000"/>
              <a:buFont typeface="Roboto"/>
              <a:buChar char="●"/>
            </a:pPr>
            <a:r>
              <a:rPr lang="en-GB" sz="2000">
                <a:solidFill>
                  <a:schemeClr val="dk1"/>
                </a:solidFill>
                <a:latin typeface="Roboto"/>
                <a:ea typeface="Roboto"/>
                <a:cs typeface="Roboto"/>
                <a:sym typeface="Roboto"/>
              </a:rPr>
              <a:t>“Pause button” for risk-free delivery</a:t>
            </a:r>
            <a:endParaRPr sz="2000">
              <a:solidFill>
                <a:schemeClr val="dk1"/>
              </a:solidFill>
              <a:latin typeface="Roboto"/>
              <a:ea typeface="Roboto"/>
              <a:cs typeface="Roboto"/>
              <a:sym typeface="Roboto"/>
            </a:endParaRPr>
          </a:p>
          <a:p>
            <a:pPr indent="-355600" lvl="0" marL="457200" rtl="0" algn="l">
              <a:lnSpc>
                <a:spcPct val="115000"/>
              </a:lnSpc>
              <a:spcBef>
                <a:spcPts val="0"/>
              </a:spcBef>
              <a:spcAft>
                <a:spcPts val="0"/>
              </a:spcAft>
              <a:buClr>
                <a:schemeClr val="dk1"/>
              </a:buClr>
              <a:buSzPts val="2000"/>
              <a:buFont typeface="Roboto"/>
              <a:buChar char="●"/>
            </a:pPr>
            <a:r>
              <a:rPr lang="en-GB" sz="2000">
                <a:solidFill>
                  <a:schemeClr val="dk1"/>
                </a:solidFill>
                <a:latin typeface="Roboto"/>
                <a:ea typeface="Roboto"/>
                <a:cs typeface="Roboto"/>
                <a:sym typeface="Roboto"/>
              </a:rPr>
              <a:t>Mandatory expiry &amp; permanent value = no flag debt</a:t>
            </a:r>
            <a:endParaRPr sz="2000">
              <a:solidFill>
                <a:schemeClr val="dk1"/>
              </a:solidFill>
              <a:latin typeface="Roboto"/>
              <a:ea typeface="Roboto"/>
              <a:cs typeface="Roboto"/>
              <a:sym typeface="Roboto"/>
            </a:endParaRPr>
          </a:p>
          <a:p>
            <a:pPr indent="-355600" lvl="0" marL="457200" rtl="0" algn="l">
              <a:lnSpc>
                <a:spcPct val="115000"/>
              </a:lnSpc>
              <a:spcBef>
                <a:spcPts val="0"/>
              </a:spcBef>
              <a:spcAft>
                <a:spcPts val="0"/>
              </a:spcAft>
              <a:buClr>
                <a:schemeClr val="dk1"/>
              </a:buClr>
              <a:buSzPts val="2000"/>
              <a:buFont typeface="Roboto"/>
              <a:buChar char="●"/>
            </a:pPr>
            <a:r>
              <a:rPr lang="en-GB" sz="2000">
                <a:solidFill>
                  <a:schemeClr val="dk1"/>
                </a:solidFill>
                <a:latin typeface="Roboto"/>
                <a:ea typeface="Roboto"/>
                <a:cs typeface="Roboto"/>
                <a:sym typeface="Roboto"/>
              </a:rPr>
              <a:t>Enforced by code, not memory.</a:t>
            </a:r>
            <a:endParaRPr sz="2000">
              <a:solidFill>
                <a:schemeClr val="dk1"/>
              </a:solidFill>
              <a:latin typeface="Roboto"/>
              <a:ea typeface="Roboto"/>
              <a:cs typeface="Roboto"/>
              <a:sym typeface="Roboto"/>
            </a:endParaRPr>
          </a:p>
          <a:p>
            <a:pPr indent="-355600" lvl="0" marL="457200" rtl="0" algn="l">
              <a:lnSpc>
                <a:spcPct val="115000"/>
              </a:lnSpc>
              <a:spcBef>
                <a:spcPts val="0"/>
              </a:spcBef>
              <a:spcAft>
                <a:spcPts val="0"/>
              </a:spcAft>
              <a:buClr>
                <a:schemeClr val="dk1"/>
              </a:buClr>
              <a:buSzPts val="2000"/>
              <a:buFont typeface="Roboto"/>
              <a:buChar char="●"/>
            </a:pPr>
            <a:r>
              <a:rPr lang="en-GB" sz="2000">
                <a:solidFill>
                  <a:schemeClr val="dk1"/>
                </a:solidFill>
                <a:latin typeface="Roboto"/>
                <a:ea typeface="Roboto"/>
                <a:cs typeface="Roboto"/>
                <a:sym typeface="Roboto"/>
              </a:rPr>
              <a:t>Don’t be afraid to sunset features</a:t>
            </a:r>
            <a:endParaRPr sz="2000">
              <a:solidFill>
                <a:schemeClr val="dk1"/>
              </a:solidFill>
              <a:latin typeface="Roboto"/>
              <a:ea typeface="Roboto"/>
              <a:cs typeface="Roboto"/>
              <a:sym typeface="Roboto"/>
            </a:endParaRPr>
          </a:p>
          <a:p>
            <a:pPr indent="-355600" lvl="0" marL="457200" rtl="0" algn="l">
              <a:lnSpc>
                <a:spcPct val="115000"/>
              </a:lnSpc>
              <a:spcBef>
                <a:spcPts val="0"/>
              </a:spcBef>
              <a:spcAft>
                <a:spcPts val="0"/>
              </a:spcAft>
              <a:buClr>
                <a:schemeClr val="dk1"/>
              </a:buClr>
              <a:buSzPts val="2000"/>
              <a:buFont typeface="Roboto"/>
              <a:buChar char="●"/>
            </a:pPr>
            <a:r>
              <a:rPr lang="en-GB" sz="2000">
                <a:solidFill>
                  <a:schemeClr val="dk1"/>
                </a:solidFill>
                <a:latin typeface="Roboto"/>
                <a:ea typeface="Roboto"/>
                <a:cs typeface="Roboto"/>
                <a:sym typeface="Roboto"/>
              </a:rPr>
              <a:t>Branch by Abstraction</a:t>
            </a:r>
            <a:endParaRPr sz="2000">
              <a:solidFill>
                <a:schemeClr val="dk1"/>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69"/>
          <p:cNvSpPr txBox="1"/>
          <p:nvPr/>
        </p:nvSpPr>
        <p:spPr>
          <a:xfrm>
            <a:off x="936275" y="559350"/>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300">
                <a:solidFill>
                  <a:schemeClr val="dk1"/>
                </a:solidFill>
                <a:latin typeface="Calibri"/>
                <a:ea typeface="Calibri"/>
                <a:cs typeface="Calibri"/>
                <a:sym typeface="Calibri"/>
              </a:rPr>
              <a:t>The Future of Software Delivery</a:t>
            </a:r>
            <a:endParaRPr/>
          </a:p>
        </p:txBody>
      </p:sp>
      <p:sp>
        <p:nvSpPr>
          <p:cNvPr id="432" name="Google Shape;432;p69"/>
          <p:cNvSpPr txBox="1"/>
          <p:nvPr/>
        </p:nvSpPr>
        <p:spPr>
          <a:xfrm>
            <a:off x="790375" y="1313250"/>
            <a:ext cx="7871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t/>
            </a:r>
            <a:endParaRPr sz="2400">
              <a:solidFill>
                <a:schemeClr val="dk1"/>
              </a:solidFill>
            </a:endParaRPr>
          </a:p>
        </p:txBody>
      </p:sp>
      <p:sp>
        <p:nvSpPr>
          <p:cNvPr id="433" name="Google Shape;433;p69"/>
          <p:cNvSpPr txBox="1"/>
          <p:nvPr/>
        </p:nvSpPr>
        <p:spPr>
          <a:xfrm>
            <a:off x="376950" y="1617200"/>
            <a:ext cx="7749600" cy="205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Feature flags as first-class citizens</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Automated, disciplined flag lifecycle</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GB" sz="2400">
                <a:solidFill>
                  <a:schemeClr val="dk1"/>
                </a:solidFill>
              </a:rPr>
              <a:t>•</a:t>
            </a:r>
            <a:r>
              <a:rPr lang="en-GB" sz="2400">
                <a:solidFill>
                  <a:schemeClr val="dk1"/>
                </a:solidFill>
                <a:latin typeface="Calibri"/>
                <a:ea typeface="Calibri"/>
                <a:cs typeface="Calibri"/>
                <a:sym typeface="Calibri"/>
              </a:rPr>
              <a:t>Safer, faster, and smarter releases</a:t>
            </a:r>
            <a:endParaRPr sz="24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t/>
            </a:r>
            <a:endParaRPr sz="24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0"/>
          <p:cNvSpPr txBox="1"/>
          <p:nvPr/>
        </p:nvSpPr>
        <p:spPr>
          <a:xfrm>
            <a:off x="374850" y="130375"/>
            <a:ext cx="7664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chemeClr val="dk1"/>
                </a:solidFill>
                <a:latin typeface="Roboto"/>
                <a:ea typeface="Roboto"/>
                <a:cs typeface="Roboto"/>
                <a:sym typeface="Roboto"/>
              </a:rPr>
              <a:t>Software Practices</a:t>
            </a:r>
            <a:endParaRPr b="1">
              <a:latin typeface="Roboto"/>
              <a:ea typeface="Roboto"/>
              <a:cs typeface="Roboto"/>
              <a:sym typeface="Roboto"/>
            </a:endParaRPr>
          </a:p>
        </p:txBody>
      </p:sp>
      <p:sp>
        <p:nvSpPr>
          <p:cNvPr id="439" name="Google Shape;439;p70"/>
          <p:cNvSpPr txBox="1"/>
          <p:nvPr/>
        </p:nvSpPr>
        <p:spPr>
          <a:xfrm>
            <a:off x="790375" y="1313250"/>
            <a:ext cx="7871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t/>
            </a:r>
            <a:endParaRPr sz="2400">
              <a:solidFill>
                <a:schemeClr val="dk1"/>
              </a:solidFill>
            </a:endParaRPr>
          </a:p>
        </p:txBody>
      </p:sp>
      <p:sp>
        <p:nvSpPr>
          <p:cNvPr id="440" name="Google Shape;440;p70"/>
          <p:cNvSpPr txBox="1"/>
          <p:nvPr/>
        </p:nvSpPr>
        <p:spPr>
          <a:xfrm>
            <a:off x="429725" y="888050"/>
            <a:ext cx="8394300" cy="357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Solving the Woes - Stale Flags &amp; Technical Debt</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Performance</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Ownership &amp; Documentation</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Security</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Collaboration</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Experimentation</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GB" sz="2000">
                <a:solidFill>
                  <a:schemeClr val="dk1"/>
                </a:solidFill>
                <a:latin typeface="Roboto"/>
                <a:ea typeface="Roboto"/>
                <a:cs typeface="Roboto"/>
                <a:sym typeface="Roboto"/>
              </a:rPr>
              <a:t>Avoid Triangle of Doom - multiple if-else</a:t>
            </a:r>
            <a:endParaRPr sz="20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24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id="445" name="Google Shape;445;p71" title="peter-griffin-push.gif"/>
          <p:cNvPicPr preferRelativeResize="0"/>
          <p:nvPr/>
        </p:nvPicPr>
        <p:blipFill>
          <a:blip r:embed="rId3">
            <a:alphaModFix/>
          </a:blip>
          <a:stretch>
            <a:fillRect/>
          </a:stretch>
        </p:blipFill>
        <p:spPr>
          <a:xfrm>
            <a:off x="88500" y="495325"/>
            <a:ext cx="4402425" cy="3552825"/>
          </a:xfrm>
          <a:prstGeom prst="rect">
            <a:avLst/>
          </a:prstGeom>
          <a:noFill/>
          <a:ln>
            <a:noFill/>
          </a:ln>
        </p:spPr>
      </p:pic>
      <p:pic>
        <p:nvPicPr>
          <p:cNvPr id="446" name="Google Shape;446;p71" title="1st-maryland-green-check-mark.gif"/>
          <p:cNvPicPr preferRelativeResize="0"/>
          <p:nvPr/>
        </p:nvPicPr>
        <p:blipFill>
          <a:blip r:embed="rId4">
            <a:alphaModFix/>
          </a:blip>
          <a:stretch>
            <a:fillRect/>
          </a:stretch>
        </p:blipFill>
        <p:spPr>
          <a:xfrm>
            <a:off x="4966512" y="495327"/>
            <a:ext cx="3970776" cy="3552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2"/>
          <p:cNvSpPr txBox="1"/>
          <p:nvPr>
            <p:ph type="ctrTitle"/>
          </p:nvPr>
        </p:nvSpPr>
        <p:spPr>
          <a:xfrm>
            <a:off x="571233" y="11456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4000"/>
              <a:t>“</a:t>
            </a:r>
            <a:r>
              <a:rPr lang="en-GB" sz="4000"/>
              <a:t>If you love something, set it free.” The same is true of feature flags</a:t>
            </a:r>
            <a:endParaRPr sz="40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3"/>
          <p:cNvSpPr txBox="1"/>
          <p:nvPr/>
        </p:nvSpPr>
        <p:spPr>
          <a:xfrm>
            <a:off x="3251300" y="2202300"/>
            <a:ext cx="399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600">
                <a:solidFill>
                  <a:schemeClr val="dk1"/>
                </a:solidFill>
                <a:latin typeface="Roboto"/>
                <a:ea typeface="Roboto"/>
                <a:cs typeface="Roboto"/>
                <a:sym typeface="Roboto"/>
              </a:rPr>
              <a:t>Thank you!</a:t>
            </a:r>
            <a:endParaRPr b="1" sz="3600">
              <a:solidFill>
                <a:schemeClr val="dk1"/>
              </a:solidFill>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74"/>
          <p:cNvPicPr preferRelativeResize="0"/>
          <p:nvPr/>
        </p:nvPicPr>
        <p:blipFill>
          <a:blip r:embed="rId3">
            <a:alphaModFix/>
          </a:blip>
          <a:stretch>
            <a:fillRect/>
          </a:stretch>
        </p:blipFill>
        <p:spPr>
          <a:xfrm>
            <a:off x="1304550" y="469375"/>
            <a:ext cx="4674126" cy="4674126"/>
          </a:xfrm>
          <a:prstGeom prst="rect">
            <a:avLst/>
          </a:prstGeom>
          <a:noFill/>
          <a:ln>
            <a:noFill/>
          </a:ln>
        </p:spPr>
      </p:pic>
      <p:sp>
        <p:nvSpPr>
          <p:cNvPr id="462" name="Google Shape;462;p74"/>
          <p:cNvSpPr txBox="1"/>
          <p:nvPr/>
        </p:nvSpPr>
        <p:spPr>
          <a:xfrm>
            <a:off x="1533950" y="0"/>
            <a:ext cx="5719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chemeClr val="dk1"/>
                </a:solidFill>
                <a:latin typeface="Roboto"/>
                <a:ea typeface="Roboto"/>
                <a:cs typeface="Roboto"/>
                <a:sym typeface="Roboto"/>
              </a:rPr>
              <a:t>Connect with me!</a:t>
            </a:r>
            <a:endParaRPr sz="24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