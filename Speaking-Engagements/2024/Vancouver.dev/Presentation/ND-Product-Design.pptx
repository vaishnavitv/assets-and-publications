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54"/>
  </p:notesMasterIdLst>
  <p:sldIdLst>
    <p:sldId id="260" r:id="rId2"/>
    <p:sldId id="372" r:id="rId3"/>
    <p:sldId id="384" r:id="rId4"/>
    <p:sldId id="364" r:id="rId5"/>
    <p:sldId id="371" r:id="rId6"/>
    <p:sldId id="323" r:id="rId7"/>
    <p:sldId id="370" r:id="rId8"/>
    <p:sldId id="374" r:id="rId9"/>
    <p:sldId id="324" r:id="rId10"/>
    <p:sldId id="377" r:id="rId11"/>
    <p:sldId id="352" r:id="rId12"/>
    <p:sldId id="325" r:id="rId13"/>
    <p:sldId id="327" r:id="rId14"/>
    <p:sldId id="349" r:id="rId15"/>
    <p:sldId id="278" r:id="rId16"/>
    <p:sldId id="386" r:id="rId17"/>
    <p:sldId id="330" r:id="rId18"/>
    <p:sldId id="373" r:id="rId19"/>
    <p:sldId id="332" r:id="rId20"/>
    <p:sldId id="334" r:id="rId21"/>
    <p:sldId id="279" r:id="rId22"/>
    <p:sldId id="271" r:id="rId23"/>
    <p:sldId id="326" r:id="rId24"/>
    <p:sldId id="376" r:id="rId25"/>
    <p:sldId id="375" r:id="rId26"/>
    <p:sldId id="336" r:id="rId27"/>
    <p:sldId id="346" r:id="rId28"/>
    <p:sldId id="335" r:id="rId29"/>
    <p:sldId id="378" r:id="rId30"/>
    <p:sldId id="347" r:id="rId31"/>
    <p:sldId id="337" r:id="rId32"/>
    <p:sldId id="380" r:id="rId33"/>
    <p:sldId id="338" r:id="rId34"/>
    <p:sldId id="333" r:id="rId35"/>
    <p:sldId id="348" r:id="rId36"/>
    <p:sldId id="381" r:id="rId37"/>
    <p:sldId id="387" r:id="rId38"/>
    <p:sldId id="383" r:id="rId39"/>
    <p:sldId id="382" r:id="rId40"/>
    <p:sldId id="345" r:id="rId41"/>
    <p:sldId id="339" r:id="rId42"/>
    <p:sldId id="340" r:id="rId43"/>
    <p:sldId id="341" r:id="rId44"/>
    <p:sldId id="368" r:id="rId45"/>
    <p:sldId id="367" r:id="rId46"/>
    <p:sldId id="366" r:id="rId47"/>
    <p:sldId id="342" r:id="rId48"/>
    <p:sldId id="379" r:id="rId49"/>
    <p:sldId id="365" r:id="rId50"/>
    <p:sldId id="343" r:id="rId51"/>
    <p:sldId id="385" r:id="rId52"/>
    <p:sldId id="344" r:id="rId53"/>
  </p:sldIdLst>
  <p:sldSz cx="9144000" cy="5143500" type="screen16x9"/>
  <p:notesSz cx="6858000" cy="9144000"/>
  <p:embeddedFontLst>
    <p:embeddedFont>
      <p:font typeface="Google Sans" panose="020B0604020202020204" charset="0"/>
      <p:regular r:id="rId55"/>
      <p:bold r:id="rId56"/>
      <p:italic r:id="rId57"/>
      <p:boldItalic r:id="rId58"/>
    </p:embeddedFont>
    <p:embeddedFont>
      <p:font typeface="Merriweather" panose="00000500000000000000" pitchFamily="2" charset="0"/>
      <p:regular r:id="rId59"/>
      <p:bold r:id="rId60"/>
      <p:italic r:id="rId61"/>
      <p:boldItalic r:id="rId62"/>
    </p:embeddedFont>
    <p:embeddedFont>
      <p:font typeface="open sans" panose="020B0606030504020204" pitchFamily="34" charset="0"/>
      <p:regular r:id="rId63"/>
      <p:bold r:id="rId64"/>
      <p:italic r:id="rId65"/>
      <p:boldItalic r:id="rId66"/>
    </p:embeddedFont>
    <p:embeddedFont>
      <p:font typeface="Roboto Mono Light" panose="00000009000000000000" pitchFamily="49" charset="0"/>
      <p:regular r:id="rId67"/>
      <p:bold r:id="rId68"/>
      <p:italic r:id="rId69"/>
      <p:boldItalic r:id="rId7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94660"/>
  </p:normalViewPr>
  <p:slideViewPr>
    <p:cSldViewPr snapToGrid="0">
      <p:cViewPr varScale="1">
        <p:scale>
          <a:sx n="138" d="100"/>
          <a:sy n="138" d="100"/>
        </p:scale>
        <p:origin x="792"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9.fntdata"/><Relationship Id="rId68" Type="http://schemas.openxmlformats.org/officeDocument/2006/relationships/font" Target="fonts/font14.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font" Target="fonts/font4.fntdata"/><Relationship Id="rId66" Type="http://schemas.openxmlformats.org/officeDocument/2006/relationships/font" Target="fonts/font12.fntdata"/><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2.fntdata"/><Relationship Id="rId64" Type="http://schemas.openxmlformats.org/officeDocument/2006/relationships/font" Target="fonts/font10.fntdata"/><Relationship Id="rId69" Type="http://schemas.openxmlformats.org/officeDocument/2006/relationships/font" Target="fonts/font1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5.fntdata"/><Relationship Id="rId67" Type="http://schemas.openxmlformats.org/officeDocument/2006/relationships/font" Target="fonts/font1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62" Type="http://schemas.openxmlformats.org/officeDocument/2006/relationships/font" Target="fonts/font8.fntdata"/><Relationship Id="rId70" Type="http://schemas.openxmlformats.org/officeDocument/2006/relationships/font" Target="fonts/font16.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6.fntdata"/><Relationship Id="rId65" Type="http://schemas.openxmlformats.org/officeDocument/2006/relationships/font" Target="fonts/font11.fntdata"/><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23b176a52f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23b176a52f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A" dirty="0"/>
          </a:p>
        </p:txBody>
      </p:sp>
    </p:spTree>
    <p:extLst>
      <p:ext uri="{BB962C8B-B14F-4D97-AF65-F5344CB8AC3E}">
        <p14:creationId xmlns:p14="http://schemas.microsoft.com/office/powerpoint/2010/main" val="20608553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817484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BBDC4A01-8650-CF16-5DF8-F61A4AA98BB8}"/>
            </a:ext>
          </a:extLst>
        </p:cNvPr>
        <p:cNvGrpSpPr/>
        <p:nvPr/>
      </p:nvGrpSpPr>
      <p:grpSpPr>
        <a:xfrm>
          <a:off x="0" y="0"/>
          <a:ext cx="0" cy="0"/>
          <a:chOff x="0" y="0"/>
          <a:chExt cx="0" cy="0"/>
        </a:xfrm>
      </p:grpSpPr>
      <p:sp>
        <p:nvSpPr>
          <p:cNvPr id="194" name="Google Shape;194;p16:notes">
            <a:extLst>
              <a:ext uri="{FF2B5EF4-FFF2-40B4-BE49-F238E27FC236}">
                <a16:creationId xmlns:a16="http://schemas.microsoft.com/office/drawing/2014/main" id="{5850550B-9150-0A45-103E-DF53BF484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a:extLst>
              <a:ext uri="{FF2B5EF4-FFF2-40B4-BE49-F238E27FC236}">
                <a16:creationId xmlns:a16="http://schemas.microsoft.com/office/drawing/2014/main" id="{FD672FF0-A332-2ED8-2FB5-A8AD8FCDCA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30232204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7176577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a3a73e9aa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a3a73e9aa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47340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09053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80754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CA" dirty="0"/>
              <a:t>Named after the curb cut that enables wheelchair users on and off</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169073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12799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b="0" i="0" dirty="0">
                <a:solidFill>
                  <a:srgbClr val="2B2B2B"/>
                </a:solidFill>
                <a:effectLst/>
                <a:latin typeface="Merriweather" panose="00000500000000000000" pitchFamily="2" charset="0"/>
              </a:rPr>
              <a:t>do not want to punish them for their irregularities and force them to correct things before providing them with the expected or desired responses. They’re users who are visiting your site by choice, not your students or employees.</a:t>
            </a:r>
            <a:br>
              <a:rPr lang="en-US" b="1" u="none" strike="noStrike" dirty="0">
                <a:effectLst/>
              </a:rPr>
            </a:br>
            <a:endParaRPr dirty="0"/>
          </a:p>
        </p:txBody>
      </p:sp>
    </p:spTree>
    <p:extLst>
      <p:ext uri="{BB962C8B-B14F-4D97-AF65-F5344CB8AC3E}">
        <p14:creationId xmlns:p14="http://schemas.microsoft.com/office/powerpoint/2010/main" val="10415803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125514d5365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125514d5365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effectLst/>
              </a:rPr>
              <a:t>Attachments first, message second, subject third, and recipients last. This is the way.</a:t>
            </a:r>
          </a:p>
          <a:p>
            <a:br>
              <a:rPr lang="en-US" b="1" u="none" strike="noStrike" dirty="0">
                <a:effectLst/>
              </a:rPr>
            </a:b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99083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A" dirty="0"/>
          </a:p>
        </p:txBody>
      </p:sp>
    </p:spTree>
    <p:extLst>
      <p:ext uri="{BB962C8B-B14F-4D97-AF65-F5344CB8AC3E}">
        <p14:creationId xmlns:p14="http://schemas.microsoft.com/office/powerpoint/2010/main" val="17778021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For any Asana project, you can switch between several different views to see tasks however you want: </a:t>
            </a:r>
            <a:r>
              <a:rPr lang="en-US" b="0" i="0" dirty="0">
                <a:solidFill>
                  <a:srgbClr val="E2EEFF"/>
                </a:solidFill>
                <a:effectLst/>
                <a:latin typeface="Google Sans" panose="020B0604020202020204" charset="0"/>
              </a:rPr>
              <a:t>Lists - For chronological to-dos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Boards - Kanban style view to move work through stages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Timeline - Gantt-style view for deadline-bound work with dependencies</a:t>
            </a:r>
            <a:r>
              <a:rPr lang="en-US" b="0" i="0" dirty="0">
                <a:solidFill>
                  <a:srgbClr val="E8EAED"/>
                </a:solidFill>
                <a:effectLst/>
                <a:latin typeface="Google Sans" panose="020B0604020202020204" charset="0"/>
              </a:rPr>
              <a:t>.</a:t>
            </a:r>
            <a:endParaRPr dirty="0"/>
          </a:p>
        </p:txBody>
      </p:sp>
    </p:spTree>
    <p:extLst>
      <p:ext uri="{BB962C8B-B14F-4D97-AF65-F5344CB8AC3E}">
        <p14:creationId xmlns:p14="http://schemas.microsoft.com/office/powerpoint/2010/main" val="34424122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31378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Coal miners used to take canaries into coal mines with them. </a:t>
            </a:r>
            <a:r>
              <a:rPr lang="en-US" b="0" i="0" dirty="0">
                <a:solidFill>
                  <a:srgbClr val="E2EEFF"/>
                </a:solidFill>
                <a:effectLst/>
                <a:latin typeface="Google Sans" panose="020B0604020202020204" charset="0"/>
              </a:rPr>
              <a:t>Canaries are more sensitive to dangerous gases than humans are</a:t>
            </a:r>
            <a:r>
              <a:rPr lang="en-US" b="0" i="0" dirty="0">
                <a:solidFill>
                  <a:srgbClr val="E8EAED"/>
                </a:solidFill>
                <a:effectLst/>
                <a:latin typeface="Google Sans" panose="020B0604020202020204" charset="0"/>
              </a:rPr>
              <a:t>. If the canary died, the miners knew there were dangerous gases present and would leave the mine.</a:t>
            </a:r>
          </a:p>
          <a:p>
            <a:pPr marL="0" lvl="0" indent="0" algn="l" rtl="0">
              <a:spcBef>
                <a:spcPts val="0"/>
              </a:spcBef>
              <a:spcAft>
                <a:spcPts val="0"/>
              </a:spcAft>
              <a:buNone/>
            </a:pPr>
            <a:r>
              <a:rPr lang="en-US" b="0" i="0" dirty="0">
                <a:solidFill>
                  <a:srgbClr val="000000"/>
                </a:solidFill>
                <a:effectLst/>
                <a:latin typeface="open sans" panose="020B0606030504020204" pitchFamily="34" charset="0"/>
              </a:rPr>
              <a:t>Pit ponies, the other animal that went underground with human miners to haul coal, were also phased out by automation. T</a:t>
            </a:r>
            <a:endParaRPr dirty="0"/>
          </a:p>
        </p:txBody>
      </p:sp>
    </p:spTree>
    <p:extLst>
      <p:ext uri="{BB962C8B-B14F-4D97-AF65-F5344CB8AC3E}">
        <p14:creationId xmlns:p14="http://schemas.microsoft.com/office/powerpoint/2010/main" val="7181270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53846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60193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31216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Sour</a:t>
            </a:r>
            <a:endParaRPr lang="en-CA" dirty="0"/>
          </a:p>
        </p:txBody>
      </p:sp>
    </p:spTree>
    <p:extLst>
      <p:ext uri="{BB962C8B-B14F-4D97-AF65-F5344CB8AC3E}">
        <p14:creationId xmlns:p14="http://schemas.microsoft.com/office/powerpoint/2010/main" val="24969636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35478-89E0-FB30-0C78-358453C4C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75707-B176-07E8-B256-51EECC98ADD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28AF0B1-2E18-113B-96BD-72C8B2A0B1DB}"/>
              </a:ext>
            </a:extLst>
          </p:cNvPr>
          <p:cNvSpPr>
            <a:spLocks noGrp="1"/>
          </p:cNvSpPr>
          <p:nvPr>
            <p:ph type="body" idx="1"/>
          </p:nvPr>
        </p:nvSpPr>
        <p:spPr/>
        <p:txBody>
          <a:bodyPr/>
          <a:lstStyle/>
          <a:p>
            <a:pPr marL="158750" indent="0">
              <a:buNone/>
            </a:pPr>
            <a:r>
              <a:rPr lang="en-US" dirty="0"/>
              <a:t>Sour</a:t>
            </a:r>
            <a:endParaRPr lang="en-CA" dirty="0"/>
          </a:p>
        </p:txBody>
      </p:sp>
    </p:spTree>
    <p:extLst>
      <p:ext uri="{BB962C8B-B14F-4D97-AF65-F5344CB8AC3E}">
        <p14:creationId xmlns:p14="http://schemas.microsoft.com/office/powerpoint/2010/main" val="41398310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35380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3365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07266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210758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513386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41999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05696-EC50-BC8D-311C-98B53B12C0BD}"/>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CA"/>
          </a:p>
        </p:txBody>
      </p:sp>
      <p:sp>
        <p:nvSpPr>
          <p:cNvPr id="3" name="Subtitle 2">
            <a:extLst>
              <a:ext uri="{FF2B5EF4-FFF2-40B4-BE49-F238E27FC236}">
                <a16:creationId xmlns:a16="http://schemas.microsoft.com/office/drawing/2014/main" id="{CC6F7028-7706-B3B8-66B9-37F1BB29AD84}"/>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C7FDC144-D2B6-104F-5B09-134055281E1C}"/>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5" name="Footer Placeholder 4">
            <a:extLst>
              <a:ext uri="{FF2B5EF4-FFF2-40B4-BE49-F238E27FC236}">
                <a16:creationId xmlns:a16="http://schemas.microsoft.com/office/drawing/2014/main" id="{34C7DF50-BD36-4DC1-5C23-2B5D9CD623C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DFDCCF9-3347-4EC6-A0B8-6D84DFFF712B}"/>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75596407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7896C-5223-014F-664A-2AEFC16205AD}"/>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EA7ABD6-8F76-C5FD-E67B-64AD01C05D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76CF49B-379F-94C9-9D4E-9524F1FB0FB5}"/>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5" name="Footer Placeholder 4">
            <a:extLst>
              <a:ext uri="{FF2B5EF4-FFF2-40B4-BE49-F238E27FC236}">
                <a16:creationId xmlns:a16="http://schemas.microsoft.com/office/drawing/2014/main" id="{E8957870-6D4D-D284-C4ED-DE52227885A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AD28A4C-117A-9612-B224-3CFA1A69AC7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8675191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61F70-A29B-2C35-E4C9-E839E52EC640}"/>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5B23476F-C579-F170-837B-8171D44C7FAB}"/>
              </a:ext>
            </a:extLst>
          </p:cNvPr>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07E9A80-A346-4797-9592-6B609EE142D7}"/>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5" name="Footer Placeholder 4">
            <a:extLst>
              <a:ext uri="{FF2B5EF4-FFF2-40B4-BE49-F238E27FC236}">
                <a16:creationId xmlns:a16="http://schemas.microsoft.com/office/drawing/2014/main" id="{E1F48DF2-2D91-CFD0-1E27-0257C7E4573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5CE59D0-9996-098C-0D47-646BA0A803B0}"/>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194438470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D1790-C276-89CC-CFDB-13AB897F1C1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CF02CAE-8520-55C4-DAA0-080CF32B5020}"/>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8BF6C76A-31E6-1EBE-A43D-3FD7763AA31E}"/>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0B6AACC8-A3B7-18FE-D62E-BF338F44A68D}"/>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6" name="Footer Placeholder 5">
            <a:extLst>
              <a:ext uri="{FF2B5EF4-FFF2-40B4-BE49-F238E27FC236}">
                <a16:creationId xmlns:a16="http://schemas.microsoft.com/office/drawing/2014/main" id="{6C4125A8-B94E-D2D7-EF41-3CA736276D7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D86B9D5-7423-8899-4D77-639371D0142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4284317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6298F-BD6F-9789-818A-6A4DF0CF12C4}"/>
              </a:ext>
            </a:extLst>
          </p:cNvPr>
          <p:cNvSpPr>
            <a:spLocks noGrp="1"/>
          </p:cNvSpPr>
          <p:nvPr>
            <p:ph type="title"/>
          </p:nvPr>
        </p:nvSpPr>
        <p:spPr>
          <a:xfrm>
            <a:off x="629841" y="273844"/>
            <a:ext cx="7886700" cy="99417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6C316AA-8568-B9A6-3876-FDC527F25DD9}"/>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D01F0B5F-8AC0-E5CA-7785-B0F5739C6A59}"/>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530607FE-F4D9-2A8B-9D51-9ECA02930249}"/>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467EF9B6-4210-528A-97F8-BE8CE35C75BF}"/>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B3D5AA33-05EA-35EC-D1EF-5E8C6E274BEA}"/>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8" name="Footer Placeholder 7">
            <a:extLst>
              <a:ext uri="{FF2B5EF4-FFF2-40B4-BE49-F238E27FC236}">
                <a16:creationId xmlns:a16="http://schemas.microsoft.com/office/drawing/2014/main" id="{4362BAB2-DE91-0537-E2FC-5CB7C2BD9B68}"/>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6386CAD9-5AA6-9951-5B81-CF68B801379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33652292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8962D-708F-C9BC-D46B-22AC92BE520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7FBB71D2-8F76-BAB8-D4BD-82F1D15079B3}"/>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4" name="Footer Placeholder 3">
            <a:extLst>
              <a:ext uri="{FF2B5EF4-FFF2-40B4-BE49-F238E27FC236}">
                <a16:creationId xmlns:a16="http://schemas.microsoft.com/office/drawing/2014/main" id="{F4BBBB02-B5B7-C3D2-50F4-1B674EE891EB}"/>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546E9AF2-6107-E18F-A611-1C7FFA8D25C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748854128"/>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28B4FC-6C8B-7645-D279-DFAB67F9F06A}"/>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3" name="Footer Placeholder 2">
            <a:extLst>
              <a:ext uri="{FF2B5EF4-FFF2-40B4-BE49-F238E27FC236}">
                <a16:creationId xmlns:a16="http://schemas.microsoft.com/office/drawing/2014/main" id="{350AA886-8F9E-8FFD-2DEC-ECC6995ED090}"/>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E29B1C1C-2850-344F-C45A-F782E6DC5F9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3827523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BDEB4-B283-FF2A-A4B2-1254EFB5181C}"/>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7AD5F744-5BC5-C602-E5CE-D1203F310C90}"/>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E629111-84FF-233F-DD73-D23FA86BFF24}"/>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773109E-D520-9863-D705-C4B77C63B7DE}"/>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6" name="Footer Placeholder 5">
            <a:extLst>
              <a:ext uri="{FF2B5EF4-FFF2-40B4-BE49-F238E27FC236}">
                <a16:creationId xmlns:a16="http://schemas.microsoft.com/office/drawing/2014/main" id="{6A24FF0E-5FF7-436F-9AC5-30B363B381B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C18EF52-6E39-B2D0-9DA1-346C745ED62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06990197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62050-8245-BBF5-B2E7-8E8EB2AD95E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3EEFCC93-AD30-8043-D711-46E2BB00FFA6}"/>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CA"/>
          </a:p>
        </p:txBody>
      </p:sp>
      <p:sp>
        <p:nvSpPr>
          <p:cNvPr id="4" name="Text Placeholder 3">
            <a:extLst>
              <a:ext uri="{FF2B5EF4-FFF2-40B4-BE49-F238E27FC236}">
                <a16:creationId xmlns:a16="http://schemas.microsoft.com/office/drawing/2014/main" id="{6485B632-2E0D-9C6D-F62B-5773810E24F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D3FF7A83-0F09-6960-9B0E-A89CDF1689C4}"/>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6" name="Footer Placeholder 5">
            <a:extLst>
              <a:ext uri="{FF2B5EF4-FFF2-40B4-BE49-F238E27FC236}">
                <a16:creationId xmlns:a16="http://schemas.microsoft.com/office/drawing/2014/main" id="{4F2A97C7-3FCE-1004-E5CA-C355D227C0D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5056D32-7886-57A4-2ED7-2EBD12C4DE15}"/>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89821385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C0B5E-2EB8-E1B9-FC21-3784837348F7}"/>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879B33E-74B6-E5E2-9D08-8E69C747D8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60AA5D0-FC03-EEC3-8B61-89A5D984C136}"/>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5" name="Footer Placeholder 4">
            <a:extLst>
              <a:ext uri="{FF2B5EF4-FFF2-40B4-BE49-F238E27FC236}">
                <a16:creationId xmlns:a16="http://schemas.microsoft.com/office/drawing/2014/main" id="{04446037-7EEE-DBDF-695F-BBCBB58B94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B631AC7-950F-345E-42AB-9C141ED81CDD}"/>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621993677"/>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2067E1-AC84-A2A0-A71E-B01BE792E4C7}"/>
              </a:ext>
            </a:extLst>
          </p:cNvPr>
          <p:cNvSpPr>
            <a:spLocks noGrp="1"/>
          </p:cNvSpPr>
          <p:nvPr>
            <p:ph type="title" orient="vert"/>
          </p:nvPr>
        </p:nvSpPr>
        <p:spPr>
          <a:xfrm>
            <a:off x="6543675" y="273844"/>
            <a:ext cx="1971675" cy="4358879"/>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D786C96-B4A9-88ED-377E-DF46A2389720}"/>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06306CC-FA96-40D2-6778-5C2D9519E49C}"/>
              </a:ext>
            </a:extLst>
          </p:cNvPr>
          <p:cNvSpPr>
            <a:spLocks noGrp="1"/>
          </p:cNvSpPr>
          <p:nvPr>
            <p:ph type="dt" sz="half" idx="10"/>
          </p:nvPr>
        </p:nvSpPr>
        <p:spPr/>
        <p:txBody>
          <a:bodyPr/>
          <a:lstStyle/>
          <a:p>
            <a:fld id="{D77A9FB6-8E5D-495F-BF84-C9F7C49074E3}" type="datetimeFigureOut">
              <a:rPr lang="en-CA" smtClean="0"/>
              <a:t>2025-04-18</a:t>
            </a:fld>
            <a:endParaRPr lang="en-CA"/>
          </a:p>
        </p:txBody>
      </p:sp>
      <p:sp>
        <p:nvSpPr>
          <p:cNvPr id="5" name="Footer Placeholder 4">
            <a:extLst>
              <a:ext uri="{FF2B5EF4-FFF2-40B4-BE49-F238E27FC236}">
                <a16:creationId xmlns:a16="http://schemas.microsoft.com/office/drawing/2014/main" id="{FC8F7E21-2EB3-CD74-B775-26B0B737C1C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0CAFEB62-AECC-8B70-0F39-BB6D42732C6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782919174"/>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ck Title">
  <p:cSld name="Deck Title">
    <p:spTree>
      <p:nvGrpSpPr>
        <p:cNvPr id="1" name="Shape 9"/>
        <p:cNvGrpSpPr/>
        <p:nvPr/>
      </p:nvGrpSpPr>
      <p:grpSpPr>
        <a:xfrm>
          <a:off x="0" y="0"/>
          <a:ext cx="0" cy="0"/>
          <a:chOff x="0" y="0"/>
          <a:chExt cx="0" cy="0"/>
        </a:xfrm>
      </p:grpSpPr>
      <p:sp>
        <p:nvSpPr>
          <p:cNvPr id="11" name="Google Shape;11;p2"/>
          <p:cNvSpPr txBox="1">
            <a:spLocks noGrp="1"/>
          </p:cNvSpPr>
          <p:nvPr>
            <p:ph type="title"/>
          </p:nvPr>
        </p:nvSpPr>
        <p:spPr>
          <a:xfrm>
            <a:off x="541975" y="2036775"/>
            <a:ext cx="4847100" cy="1736100"/>
          </a:xfrm>
          <a:prstGeom prst="rect">
            <a:avLst/>
          </a:prstGeom>
        </p:spPr>
        <p:txBody>
          <a:bodyPr spcFirstLastPara="1" wrap="square" lIns="0" tIns="0" rIns="0" bIns="0" anchor="t" anchorCtr="0">
            <a:normAutofit/>
          </a:bodyPr>
          <a:lstStyle>
            <a:lvl1pPr lvl="0">
              <a:lnSpc>
                <a:spcPct val="95000"/>
              </a:lnSpc>
              <a:spcBef>
                <a:spcPts val="0"/>
              </a:spcBef>
              <a:spcAft>
                <a:spcPts val="0"/>
              </a:spcAft>
              <a:buSzPts val="4000"/>
              <a:buNone/>
              <a:defRPr sz="4000"/>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endParaRPr/>
          </a:p>
        </p:txBody>
      </p:sp>
      <p:sp>
        <p:nvSpPr>
          <p:cNvPr id="12" name="Google Shape;12;p2"/>
          <p:cNvSpPr txBox="1">
            <a:spLocks noGrp="1"/>
          </p:cNvSpPr>
          <p:nvPr>
            <p:ph type="subTitle" idx="1"/>
          </p:nvPr>
        </p:nvSpPr>
        <p:spPr>
          <a:xfrm>
            <a:off x="1134386" y="4501770"/>
            <a:ext cx="3841500" cy="318000"/>
          </a:xfrm>
          <a:prstGeom prst="rect">
            <a:avLst/>
          </a:prstGeom>
        </p:spPr>
        <p:txBody>
          <a:bodyPr spcFirstLastPara="1" wrap="square" lIns="0" tIns="0" rIns="0" bIns="0" anchor="t" anchorCtr="0">
            <a:normAutofit/>
          </a:bodyPr>
          <a:lstStyle>
            <a:lvl1pPr lvl="0">
              <a:spcBef>
                <a:spcPts val="0"/>
              </a:spcBef>
              <a:spcAft>
                <a:spcPts val="0"/>
              </a:spcAft>
              <a:buClr>
                <a:schemeClr val="accent1"/>
              </a:buClr>
              <a:buSzPts val="1500"/>
              <a:buFont typeface="Google Sans"/>
              <a:buNone/>
              <a:defRPr sz="1500">
                <a:solidFill>
                  <a:schemeClr val="accent1"/>
                </a:solidFill>
                <a:latin typeface="Google Sans"/>
                <a:ea typeface="Google Sans"/>
                <a:cs typeface="Google Sans"/>
                <a:sym typeface="Google Sans"/>
              </a:defRPr>
            </a:lvl1pPr>
            <a:lvl2pPr lvl="1">
              <a:spcBef>
                <a:spcPts val="0"/>
              </a:spcBef>
              <a:spcAft>
                <a:spcPts val="0"/>
              </a:spcAft>
              <a:buClr>
                <a:schemeClr val="accent1"/>
              </a:buClr>
              <a:buSzPts val="1500"/>
              <a:buNone/>
              <a:defRPr sz="1500">
                <a:solidFill>
                  <a:schemeClr val="accent1"/>
                </a:solidFill>
              </a:defRPr>
            </a:lvl2pPr>
            <a:lvl3pPr lvl="2">
              <a:spcBef>
                <a:spcPts val="0"/>
              </a:spcBef>
              <a:spcAft>
                <a:spcPts val="0"/>
              </a:spcAft>
              <a:buClr>
                <a:schemeClr val="accent1"/>
              </a:buClr>
              <a:buSzPts val="1500"/>
              <a:buNone/>
              <a:defRPr sz="1500">
                <a:solidFill>
                  <a:schemeClr val="accent1"/>
                </a:solidFill>
              </a:defRPr>
            </a:lvl3pPr>
            <a:lvl4pPr lvl="3">
              <a:spcBef>
                <a:spcPts val="0"/>
              </a:spcBef>
              <a:spcAft>
                <a:spcPts val="0"/>
              </a:spcAft>
              <a:buClr>
                <a:schemeClr val="accent1"/>
              </a:buClr>
              <a:buSzPts val="1500"/>
              <a:buNone/>
              <a:defRPr sz="1500">
                <a:solidFill>
                  <a:schemeClr val="accent1"/>
                </a:solidFill>
              </a:defRPr>
            </a:lvl4pPr>
            <a:lvl5pPr lvl="4">
              <a:spcBef>
                <a:spcPts val="0"/>
              </a:spcBef>
              <a:spcAft>
                <a:spcPts val="0"/>
              </a:spcAft>
              <a:buClr>
                <a:schemeClr val="accent1"/>
              </a:buClr>
              <a:buSzPts val="1500"/>
              <a:buNone/>
              <a:defRPr sz="1500">
                <a:solidFill>
                  <a:schemeClr val="accent1"/>
                </a:solidFill>
              </a:defRPr>
            </a:lvl5pPr>
            <a:lvl6pPr lvl="5">
              <a:spcBef>
                <a:spcPts val="0"/>
              </a:spcBef>
              <a:spcAft>
                <a:spcPts val="0"/>
              </a:spcAft>
              <a:buClr>
                <a:schemeClr val="accent1"/>
              </a:buClr>
              <a:buSzPts val="1500"/>
              <a:buNone/>
              <a:defRPr sz="1500">
                <a:solidFill>
                  <a:schemeClr val="accent1"/>
                </a:solidFill>
              </a:defRPr>
            </a:lvl6pPr>
            <a:lvl7pPr lvl="6">
              <a:spcBef>
                <a:spcPts val="0"/>
              </a:spcBef>
              <a:spcAft>
                <a:spcPts val="0"/>
              </a:spcAft>
              <a:buClr>
                <a:schemeClr val="accent1"/>
              </a:buClr>
              <a:buSzPts val="1500"/>
              <a:buNone/>
              <a:defRPr sz="1500">
                <a:solidFill>
                  <a:schemeClr val="accent1"/>
                </a:solidFill>
              </a:defRPr>
            </a:lvl7pPr>
            <a:lvl8pPr lvl="7">
              <a:spcBef>
                <a:spcPts val="0"/>
              </a:spcBef>
              <a:spcAft>
                <a:spcPts val="0"/>
              </a:spcAft>
              <a:buClr>
                <a:schemeClr val="accent1"/>
              </a:buClr>
              <a:buSzPts val="1500"/>
              <a:buNone/>
              <a:defRPr sz="1500">
                <a:solidFill>
                  <a:schemeClr val="accent1"/>
                </a:solidFill>
              </a:defRPr>
            </a:lvl8pPr>
            <a:lvl9pPr lvl="8">
              <a:spcBef>
                <a:spcPts val="0"/>
              </a:spcBef>
              <a:spcAft>
                <a:spcPts val="0"/>
              </a:spcAft>
              <a:buClr>
                <a:schemeClr val="accent1"/>
              </a:buClr>
              <a:buSzPts val="1500"/>
              <a:buNone/>
              <a:defRPr sz="1500">
                <a:solidFill>
                  <a:schemeClr val="accent1"/>
                </a:solidFill>
              </a:defRPr>
            </a:lvl9pPr>
          </a:lstStyle>
          <a:p>
            <a:endParaRPr/>
          </a:p>
        </p:txBody>
      </p:sp>
    </p:spTree>
    <p:extLst>
      <p:ext uri="{BB962C8B-B14F-4D97-AF65-F5344CB8AC3E}">
        <p14:creationId xmlns:p14="http://schemas.microsoft.com/office/powerpoint/2010/main" val="13286609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mp; Two Columns" type="twoColTx">
  <p:cSld name="Title &amp; Two Columns">
    <p:spTree>
      <p:nvGrpSpPr>
        <p:cNvPr id="1" name="Shape 37"/>
        <p:cNvGrpSpPr/>
        <p:nvPr/>
      </p:nvGrpSpPr>
      <p:grpSpPr>
        <a:xfrm>
          <a:off x="0" y="0"/>
          <a:ext cx="0" cy="0"/>
          <a:chOff x="0" y="0"/>
          <a:chExt cx="0" cy="0"/>
        </a:xfrm>
      </p:grpSpPr>
      <p:sp>
        <p:nvSpPr>
          <p:cNvPr id="38" name="Google Shape;38;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500"/>
              <a:buNone/>
              <a:defRPr sz="25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9" name="Google Shape;39;p13"/>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0" name="Google Shape;40;p13"/>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1" name="Google Shape;41;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251392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 Green">
  <p:cSld name="Section Title - Green">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944325" y="1875750"/>
            <a:ext cx="4568100" cy="2544900"/>
          </a:xfrm>
          <a:prstGeom prst="rect">
            <a:avLst/>
          </a:prstGeom>
        </p:spPr>
        <p:txBody>
          <a:bodyPr spcFirstLastPara="1" wrap="square" lIns="0" tIns="0" rIns="0" bIns="91425" anchor="t" anchorCtr="0">
            <a:normAutofit/>
          </a:bodyPr>
          <a:lstStyle>
            <a:lvl1pPr lvl="0" rtl="0">
              <a:spcBef>
                <a:spcPts val="0"/>
              </a:spcBef>
              <a:spcAft>
                <a:spcPts val="0"/>
              </a:spcAft>
              <a:buSzPts val="4200"/>
              <a:buNone/>
              <a:defRPr sz="4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subTitle" idx="1"/>
          </p:nvPr>
        </p:nvSpPr>
        <p:spPr>
          <a:xfrm>
            <a:off x="4560135" y="1067343"/>
            <a:ext cx="3841500" cy="318000"/>
          </a:xfrm>
          <a:prstGeom prst="rect">
            <a:avLst/>
          </a:prstGeom>
        </p:spPr>
        <p:txBody>
          <a:bodyPr spcFirstLastPara="1" wrap="square" lIns="0" tIns="0" rIns="0" bIns="0" anchor="t" anchorCtr="0">
            <a:normAutofit/>
          </a:bodyPr>
          <a:lstStyle>
            <a:lvl1pPr lvl="0" rtl="0">
              <a:spcBef>
                <a:spcPts val="0"/>
              </a:spcBef>
              <a:spcAft>
                <a:spcPts val="0"/>
              </a:spcAft>
              <a:buClr>
                <a:schemeClr val="accent4"/>
              </a:buClr>
              <a:buSzPts val="1600"/>
              <a:buFont typeface="Google Sans"/>
              <a:buNone/>
              <a:defRPr sz="1600">
                <a:solidFill>
                  <a:schemeClr val="accent4"/>
                </a:solidFill>
                <a:latin typeface="Google Sans"/>
                <a:ea typeface="Google Sans"/>
                <a:cs typeface="Google Sans"/>
                <a:sym typeface="Google Sans"/>
              </a:defRPr>
            </a:lvl1pPr>
            <a:lvl2pPr lvl="1" rtl="0">
              <a:spcBef>
                <a:spcPts val="0"/>
              </a:spcBef>
              <a:spcAft>
                <a:spcPts val="0"/>
              </a:spcAft>
              <a:buClr>
                <a:schemeClr val="accent4"/>
              </a:buClr>
              <a:buSzPts val="1500"/>
              <a:buNone/>
              <a:defRPr sz="1500">
                <a:solidFill>
                  <a:schemeClr val="accent4"/>
                </a:solidFill>
              </a:defRPr>
            </a:lvl2pPr>
            <a:lvl3pPr lvl="2" rtl="0">
              <a:spcBef>
                <a:spcPts val="0"/>
              </a:spcBef>
              <a:spcAft>
                <a:spcPts val="0"/>
              </a:spcAft>
              <a:buClr>
                <a:schemeClr val="accent4"/>
              </a:buClr>
              <a:buSzPts val="1500"/>
              <a:buNone/>
              <a:defRPr sz="1500">
                <a:solidFill>
                  <a:schemeClr val="accent4"/>
                </a:solidFill>
              </a:defRPr>
            </a:lvl3pPr>
            <a:lvl4pPr lvl="3" rtl="0">
              <a:spcBef>
                <a:spcPts val="0"/>
              </a:spcBef>
              <a:spcAft>
                <a:spcPts val="0"/>
              </a:spcAft>
              <a:buClr>
                <a:schemeClr val="accent4"/>
              </a:buClr>
              <a:buSzPts val="1500"/>
              <a:buNone/>
              <a:defRPr sz="1500">
                <a:solidFill>
                  <a:schemeClr val="accent4"/>
                </a:solidFill>
              </a:defRPr>
            </a:lvl4pPr>
            <a:lvl5pPr lvl="4" rtl="0">
              <a:spcBef>
                <a:spcPts val="0"/>
              </a:spcBef>
              <a:spcAft>
                <a:spcPts val="0"/>
              </a:spcAft>
              <a:buClr>
                <a:schemeClr val="accent4"/>
              </a:buClr>
              <a:buSzPts val="1500"/>
              <a:buNone/>
              <a:defRPr sz="1500">
                <a:solidFill>
                  <a:schemeClr val="accent4"/>
                </a:solidFill>
              </a:defRPr>
            </a:lvl5pPr>
            <a:lvl6pPr lvl="5" rtl="0">
              <a:spcBef>
                <a:spcPts val="0"/>
              </a:spcBef>
              <a:spcAft>
                <a:spcPts val="0"/>
              </a:spcAft>
              <a:buClr>
                <a:schemeClr val="accent4"/>
              </a:buClr>
              <a:buSzPts val="1500"/>
              <a:buNone/>
              <a:defRPr sz="1500">
                <a:solidFill>
                  <a:schemeClr val="accent4"/>
                </a:solidFill>
              </a:defRPr>
            </a:lvl6pPr>
            <a:lvl7pPr lvl="6" rtl="0">
              <a:spcBef>
                <a:spcPts val="0"/>
              </a:spcBef>
              <a:spcAft>
                <a:spcPts val="0"/>
              </a:spcAft>
              <a:buClr>
                <a:schemeClr val="accent4"/>
              </a:buClr>
              <a:buSzPts val="1500"/>
              <a:buNone/>
              <a:defRPr sz="1500">
                <a:solidFill>
                  <a:schemeClr val="accent4"/>
                </a:solidFill>
              </a:defRPr>
            </a:lvl7pPr>
            <a:lvl8pPr lvl="7" rtl="0">
              <a:spcBef>
                <a:spcPts val="0"/>
              </a:spcBef>
              <a:spcAft>
                <a:spcPts val="0"/>
              </a:spcAft>
              <a:buClr>
                <a:schemeClr val="accent4"/>
              </a:buClr>
              <a:buSzPts val="1500"/>
              <a:buNone/>
              <a:defRPr sz="1500">
                <a:solidFill>
                  <a:schemeClr val="accent4"/>
                </a:solidFill>
              </a:defRPr>
            </a:lvl8pPr>
            <a:lvl9pPr lvl="8" rtl="0">
              <a:spcBef>
                <a:spcPts val="0"/>
              </a:spcBef>
              <a:spcAft>
                <a:spcPts val="0"/>
              </a:spcAft>
              <a:buClr>
                <a:schemeClr val="accent4"/>
              </a:buClr>
              <a:buSzPts val="1500"/>
              <a:buNone/>
              <a:defRPr sz="1500">
                <a:solidFill>
                  <a:schemeClr val="accent4"/>
                </a:solidFill>
              </a:defRPr>
            </a:lvl9pPr>
          </a:lstStyle>
          <a:p>
            <a:endParaRPr/>
          </a:p>
        </p:txBody>
      </p:sp>
    </p:spTree>
    <p:extLst>
      <p:ext uri="{BB962C8B-B14F-4D97-AF65-F5344CB8AC3E}">
        <p14:creationId xmlns:p14="http://schemas.microsoft.com/office/powerpoint/2010/main" val="4909713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alf Page Quote">
  <p:cSld name="Half Page Quote">
    <p:spTree>
      <p:nvGrpSpPr>
        <p:cNvPr id="1" name="Shape 53"/>
        <p:cNvGrpSpPr/>
        <p:nvPr/>
      </p:nvGrpSpPr>
      <p:grpSpPr>
        <a:xfrm>
          <a:off x="0" y="0"/>
          <a:ext cx="0" cy="0"/>
          <a:chOff x="0" y="0"/>
          <a:chExt cx="0" cy="0"/>
        </a:xfrm>
      </p:grpSpPr>
      <p:sp>
        <p:nvSpPr>
          <p:cNvPr id="54" name="Google Shape;5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5" name="Google Shape;55;p16"/>
          <p:cNvSpPr txBox="1">
            <a:spLocks noGrp="1"/>
          </p:cNvSpPr>
          <p:nvPr>
            <p:ph type="title"/>
          </p:nvPr>
        </p:nvSpPr>
        <p:spPr>
          <a:xfrm>
            <a:off x="311700" y="555600"/>
            <a:ext cx="4312800" cy="41076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2900"/>
              <a:buNone/>
              <a:defRPr sz="29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extLst>
      <p:ext uri="{BB962C8B-B14F-4D97-AF65-F5344CB8AC3E}">
        <p14:creationId xmlns:p14="http://schemas.microsoft.com/office/powerpoint/2010/main" val="32470279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Half Page Number">
  <p:cSld name="Half Page Number">
    <p:spTree>
      <p:nvGrpSpPr>
        <p:cNvPr id="1" name="Shape 58"/>
        <p:cNvGrpSpPr/>
        <p:nvPr/>
      </p:nvGrpSpPr>
      <p:grpSpPr>
        <a:xfrm>
          <a:off x="0" y="0"/>
          <a:ext cx="0" cy="0"/>
          <a:chOff x="0" y="0"/>
          <a:chExt cx="0" cy="0"/>
        </a:xfrm>
      </p:grpSpPr>
      <p:sp>
        <p:nvSpPr>
          <p:cNvPr id="59" name="Google Shape;5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60" name="Google Shape;60;p17"/>
          <p:cNvSpPr txBox="1">
            <a:spLocks noGrp="1"/>
          </p:cNvSpPr>
          <p:nvPr>
            <p:ph type="title" hasCustomPrompt="1"/>
          </p:nvPr>
        </p:nvSpPr>
        <p:spPr>
          <a:xfrm>
            <a:off x="311700" y="1840275"/>
            <a:ext cx="2518500" cy="1462200"/>
          </a:xfrm>
          <a:prstGeom prst="rect">
            <a:avLst/>
          </a:prstGeom>
        </p:spPr>
        <p:txBody>
          <a:bodyPr spcFirstLastPara="1" wrap="square" lIns="91425" tIns="91425" rIns="91425" bIns="91425" anchor="b" anchorCtr="0">
            <a:normAutofit/>
          </a:bodyPr>
          <a:lstStyle>
            <a:lvl1pPr lvl="0" rtl="0">
              <a:spcBef>
                <a:spcPts val="0"/>
              </a:spcBef>
              <a:spcAft>
                <a:spcPts val="0"/>
              </a:spcAft>
              <a:buClr>
                <a:srgbClr val="202124"/>
              </a:buClr>
              <a:buSzPts val="8700"/>
              <a:buNone/>
              <a:defRPr sz="8700">
                <a:solidFill>
                  <a:srgbClr val="202124"/>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 name="Google Shape;61;p17"/>
          <p:cNvSpPr txBox="1">
            <a:spLocks noGrp="1"/>
          </p:cNvSpPr>
          <p:nvPr>
            <p:ph type="title" idx="2"/>
          </p:nvPr>
        </p:nvSpPr>
        <p:spPr>
          <a:xfrm>
            <a:off x="311700" y="1257225"/>
            <a:ext cx="39942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None/>
              <a:defRPr>
                <a:solidFill>
                  <a:srgbClr val="5F6368"/>
                </a:solidFill>
              </a:defRPr>
            </a:lvl2pPr>
            <a:lvl3pPr lvl="2" rtl="0">
              <a:spcBef>
                <a:spcPts val="0"/>
              </a:spcBef>
              <a:spcAft>
                <a:spcPts val="0"/>
              </a:spcAft>
              <a:buClr>
                <a:srgbClr val="5F6368"/>
              </a:buClr>
              <a:buSzPts val="2800"/>
              <a:buNone/>
              <a:defRPr>
                <a:solidFill>
                  <a:srgbClr val="5F6368"/>
                </a:solidFill>
              </a:defRPr>
            </a:lvl3pPr>
            <a:lvl4pPr lvl="3" rtl="0">
              <a:spcBef>
                <a:spcPts val="0"/>
              </a:spcBef>
              <a:spcAft>
                <a:spcPts val="0"/>
              </a:spcAft>
              <a:buClr>
                <a:srgbClr val="5F6368"/>
              </a:buClr>
              <a:buSzPts val="2800"/>
              <a:buNone/>
              <a:defRPr>
                <a:solidFill>
                  <a:srgbClr val="5F6368"/>
                </a:solidFill>
              </a:defRPr>
            </a:lvl4pPr>
            <a:lvl5pPr lvl="4" rtl="0">
              <a:spcBef>
                <a:spcPts val="0"/>
              </a:spcBef>
              <a:spcAft>
                <a:spcPts val="0"/>
              </a:spcAft>
              <a:buClr>
                <a:srgbClr val="5F6368"/>
              </a:buClr>
              <a:buSzPts val="2800"/>
              <a:buNone/>
              <a:defRPr>
                <a:solidFill>
                  <a:srgbClr val="5F6368"/>
                </a:solidFill>
              </a:defRPr>
            </a:lvl5pPr>
            <a:lvl6pPr lvl="5" rtl="0">
              <a:spcBef>
                <a:spcPts val="0"/>
              </a:spcBef>
              <a:spcAft>
                <a:spcPts val="0"/>
              </a:spcAft>
              <a:buClr>
                <a:srgbClr val="5F6368"/>
              </a:buClr>
              <a:buSzPts val="2800"/>
              <a:buNone/>
              <a:defRPr>
                <a:solidFill>
                  <a:srgbClr val="5F6368"/>
                </a:solidFill>
              </a:defRPr>
            </a:lvl6pPr>
            <a:lvl7pPr lvl="6" rtl="0">
              <a:spcBef>
                <a:spcPts val="0"/>
              </a:spcBef>
              <a:spcAft>
                <a:spcPts val="0"/>
              </a:spcAft>
              <a:buClr>
                <a:srgbClr val="5F6368"/>
              </a:buClr>
              <a:buSzPts val="2800"/>
              <a:buNone/>
              <a:defRPr>
                <a:solidFill>
                  <a:srgbClr val="5F6368"/>
                </a:solidFill>
              </a:defRPr>
            </a:lvl7pPr>
            <a:lvl8pPr lvl="7" rtl="0">
              <a:spcBef>
                <a:spcPts val="0"/>
              </a:spcBef>
              <a:spcAft>
                <a:spcPts val="0"/>
              </a:spcAft>
              <a:buClr>
                <a:srgbClr val="5F6368"/>
              </a:buClr>
              <a:buSzPts val="2800"/>
              <a:buNone/>
              <a:defRPr>
                <a:solidFill>
                  <a:srgbClr val="5F6368"/>
                </a:solidFill>
              </a:defRPr>
            </a:lvl8pPr>
            <a:lvl9pPr lvl="8" rtl="0">
              <a:spcBef>
                <a:spcPts val="0"/>
              </a:spcBef>
              <a:spcAft>
                <a:spcPts val="0"/>
              </a:spcAft>
              <a:buClr>
                <a:srgbClr val="5F6368"/>
              </a:buClr>
              <a:buSzPts val="2800"/>
              <a:buNone/>
              <a:defRPr>
                <a:solidFill>
                  <a:srgbClr val="5F6368"/>
                </a:solidFill>
              </a:defRPr>
            </a:lvl9pPr>
          </a:lstStyle>
          <a:p>
            <a:endParaRPr/>
          </a:p>
        </p:txBody>
      </p:sp>
      <p:sp>
        <p:nvSpPr>
          <p:cNvPr id="62" name="Google Shape;62;p17"/>
          <p:cNvSpPr txBox="1">
            <a:spLocks noGrp="1"/>
          </p:cNvSpPr>
          <p:nvPr>
            <p:ph type="title" idx="3"/>
          </p:nvPr>
        </p:nvSpPr>
        <p:spPr>
          <a:xfrm>
            <a:off x="311700" y="3302475"/>
            <a:ext cx="41211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2pPr>
            <a:lvl3pPr lvl="2"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3pPr>
            <a:lvl4pPr lvl="3"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4pPr>
            <a:lvl5pPr lvl="4"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5pPr>
            <a:lvl6pPr lvl="5"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6pPr>
            <a:lvl7pPr lvl="6"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7pPr>
            <a:lvl8pPr lvl="7"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8pPr>
            <a:lvl9pPr lvl="8"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9pPr>
          </a:lstStyle>
          <a:p>
            <a:endParaRPr/>
          </a:p>
        </p:txBody>
      </p:sp>
    </p:spTree>
    <p:extLst>
      <p:ext uri="{BB962C8B-B14F-4D97-AF65-F5344CB8AC3E}">
        <p14:creationId xmlns:p14="http://schemas.microsoft.com/office/powerpoint/2010/main" val="36642352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mp; One Column">
  <p:cSld name="Title &amp; One Column">
    <p:spTree>
      <p:nvGrpSpPr>
        <p:cNvPr id="1" name="Shape 31"/>
        <p:cNvGrpSpPr/>
        <p:nvPr/>
      </p:nvGrpSpPr>
      <p:grpSpPr>
        <a:xfrm>
          <a:off x="0" y="0"/>
          <a:ext cx="0" cy="0"/>
          <a:chOff x="0" y="0"/>
          <a:chExt cx="0" cy="0"/>
        </a:xfrm>
      </p:grpSpPr>
      <p:sp>
        <p:nvSpPr>
          <p:cNvPr id="32" name="Google Shape;32;p5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3" name="Google Shape;33;p5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2pPr>
            <a:lvl3pPr marL="1371600" lvl="2"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3pPr>
            <a:lvl4pPr marL="1828800" lvl="3"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4pPr>
            <a:lvl5pPr marL="2286000" lvl="4"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5pPr>
            <a:lvl6pPr marL="2743200" lvl="5"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6pPr>
            <a:lvl7pPr marL="3200400" lvl="6"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7pPr>
            <a:lvl8pPr marL="3657600" lvl="7"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8pPr>
            <a:lvl9pPr marL="4114800" lvl="8"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9pPr>
          </a:lstStyle>
          <a:p>
            <a:endParaRPr/>
          </a:p>
        </p:txBody>
      </p:sp>
      <p:sp>
        <p:nvSpPr>
          <p:cNvPr id="34" name="Google Shape;34;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77101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02E1A2-9E5A-FEBE-35A6-C2C44B84E057}"/>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01E4B17-0181-BDBB-EBF6-A5B836A69E96}"/>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EC00721-629B-E58A-92CD-36EA429CDF85}"/>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D77A9FB6-8E5D-495F-BF84-C9F7C49074E3}" type="datetimeFigureOut">
              <a:rPr lang="en-CA" smtClean="0"/>
              <a:t>2025-04-18</a:t>
            </a:fld>
            <a:endParaRPr lang="en-CA"/>
          </a:p>
        </p:txBody>
      </p:sp>
      <p:sp>
        <p:nvSpPr>
          <p:cNvPr id="5" name="Footer Placeholder 4">
            <a:extLst>
              <a:ext uri="{FF2B5EF4-FFF2-40B4-BE49-F238E27FC236}">
                <a16:creationId xmlns:a16="http://schemas.microsoft.com/office/drawing/2014/main" id="{CF83051F-2484-9601-24DB-A47FE0C5047A}"/>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F725CA75-26DF-236D-3362-E95B521142C7}"/>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070715252"/>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4" r:id="rId15"/>
    <p:sldLayoutId id="2147483685" r:id="rId16"/>
    <p:sldLayoutId id="2147483686" r:id="rId17"/>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image" Target="../media/image23.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2.xml"/><Relationship Id="rId1" Type="http://schemas.openxmlformats.org/officeDocument/2006/relationships/slideLayout" Target="../slideLayouts/slideLayout16.xml"/><Relationship Id="rId4" Type="http://schemas.openxmlformats.org/officeDocument/2006/relationships/image" Target="../media/image25.gif"/></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3" Type="http://schemas.openxmlformats.org/officeDocument/2006/relationships/image" Target="../media/image27.gif"/><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6.xml"/><Relationship Id="rId4" Type="http://schemas.openxmlformats.org/officeDocument/2006/relationships/image" Target="../media/image3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8" name="Google Shape;118;p24"/>
          <p:cNvSpPr txBox="1">
            <a:spLocks noGrp="1"/>
          </p:cNvSpPr>
          <p:nvPr>
            <p:ph type="title"/>
          </p:nvPr>
        </p:nvSpPr>
        <p:spPr>
          <a:xfrm>
            <a:off x="372525" y="1374389"/>
            <a:ext cx="5337717" cy="2089044"/>
          </a:xfrm>
          <a:prstGeom prst="rect">
            <a:avLst/>
          </a:prstGeom>
        </p:spPr>
        <p:txBody>
          <a:bodyPr spcFirstLastPara="1" wrap="square" lIns="0" tIns="0" rIns="0" bIns="0" anchor="t" anchorCtr="0">
            <a:normAutofit fontScale="90000"/>
          </a:bodyPr>
          <a:lstStyle/>
          <a:p>
            <a:pPr algn="l"/>
            <a:r>
              <a:rPr lang="en-US" sz="3100" b="1" i="0" dirty="0">
                <a:solidFill>
                  <a:srgbClr val="180101"/>
                </a:solidFill>
                <a:effectLst/>
                <a:latin typeface="Google Sans" panose="020B0604020202020204" charset="0"/>
                <a:ea typeface="Google Sans" panose="020B0604020202020204" charset="0"/>
                <a:cs typeface="Google Sans" panose="020B0604020202020204" charset="0"/>
              </a:rPr>
              <a:t>Designing for Neurodiversity, Empathy, Human Centric Design and Inclusion in Software Applications</a:t>
            </a:r>
            <a:br>
              <a:rPr lang="en-US" b="1" i="0" dirty="0">
                <a:solidFill>
                  <a:srgbClr val="180101"/>
                </a:solidFill>
                <a:effectLst/>
                <a:latin typeface="Arial" panose="020B0604020202020204" pitchFamily="34" charset="0"/>
              </a:rPr>
            </a:br>
            <a:br>
              <a:rPr lang="en-US" dirty="0"/>
            </a:br>
            <a:endParaRPr dirty="0"/>
          </a:p>
        </p:txBody>
      </p:sp>
      <p:pic>
        <p:nvPicPr>
          <p:cNvPr id="8" name="Picture 7">
            <a:extLst>
              <a:ext uri="{FF2B5EF4-FFF2-40B4-BE49-F238E27FC236}">
                <a16:creationId xmlns:a16="http://schemas.microsoft.com/office/drawing/2014/main" id="{BA550754-2D2F-1777-BF52-8837E6592D50}"/>
              </a:ext>
            </a:extLst>
          </p:cNvPr>
          <p:cNvPicPr>
            <a:picLocks noChangeAspect="1"/>
          </p:cNvPicPr>
          <p:nvPr/>
        </p:nvPicPr>
        <p:blipFill>
          <a:blip r:embed="rId3"/>
          <a:stretch>
            <a:fillRect/>
          </a:stretch>
        </p:blipFill>
        <p:spPr>
          <a:xfrm>
            <a:off x="5710242" y="0"/>
            <a:ext cx="3433757" cy="4705815"/>
          </a:xfrm>
          <a:prstGeom prst="rect">
            <a:avLst/>
          </a:prstGeom>
        </p:spPr>
      </p:pic>
      <p:sp>
        <p:nvSpPr>
          <p:cNvPr id="4" name="Google Shape;118;p24">
            <a:extLst>
              <a:ext uri="{FF2B5EF4-FFF2-40B4-BE49-F238E27FC236}">
                <a16:creationId xmlns:a16="http://schemas.microsoft.com/office/drawing/2014/main" id="{01CA8699-C7AD-BA36-21A2-8A69DA57D012}"/>
              </a:ext>
            </a:extLst>
          </p:cNvPr>
          <p:cNvSpPr txBox="1">
            <a:spLocks/>
          </p:cNvSpPr>
          <p:nvPr/>
        </p:nvSpPr>
        <p:spPr>
          <a:xfrm>
            <a:off x="942109" y="3769112"/>
            <a:ext cx="4768133" cy="936704"/>
          </a:xfrm>
          <a:prstGeom prst="rect">
            <a:avLst/>
          </a:prstGeom>
        </p:spPr>
        <p:txBody>
          <a:bodyPr spcFirstLastPara="1" vert="horz" wrap="square" lIns="0" tIns="0" rIns="0" bIns="0" rtlCol="0" anchor="t" anchorCtr="0">
            <a:normAutofit fontScale="97500"/>
          </a:bodyPr>
          <a:lstStyle>
            <a:lvl1pPr lvl="0" algn="l" defTabSz="685800" rtl="0" eaLnBrk="1" latinLnBrk="0" hangingPunct="1">
              <a:lnSpc>
                <a:spcPct val="95000"/>
              </a:lnSpc>
              <a:spcBef>
                <a:spcPts val="0"/>
              </a:spcBef>
              <a:spcAft>
                <a:spcPts val="0"/>
              </a:spcAft>
              <a:buSzPts val="4000"/>
              <a:buNone/>
              <a:defRPr sz="4000" kern="1200">
                <a:solidFill>
                  <a:schemeClr val="tx1"/>
                </a:solidFill>
                <a:latin typeface="+mj-lt"/>
                <a:ea typeface="+mj-ea"/>
                <a:cs typeface="+mj-cs"/>
              </a:defRPr>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r>
              <a:rPr lang="en-US" sz="2400" b="1" dirty="0">
                <a:latin typeface="Google Sans" panose="020B0604020202020204" charset="0"/>
                <a:ea typeface="Google Sans" panose="020B0604020202020204" charset="0"/>
                <a:cs typeface="Google Sans" panose="020B0604020202020204" charset="0"/>
              </a:rPr>
              <a:t>Vaishnavi Venkata Subramanian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6">
            <a:extLst>
              <a:ext uri="{FF2B5EF4-FFF2-40B4-BE49-F238E27FC236}">
                <a16:creationId xmlns:a16="http://schemas.microsoft.com/office/drawing/2014/main" id="{FD40FCDA-4562-C04A-72CD-E89B470385EE}"/>
              </a:ext>
            </a:extLst>
          </p:cNvPr>
          <p:cNvSpPr txBox="1"/>
          <p:nvPr/>
        </p:nvSpPr>
        <p:spPr>
          <a:xfrm>
            <a:off x="3926684" y="1176912"/>
            <a:ext cx="5217316" cy="3183491"/>
          </a:xfrm>
          <a:prstGeom prst="rect">
            <a:avLst/>
          </a:prstGeom>
        </p:spPr>
        <p:txBody>
          <a:bodyPr lIns="33867" tIns="33867" rIns="33867" bIns="33867" rtlCol="0" anchor="ctr"/>
          <a:lstStyle/>
          <a:p>
            <a:pPr algn="ctr">
              <a:lnSpc>
                <a:spcPts val="1773"/>
              </a:lnSpc>
              <a:spcBef>
                <a:spcPct val="0"/>
              </a:spcBef>
            </a:pPr>
            <a:endParaRPr sz="1200"/>
          </a:p>
        </p:txBody>
      </p:sp>
      <p:pic>
        <p:nvPicPr>
          <p:cNvPr id="7" name="Picture 7">
            <a:extLst>
              <a:ext uri="{FF2B5EF4-FFF2-40B4-BE49-F238E27FC236}">
                <a16:creationId xmlns:a16="http://schemas.microsoft.com/office/drawing/2014/main" id="{D1DDB7C7-1AC6-3286-55F4-6BAA86BB85AB}"/>
              </a:ext>
            </a:extLst>
          </p:cNvPr>
          <p:cNvPicPr>
            <a:picLocks noChangeAspect="1"/>
          </p:cNvPicPr>
          <p:nvPr/>
        </p:nvPicPr>
        <p:blipFill>
          <a:blip r:embed="rId2"/>
          <a:srcRect/>
          <a:stretch>
            <a:fillRect/>
          </a:stretch>
        </p:blipFill>
        <p:spPr>
          <a:xfrm>
            <a:off x="356293" y="512128"/>
            <a:ext cx="3272381" cy="4487422"/>
          </a:xfrm>
          <a:prstGeom prst="rect">
            <a:avLst/>
          </a:prstGeom>
        </p:spPr>
      </p:pic>
      <p:grpSp>
        <p:nvGrpSpPr>
          <p:cNvPr id="8" name="Group 4">
            <a:extLst>
              <a:ext uri="{FF2B5EF4-FFF2-40B4-BE49-F238E27FC236}">
                <a16:creationId xmlns:a16="http://schemas.microsoft.com/office/drawing/2014/main" id="{32FEF0F8-77B4-32FC-6269-6DEE672D475F}"/>
              </a:ext>
            </a:extLst>
          </p:cNvPr>
          <p:cNvGrpSpPr/>
          <p:nvPr/>
        </p:nvGrpSpPr>
        <p:grpSpPr>
          <a:xfrm>
            <a:off x="4274307" y="1176912"/>
            <a:ext cx="4355816" cy="3097375"/>
            <a:chOff x="0" y="0"/>
            <a:chExt cx="2659503" cy="1087242"/>
          </a:xfrm>
        </p:grpSpPr>
        <p:sp>
          <p:nvSpPr>
            <p:cNvPr id="9" name="Freeform 5">
              <a:extLst>
                <a:ext uri="{FF2B5EF4-FFF2-40B4-BE49-F238E27FC236}">
                  <a16:creationId xmlns:a16="http://schemas.microsoft.com/office/drawing/2014/main" id="{CE03B922-63CB-0F5D-8C0A-966F648EFAD6}"/>
                </a:ext>
              </a:extLst>
            </p:cNvPr>
            <p:cNvSpPr/>
            <p:nvPr/>
          </p:nvSpPr>
          <p:spPr>
            <a:xfrm>
              <a:off x="0" y="0"/>
              <a:ext cx="2659503" cy="1087241"/>
            </a:xfrm>
            <a:custGeom>
              <a:avLst/>
              <a:gdLst/>
              <a:ahLst/>
              <a:cxnLst/>
              <a:rect l="l" t="t" r="r" b="b"/>
              <a:pathLst>
                <a:path w="2659503" h="1087241">
                  <a:moveTo>
                    <a:pt x="39101" y="0"/>
                  </a:moveTo>
                  <a:lnTo>
                    <a:pt x="2620402" y="0"/>
                  </a:lnTo>
                  <a:cubicBezTo>
                    <a:pt x="2630772" y="0"/>
                    <a:pt x="2640718" y="4120"/>
                    <a:pt x="2648051" y="11453"/>
                  </a:cubicBezTo>
                  <a:cubicBezTo>
                    <a:pt x="2655384" y="18785"/>
                    <a:pt x="2659503" y="28731"/>
                    <a:pt x="2659503" y="39101"/>
                  </a:cubicBezTo>
                  <a:lnTo>
                    <a:pt x="2659503" y="1048140"/>
                  </a:lnTo>
                  <a:cubicBezTo>
                    <a:pt x="2659503" y="1058510"/>
                    <a:pt x="2655384" y="1068456"/>
                    <a:pt x="2648051" y="1075789"/>
                  </a:cubicBezTo>
                  <a:cubicBezTo>
                    <a:pt x="2640718" y="1083122"/>
                    <a:pt x="2630772" y="1087241"/>
                    <a:pt x="2620402" y="1087241"/>
                  </a:cubicBezTo>
                  <a:lnTo>
                    <a:pt x="39101" y="1087241"/>
                  </a:lnTo>
                  <a:cubicBezTo>
                    <a:pt x="28731" y="1087241"/>
                    <a:pt x="18785" y="1083122"/>
                    <a:pt x="11453" y="1075789"/>
                  </a:cubicBezTo>
                  <a:cubicBezTo>
                    <a:pt x="4120" y="1068456"/>
                    <a:pt x="0" y="1058510"/>
                    <a:pt x="0" y="1048140"/>
                  </a:cubicBezTo>
                  <a:lnTo>
                    <a:pt x="0" y="39101"/>
                  </a:lnTo>
                  <a:cubicBezTo>
                    <a:pt x="0" y="28731"/>
                    <a:pt x="4120" y="18785"/>
                    <a:pt x="11453" y="11453"/>
                  </a:cubicBezTo>
                  <a:cubicBezTo>
                    <a:pt x="18785" y="4120"/>
                    <a:pt x="28731" y="0"/>
                    <a:pt x="39101" y="0"/>
                  </a:cubicBezTo>
                  <a:close/>
                </a:path>
              </a:pathLst>
            </a:custGeom>
            <a:solidFill>
              <a:srgbClr val="2572CA">
                <a:alpha val="28627"/>
              </a:srgbClr>
            </a:solidFill>
          </p:spPr>
        </p:sp>
        <p:sp>
          <p:nvSpPr>
            <p:cNvPr id="10" name="TextBox 6">
              <a:extLst>
                <a:ext uri="{FF2B5EF4-FFF2-40B4-BE49-F238E27FC236}">
                  <a16:creationId xmlns:a16="http://schemas.microsoft.com/office/drawing/2014/main" id="{B296B5C8-3586-A813-E026-220505291844}"/>
                </a:ext>
              </a:extLst>
            </p:cNvPr>
            <p:cNvSpPr txBox="1"/>
            <p:nvPr/>
          </p:nvSpPr>
          <p:spPr>
            <a:xfrm>
              <a:off x="0" y="-38100"/>
              <a:ext cx="2659503" cy="1125342"/>
            </a:xfrm>
            <a:prstGeom prst="rect">
              <a:avLst/>
            </a:prstGeom>
          </p:spPr>
          <p:txBody>
            <a:bodyPr lIns="33867" tIns="33867" rIns="33867" bIns="33867" rtlCol="0" anchor="ctr"/>
            <a:lstStyle/>
            <a:p>
              <a:pPr algn="ctr">
                <a:lnSpc>
                  <a:spcPts val="1773"/>
                </a:lnSpc>
                <a:spcBef>
                  <a:spcPct val="0"/>
                </a:spcBef>
              </a:pPr>
              <a:endParaRPr sz="1200"/>
            </a:p>
          </p:txBody>
        </p:sp>
      </p:grpSp>
      <p:sp>
        <p:nvSpPr>
          <p:cNvPr id="14" name="TextBox 13">
            <a:extLst>
              <a:ext uri="{FF2B5EF4-FFF2-40B4-BE49-F238E27FC236}">
                <a16:creationId xmlns:a16="http://schemas.microsoft.com/office/drawing/2014/main" id="{68CD3FC8-9437-1685-3EAF-1848EFE0E112}"/>
              </a:ext>
            </a:extLst>
          </p:cNvPr>
          <p:cNvSpPr txBox="1"/>
          <p:nvPr/>
        </p:nvSpPr>
        <p:spPr>
          <a:xfrm>
            <a:off x="4677798" y="2040397"/>
            <a:ext cx="3740728" cy="830997"/>
          </a:xfrm>
          <a:prstGeom prst="rect">
            <a:avLst/>
          </a:prstGeom>
          <a:noFill/>
        </p:spPr>
        <p:txBody>
          <a:bodyPr wrap="square">
            <a:spAutoFit/>
          </a:bodyPr>
          <a:lstStyle/>
          <a:p>
            <a:pPr algn="ctr"/>
            <a:r>
              <a:rPr lang="en-CA" sz="4800" dirty="0"/>
              <a:t>Kachow!</a:t>
            </a:r>
          </a:p>
        </p:txBody>
      </p:sp>
    </p:spTree>
    <p:extLst>
      <p:ext uri="{BB962C8B-B14F-4D97-AF65-F5344CB8AC3E}">
        <p14:creationId xmlns:p14="http://schemas.microsoft.com/office/powerpoint/2010/main" val="14133530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979016-BDDD-A245-88EC-82508EC2BAC9}"/>
              </a:ext>
            </a:extLst>
          </p:cNvPr>
          <p:cNvPicPr>
            <a:picLocks noChangeAspect="1"/>
          </p:cNvPicPr>
          <p:nvPr/>
        </p:nvPicPr>
        <p:blipFill>
          <a:blip r:embed="rId2"/>
          <a:stretch>
            <a:fillRect/>
          </a:stretch>
        </p:blipFill>
        <p:spPr>
          <a:xfrm>
            <a:off x="242455" y="0"/>
            <a:ext cx="8841836" cy="4990174"/>
          </a:xfrm>
          <a:prstGeom prst="rect">
            <a:avLst/>
          </a:prstGeom>
        </p:spPr>
      </p:pic>
    </p:spTree>
    <p:extLst>
      <p:ext uri="{BB962C8B-B14F-4D97-AF65-F5344CB8AC3E}">
        <p14:creationId xmlns:p14="http://schemas.microsoft.com/office/powerpoint/2010/main" val="3193028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2" name="Picture 1">
            <a:extLst>
              <a:ext uri="{FF2B5EF4-FFF2-40B4-BE49-F238E27FC236}">
                <a16:creationId xmlns:a16="http://schemas.microsoft.com/office/drawing/2014/main" id="{24C62FC7-650B-D4A9-63A6-5BE8BC53BE40}"/>
              </a:ext>
            </a:extLst>
          </p:cNvPr>
          <p:cNvPicPr>
            <a:picLocks noChangeAspect="1"/>
          </p:cNvPicPr>
          <p:nvPr/>
        </p:nvPicPr>
        <p:blipFill>
          <a:blip r:embed="rId3"/>
          <a:stretch>
            <a:fillRect/>
          </a:stretch>
        </p:blipFill>
        <p:spPr>
          <a:xfrm>
            <a:off x="2256796" y="0"/>
            <a:ext cx="4244899"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3E17B6-81C7-4A65-54FF-D866CA6AC07F}"/>
              </a:ext>
            </a:extLst>
          </p:cNvPr>
          <p:cNvPicPr>
            <a:picLocks noChangeAspect="1"/>
          </p:cNvPicPr>
          <p:nvPr/>
        </p:nvPicPr>
        <p:blipFill>
          <a:blip r:embed="rId3"/>
          <a:stretch>
            <a:fillRect/>
          </a:stretch>
        </p:blipFill>
        <p:spPr>
          <a:xfrm>
            <a:off x="367146" y="0"/>
            <a:ext cx="7502236" cy="5143500"/>
          </a:xfrm>
          <a:prstGeom prst="rect">
            <a:avLst/>
          </a:prstGeom>
        </p:spPr>
      </p:pic>
      <p:sp>
        <p:nvSpPr>
          <p:cNvPr id="2" name="TextBox 1">
            <a:extLst>
              <a:ext uri="{FF2B5EF4-FFF2-40B4-BE49-F238E27FC236}">
                <a16:creationId xmlns:a16="http://schemas.microsoft.com/office/drawing/2014/main" id="{620CF635-A94A-9FD8-B8AB-2507004B2D49}"/>
              </a:ext>
            </a:extLst>
          </p:cNvPr>
          <p:cNvSpPr txBox="1"/>
          <p:nvPr/>
        </p:nvSpPr>
        <p:spPr>
          <a:xfrm>
            <a:off x="419883" y="352621"/>
            <a:ext cx="2752808" cy="523220"/>
          </a:xfrm>
          <a:prstGeom prst="rect">
            <a:avLst/>
          </a:prstGeom>
          <a:noFill/>
        </p:spPr>
        <p:txBody>
          <a:bodyPr wrap="square" rtlCol="0">
            <a:spAutoFit/>
          </a:bodyPr>
          <a:lstStyle/>
          <a:p>
            <a:r>
              <a:rPr lang="en-CA" sz="2800" dirty="0"/>
              <a:t>Social Battery</a:t>
            </a:r>
          </a:p>
        </p:txBody>
      </p:sp>
    </p:spTree>
    <p:extLst>
      <p:ext uri="{BB962C8B-B14F-4D97-AF65-F5344CB8AC3E}">
        <p14:creationId xmlns:p14="http://schemas.microsoft.com/office/powerpoint/2010/main" val="3824505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Shape 196"/>
        <p:cNvGrpSpPr/>
        <p:nvPr/>
      </p:nvGrpSpPr>
      <p:grpSpPr>
        <a:xfrm>
          <a:off x="0" y="0"/>
          <a:ext cx="0" cy="0"/>
          <a:chOff x="0" y="0"/>
          <a:chExt cx="0" cy="0"/>
        </a:xfrm>
      </p:grpSpPr>
      <p:sp>
        <p:nvSpPr>
          <p:cNvPr id="197" name="Google Shape;197;p16"/>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Glossophobia</a:t>
            </a:r>
            <a:endParaRPr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6832698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AB82BDD0-F8C7-D8DF-5836-47677E1E76D1}"/>
            </a:ext>
          </a:extLst>
        </p:cNvPr>
        <p:cNvGrpSpPr/>
        <p:nvPr/>
      </p:nvGrpSpPr>
      <p:grpSpPr>
        <a:xfrm>
          <a:off x="0" y="0"/>
          <a:ext cx="0" cy="0"/>
          <a:chOff x="0" y="0"/>
          <a:chExt cx="0" cy="0"/>
        </a:xfrm>
      </p:grpSpPr>
      <p:sp>
        <p:nvSpPr>
          <p:cNvPr id="197" name="Google Shape;197;p16">
            <a:extLst>
              <a:ext uri="{FF2B5EF4-FFF2-40B4-BE49-F238E27FC236}">
                <a16:creationId xmlns:a16="http://schemas.microsoft.com/office/drawing/2014/main" id="{B69F00E9-F715-2656-B59A-E837987C3142}"/>
              </a:ext>
            </a:extLst>
          </p:cNvPr>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Before November 30, 2022 and After</a:t>
            </a:r>
          </a:p>
        </p:txBody>
      </p:sp>
    </p:spTree>
    <p:extLst>
      <p:ext uri="{BB962C8B-B14F-4D97-AF65-F5344CB8AC3E}">
        <p14:creationId xmlns:p14="http://schemas.microsoft.com/office/powerpoint/2010/main" val="28516870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EFD4204-4972-E752-DAFD-D26B0355B5E6}"/>
              </a:ext>
            </a:extLst>
          </p:cNvPr>
          <p:cNvPicPr>
            <a:picLocks noChangeAspect="1"/>
          </p:cNvPicPr>
          <p:nvPr/>
        </p:nvPicPr>
        <p:blipFill>
          <a:blip r:embed="rId2"/>
          <a:stretch>
            <a:fillRect/>
          </a:stretch>
        </p:blipFill>
        <p:spPr>
          <a:xfrm>
            <a:off x="2391081" y="710880"/>
            <a:ext cx="3602294" cy="3602294"/>
          </a:xfrm>
          <a:prstGeom prst="rect">
            <a:avLst/>
          </a:prstGeom>
        </p:spPr>
      </p:pic>
    </p:spTree>
    <p:extLst>
      <p:ext uri="{BB962C8B-B14F-4D97-AF65-F5344CB8AC3E}">
        <p14:creationId xmlns:p14="http://schemas.microsoft.com/office/powerpoint/2010/main" val="19159310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Shape 196"/>
        <p:cNvGrpSpPr/>
        <p:nvPr/>
      </p:nvGrpSpPr>
      <p:grpSpPr>
        <a:xfrm>
          <a:off x="0" y="0"/>
          <a:ext cx="0" cy="0"/>
          <a:chOff x="0" y="0"/>
          <a:chExt cx="0" cy="0"/>
        </a:xfrm>
      </p:grpSpPr>
      <p:pic>
        <p:nvPicPr>
          <p:cNvPr id="2" name="Picture 1">
            <a:extLst>
              <a:ext uri="{FF2B5EF4-FFF2-40B4-BE49-F238E27FC236}">
                <a16:creationId xmlns:a16="http://schemas.microsoft.com/office/drawing/2014/main" id="{9830CEAC-18B9-58B9-7084-DD7539041A38}"/>
              </a:ext>
            </a:extLst>
          </p:cNvPr>
          <p:cNvPicPr>
            <a:picLocks noChangeAspect="1"/>
          </p:cNvPicPr>
          <p:nvPr/>
        </p:nvPicPr>
        <p:blipFill>
          <a:blip r:embed="rId3"/>
          <a:stretch>
            <a:fillRect/>
          </a:stretch>
        </p:blipFill>
        <p:spPr>
          <a:xfrm>
            <a:off x="0" y="-446288"/>
            <a:ext cx="9144000" cy="5589787"/>
          </a:xfrm>
          <a:prstGeom prst="rect">
            <a:avLst/>
          </a:prstGeom>
        </p:spPr>
      </p:pic>
    </p:spTree>
    <p:extLst>
      <p:ext uri="{BB962C8B-B14F-4D97-AF65-F5344CB8AC3E}">
        <p14:creationId xmlns:p14="http://schemas.microsoft.com/office/powerpoint/2010/main" val="3103196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16B6C-D5EA-FE20-54A0-D2A79887E68E}"/>
              </a:ext>
            </a:extLst>
          </p:cNvPr>
          <p:cNvSpPr>
            <a:spLocks noGrp="1"/>
          </p:cNvSpPr>
          <p:nvPr>
            <p:ph type="title"/>
          </p:nvPr>
        </p:nvSpPr>
        <p:spPr>
          <a:xfrm>
            <a:off x="2081505" y="2354941"/>
            <a:ext cx="5211572" cy="572700"/>
          </a:xfrm>
        </p:spPr>
        <p:txBody>
          <a:bodyPr/>
          <a:lstStyle/>
          <a:p>
            <a:r>
              <a:rPr lang="en-CA" dirty="0">
                <a:latin typeface="Google Sans" panose="020B0503030502040204" pitchFamily="34" charset="0"/>
              </a:rPr>
              <a:t>This presentation is for everyone!</a:t>
            </a:r>
          </a:p>
        </p:txBody>
      </p:sp>
    </p:spTree>
    <p:extLst>
      <p:ext uri="{BB962C8B-B14F-4D97-AF65-F5344CB8AC3E}">
        <p14:creationId xmlns:p14="http://schemas.microsoft.com/office/powerpoint/2010/main" val="35976049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2" name="Picture 1">
            <a:extLst>
              <a:ext uri="{FF2B5EF4-FFF2-40B4-BE49-F238E27FC236}">
                <a16:creationId xmlns:a16="http://schemas.microsoft.com/office/drawing/2014/main" id="{BD3689B9-6DB4-428B-BBA8-69C7F2595206}"/>
              </a:ext>
            </a:extLst>
          </p:cNvPr>
          <p:cNvPicPr>
            <a:picLocks noChangeAspect="1"/>
          </p:cNvPicPr>
          <p:nvPr/>
        </p:nvPicPr>
        <p:blipFill>
          <a:blip r:embed="rId3"/>
          <a:stretch>
            <a:fillRect/>
          </a:stretch>
        </p:blipFill>
        <p:spPr>
          <a:xfrm>
            <a:off x="0" y="0"/>
            <a:ext cx="9144000" cy="5143500"/>
          </a:xfrm>
          <a:prstGeom prst="rect">
            <a:avLst/>
          </a:prstGeom>
        </p:spPr>
      </p:pic>
    </p:spTree>
    <p:extLst>
      <p:ext uri="{BB962C8B-B14F-4D97-AF65-F5344CB8AC3E}">
        <p14:creationId xmlns:p14="http://schemas.microsoft.com/office/powerpoint/2010/main" val="1681517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744793" y="1873406"/>
            <a:ext cx="6897509" cy="2918951"/>
          </a:xfrm>
          <a:prstGeom prst="rect">
            <a:avLst/>
          </a:prstGeom>
        </p:spPr>
        <p:txBody>
          <a:bodyPr spcFirstLastPara="1" wrap="square" lIns="0" tIns="0" rIns="0" bIns="91425" anchor="t" anchorCtr="0">
            <a:noAutofit/>
          </a:bodyPr>
          <a:lstStyle/>
          <a:p>
            <a:pPr algn="ctr"/>
            <a:r>
              <a:rPr lang="en-US" sz="2200" b="0" dirty="0">
                <a:latin typeface="Google Sans" panose="020B0503030502040204" pitchFamily="34" charset="0"/>
                <a:ea typeface="Google Sans" panose="020B0604020202020204" charset="0"/>
                <a:cs typeface="Google Sans" panose="020B0604020202020204" charset="0"/>
              </a:rPr>
              <a:t>What is Neurodiversity?</a:t>
            </a:r>
            <a:br>
              <a:rPr lang="en-US" sz="2200" b="0" dirty="0">
                <a:latin typeface="Google Sans" panose="020B0503030502040204" pitchFamily="34" charset="0"/>
                <a:ea typeface="Google Sans" panose="020B0604020202020204" charset="0"/>
                <a:cs typeface="Google Sans" panose="020B0604020202020204" charset="0"/>
              </a:rPr>
            </a:br>
            <a:br>
              <a:rPr lang="en-US" sz="2200" b="0" dirty="0">
                <a:latin typeface="Google Sans" panose="020B0503030502040204" pitchFamily="34" charset="0"/>
                <a:ea typeface="Google Sans" panose="020B0604020202020204" charset="0"/>
                <a:cs typeface="Google Sans" panose="020B0604020202020204" charset="0"/>
              </a:rPr>
            </a:br>
            <a:r>
              <a:rPr lang="en-US" sz="2200" b="0" dirty="0">
                <a:latin typeface="Google Sans" panose="020B0503030502040204" pitchFamily="34" charset="0"/>
                <a:ea typeface="Google Sans" panose="020B0604020202020204" charset="0"/>
                <a:cs typeface="Google Sans" panose="020B0604020202020204" charset="0"/>
              </a:rPr>
              <a:t>Accessibility vs ND</a:t>
            </a:r>
            <a:br>
              <a:rPr lang="en-US" sz="2200" b="0" dirty="0">
                <a:latin typeface="Google Sans" panose="020B0503030502040204" pitchFamily="34" charset="0"/>
                <a:ea typeface="Google Sans" panose="020B0604020202020204" charset="0"/>
                <a:cs typeface="Google Sans" panose="020B0604020202020204" charset="0"/>
              </a:rPr>
            </a:br>
            <a:br>
              <a:rPr lang="en-US" sz="2200" b="0" dirty="0">
                <a:latin typeface="Google Sans" panose="020B0503030502040204" pitchFamily="34" charset="0"/>
                <a:ea typeface="Google Sans" panose="020B0604020202020204" charset="0"/>
                <a:cs typeface="Google Sans" panose="020B0604020202020204" charset="0"/>
              </a:rPr>
            </a:br>
            <a:r>
              <a:rPr lang="en-US" sz="2200" b="0" dirty="0">
                <a:latin typeface="Google Sans" panose="020B0503030502040204" pitchFamily="34" charset="0"/>
                <a:ea typeface="Google Sans" panose="020B0604020202020204" charset="0"/>
                <a:cs typeface="Google Sans" panose="020B0604020202020204" charset="0"/>
              </a:rPr>
              <a:t>Guidelines for Design</a:t>
            </a:r>
            <a:br>
              <a:rPr lang="en-US" sz="2200" b="0" dirty="0">
                <a:latin typeface="Google Sans" panose="020B0503030502040204" pitchFamily="34" charset="0"/>
                <a:ea typeface="Google Sans" panose="020B0604020202020204" charset="0"/>
                <a:cs typeface="Google Sans" panose="020B0604020202020204" charset="0"/>
              </a:rPr>
            </a:br>
            <a:br>
              <a:rPr lang="en-US" sz="2200" b="0" dirty="0">
                <a:latin typeface="Google Sans" panose="020B0503030502040204" pitchFamily="34" charset="0"/>
                <a:ea typeface="Google Sans" panose="020B0604020202020204" charset="0"/>
                <a:cs typeface="Google Sans" panose="020B0604020202020204" charset="0"/>
              </a:rPr>
            </a:br>
            <a:r>
              <a:rPr lang="en-US" sz="2200" b="0" dirty="0">
                <a:latin typeface="Google Sans" panose="020B0503030502040204" pitchFamily="34" charset="0"/>
                <a:ea typeface="Google Sans" panose="020B0604020202020204" charset="0"/>
                <a:cs typeface="Google Sans" panose="020B0604020202020204" charset="0"/>
              </a:rPr>
              <a:t>Concluding Remarks</a:t>
            </a:r>
            <a:br>
              <a:rPr lang="en-US" sz="2200" dirty="0">
                <a:latin typeface="Google Sans" panose="020B0503030502040204" pitchFamily="34" charset="0"/>
                <a:ea typeface="Roboto Mono Light" panose="020B0604020202020204" charset="0"/>
              </a:rPr>
            </a:br>
            <a:endParaRPr lang="en-CA" sz="2200" dirty="0">
              <a:latin typeface="Google Sans" panose="020B0503030502040204" pitchFamily="34" charset="0"/>
              <a:ea typeface="Roboto Mono Light" panose="020B0604020202020204" charset="0"/>
            </a:endParaRPr>
          </a:p>
        </p:txBody>
      </p:sp>
      <p:sp>
        <p:nvSpPr>
          <p:cNvPr id="147" name="Google Shape;147;p28"/>
          <p:cNvSpPr txBox="1">
            <a:spLocks noGrp="1"/>
          </p:cNvSpPr>
          <p:nvPr>
            <p:ph type="subTitle" idx="1"/>
          </p:nvPr>
        </p:nvSpPr>
        <p:spPr>
          <a:xfrm>
            <a:off x="2965700" y="944138"/>
            <a:ext cx="3212600" cy="929268"/>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en" sz="4000" b="1" dirty="0">
                <a:solidFill>
                  <a:schemeClr val="tx1"/>
                </a:solidFill>
              </a:rPr>
              <a:t>Agenda</a:t>
            </a:r>
            <a:endParaRPr sz="4000" b="1" dirty="0">
              <a:solidFill>
                <a:schemeClr val="tx1"/>
              </a:solidFill>
            </a:endParaRPr>
          </a:p>
        </p:txBody>
      </p:sp>
    </p:spTree>
    <p:extLst>
      <p:ext uri="{BB962C8B-B14F-4D97-AF65-F5344CB8AC3E}">
        <p14:creationId xmlns:p14="http://schemas.microsoft.com/office/powerpoint/2010/main" val="2090933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026" name="Picture 2" descr="Neurodiversity &amp; International Day of Persons With Disabilities">
            <a:extLst>
              <a:ext uri="{FF2B5EF4-FFF2-40B4-BE49-F238E27FC236}">
                <a16:creationId xmlns:a16="http://schemas.microsoft.com/office/drawing/2014/main" id="{5F1FEB62-D9C8-03B0-A8FF-D462D807DD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19424"/>
            <a:ext cx="7226710" cy="43530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4B06FB5-CC17-B287-5287-9F9103219188}"/>
              </a:ext>
            </a:extLst>
          </p:cNvPr>
          <p:cNvSpPr txBox="1"/>
          <p:nvPr/>
        </p:nvSpPr>
        <p:spPr>
          <a:xfrm>
            <a:off x="342806" y="4377745"/>
            <a:ext cx="8343994" cy="523220"/>
          </a:xfrm>
          <a:prstGeom prst="rect">
            <a:avLst/>
          </a:prstGeom>
          <a:noFill/>
        </p:spPr>
        <p:txBody>
          <a:bodyPr wrap="square" rtlCol="0">
            <a:spAutoFit/>
          </a:bodyPr>
          <a:lstStyle/>
          <a:p>
            <a:r>
              <a:rPr lang="en-CA" sz="1400" dirty="0"/>
              <a:t>Source : https://greatcareers.org/neurodiversity-in-the-workplace-and-international-day-of-persons-with-disabilities/</a:t>
            </a:r>
          </a:p>
        </p:txBody>
      </p:sp>
    </p:spTree>
    <p:extLst>
      <p:ext uri="{BB962C8B-B14F-4D97-AF65-F5344CB8AC3E}">
        <p14:creationId xmlns:p14="http://schemas.microsoft.com/office/powerpoint/2010/main" val="3328455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702E6A3-3876-DEA6-5137-E7A869498F8B}"/>
              </a:ext>
            </a:extLst>
          </p:cNvPr>
          <p:cNvPicPr>
            <a:picLocks noChangeAspect="1"/>
          </p:cNvPicPr>
          <p:nvPr/>
        </p:nvPicPr>
        <p:blipFill>
          <a:blip r:embed="rId2"/>
          <a:stretch>
            <a:fillRect/>
          </a:stretch>
        </p:blipFill>
        <p:spPr>
          <a:xfrm>
            <a:off x="23340" y="287594"/>
            <a:ext cx="9120659" cy="4855906"/>
          </a:xfrm>
          <a:prstGeom prst="rect">
            <a:avLst/>
          </a:prstGeom>
        </p:spPr>
      </p:pic>
    </p:spTree>
    <p:extLst>
      <p:ext uri="{BB962C8B-B14F-4D97-AF65-F5344CB8AC3E}">
        <p14:creationId xmlns:p14="http://schemas.microsoft.com/office/powerpoint/2010/main" val="3152952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225"/>
        <p:cNvGrpSpPr/>
        <p:nvPr/>
      </p:nvGrpSpPr>
      <p:grpSpPr>
        <a:xfrm>
          <a:off x="0" y="0"/>
          <a:ext cx="0" cy="0"/>
          <a:chOff x="0" y="0"/>
          <a:chExt cx="0" cy="0"/>
        </a:xfrm>
      </p:grpSpPr>
      <p:pic>
        <p:nvPicPr>
          <p:cNvPr id="2" name="Picture 1">
            <a:extLst>
              <a:ext uri="{FF2B5EF4-FFF2-40B4-BE49-F238E27FC236}">
                <a16:creationId xmlns:a16="http://schemas.microsoft.com/office/drawing/2014/main" id="{1F1469C0-ADC7-43E9-7348-09D9D550A597}"/>
              </a:ext>
            </a:extLst>
          </p:cNvPr>
          <p:cNvPicPr>
            <a:picLocks noChangeAspect="1"/>
          </p:cNvPicPr>
          <p:nvPr/>
        </p:nvPicPr>
        <p:blipFill>
          <a:blip r:embed="rId3"/>
          <a:stretch>
            <a:fillRect/>
          </a:stretch>
        </p:blipFill>
        <p:spPr>
          <a:xfrm>
            <a:off x="-1" y="0"/>
            <a:ext cx="9144001"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D937C2-81AC-8E59-1457-57D2AF19ACF8}"/>
              </a:ext>
            </a:extLst>
          </p:cNvPr>
          <p:cNvPicPr>
            <a:picLocks noChangeAspect="1"/>
          </p:cNvPicPr>
          <p:nvPr/>
        </p:nvPicPr>
        <p:blipFill>
          <a:blip r:embed="rId2"/>
          <a:stretch>
            <a:fillRect/>
          </a:stretch>
        </p:blipFill>
        <p:spPr>
          <a:xfrm>
            <a:off x="714375" y="0"/>
            <a:ext cx="7715250" cy="5143500"/>
          </a:xfrm>
          <a:prstGeom prst="rect">
            <a:avLst/>
          </a:prstGeom>
        </p:spPr>
      </p:pic>
    </p:spTree>
    <p:extLst>
      <p:ext uri="{BB962C8B-B14F-4D97-AF65-F5344CB8AC3E}">
        <p14:creationId xmlns:p14="http://schemas.microsoft.com/office/powerpoint/2010/main" val="24878011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1026" name="Picture 2" descr="International Disability Alliance (IDA) on X: &quot;&quot;Nothing About Us, Without Us!&quot;  is a well-known motto for the disability movement. It means that  governments and other decision-makers must include us in all issues">
            <a:extLst>
              <a:ext uri="{FF2B5EF4-FFF2-40B4-BE49-F238E27FC236}">
                <a16:creationId xmlns:a16="http://schemas.microsoft.com/office/drawing/2014/main" id="{3FA3CD97-12B4-C8B1-7E02-6D2B0F9C3D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9001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7560964-AFD5-3937-CA17-FFA3A55D201D}"/>
              </a:ext>
            </a:extLst>
          </p:cNvPr>
          <p:cNvPicPr>
            <a:picLocks noChangeAspect="1"/>
          </p:cNvPicPr>
          <p:nvPr/>
        </p:nvPicPr>
        <p:blipFill>
          <a:blip r:embed="rId2"/>
          <a:stretch>
            <a:fillRect/>
          </a:stretch>
        </p:blipFill>
        <p:spPr>
          <a:xfrm>
            <a:off x="1791142" y="0"/>
            <a:ext cx="5561715" cy="5143500"/>
          </a:xfrm>
          <a:prstGeom prst="rect">
            <a:avLst/>
          </a:prstGeom>
        </p:spPr>
      </p:pic>
    </p:spTree>
    <p:extLst>
      <p:ext uri="{BB962C8B-B14F-4D97-AF65-F5344CB8AC3E}">
        <p14:creationId xmlns:p14="http://schemas.microsoft.com/office/powerpoint/2010/main" val="4832071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050" name="Picture 2" descr="Bell curve graphic depicting normal performance distribution outline diagram. Labeled educational expectation measurement or prediction percentage analysis vector illustration.">
            <a:extLst>
              <a:ext uri="{FF2B5EF4-FFF2-40B4-BE49-F238E27FC236}">
                <a16:creationId xmlns:a16="http://schemas.microsoft.com/office/drawing/2014/main" id="{D38B5F14-8A56-D68A-717C-919B6E7D8B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4141" y="0"/>
            <a:ext cx="6172200" cy="51435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0219FB5-9C5E-D8ED-BC6B-E27EF1226B22}"/>
              </a:ext>
            </a:extLst>
          </p:cNvPr>
          <p:cNvSpPr txBox="1"/>
          <p:nvPr/>
        </p:nvSpPr>
        <p:spPr>
          <a:xfrm>
            <a:off x="4572000" y="4873932"/>
            <a:ext cx="4450081" cy="246221"/>
          </a:xfrm>
          <a:prstGeom prst="rect">
            <a:avLst/>
          </a:prstGeom>
          <a:noFill/>
        </p:spPr>
        <p:txBody>
          <a:bodyPr wrap="square" rtlCol="0">
            <a:spAutoFit/>
          </a:bodyPr>
          <a:lstStyle/>
          <a:p>
            <a:r>
              <a:rPr lang="en-CA" sz="1000" dirty="0"/>
              <a:t>Source : https://www.simplypsychology.org/normal-distribution.html</a:t>
            </a:r>
          </a:p>
        </p:txBody>
      </p:sp>
    </p:spTree>
    <p:extLst>
      <p:ext uri="{BB962C8B-B14F-4D97-AF65-F5344CB8AC3E}">
        <p14:creationId xmlns:p14="http://schemas.microsoft.com/office/powerpoint/2010/main" val="20118107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122663" y="750849"/>
            <a:ext cx="4065879" cy="2161957"/>
          </a:xfrm>
          <a:prstGeom prst="rect">
            <a:avLst/>
          </a:prstGeom>
        </p:spPr>
        <p:txBody>
          <a:bodyPr spcFirstLastPara="1" wrap="square" lIns="91425" tIns="91425" rIns="91425" bIns="91425" anchor="b" anchorCtr="0">
            <a:normAutofit fontScale="90000"/>
          </a:bodyPr>
          <a:lstStyle/>
          <a:p>
            <a:r>
              <a:rPr lang="en-US" sz="4000" dirty="0">
                <a:latin typeface="Google Sans" panose="020B0503030502040204" pitchFamily="34" charset="0"/>
              </a:rPr>
              <a:t>Implement a Forgiving Format to Accommodate Users’ Mistakes</a:t>
            </a:r>
            <a:endParaRPr lang="en" sz="4000" dirty="0">
              <a:latin typeface="Google Sans" panose="020B0503030502040204" pitchFamily="3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4" y="3226803"/>
            <a:ext cx="4397718" cy="1754326"/>
          </a:xfrm>
          <a:prstGeom prst="rect">
            <a:avLst/>
          </a:prstGeom>
          <a:noFill/>
        </p:spPr>
        <p:txBody>
          <a:bodyPr wrap="square">
            <a:spAutoFit/>
          </a:bodyPr>
          <a:lstStyle/>
          <a:p>
            <a:r>
              <a:rPr lang="en-US" b="0" i="1" dirty="0">
                <a:solidFill>
                  <a:srgbClr val="2B2B2B"/>
                </a:solidFill>
                <a:effectLst/>
                <a:latin typeface="Merriweather" panose="00000500000000000000" pitchFamily="2" charset="0"/>
              </a:rPr>
              <a:t>“We don’t make mistakes, just happy little accidents.”</a:t>
            </a:r>
            <a:br>
              <a:rPr lang="en-US" dirty="0"/>
            </a:br>
            <a:r>
              <a:rPr lang="en-US" b="0" i="1" dirty="0">
                <a:solidFill>
                  <a:srgbClr val="2B2B2B"/>
                </a:solidFill>
                <a:effectLst/>
                <a:latin typeface="Merriweather" panose="00000500000000000000" pitchFamily="2" charset="0"/>
              </a:rPr>
              <a:t>—Bob Ross, American painter, painting instructor, and TV show host</a:t>
            </a:r>
            <a:endParaRPr lang="en-US" i="1" dirty="0">
              <a:solidFill>
                <a:srgbClr val="2B2B2B"/>
              </a:solidFill>
              <a:latin typeface="Merriweather" panose="020F0502020204030204" pitchFamily="2" charset="0"/>
            </a:endParaRPr>
          </a:p>
          <a:p>
            <a:br>
              <a:rPr lang="en-US" dirty="0"/>
            </a:br>
            <a:endParaRPr lang="en-CA" dirty="0"/>
          </a:p>
        </p:txBody>
      </p:sp>
      <p:pic>
        <p:nvPicPr>
          <p:cNvPr id="1026" name="Picture 2">
            <a:extLst>
              <a:ext uri="{FF2B5EF4-FFF2-40B4-BE49-F238E27FC236}">
                <a16:creationId xmlns:a16="http://schemas.microsoft.com/office/drawing/2014/main" id="{4E79CAE5-26D0-3CB2-1983-ECCD1AB40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32195"/>
            <a:ext cx="4572000" cy="5074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7388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285932" y="957325"/>
            <a:ext cx="3818586" cy="3795393"/>
          </a:xfrm>
          <a:prstGeom prst="rect">
            <a:avLst/>
          </a:prstGeom>
        </p:spPr>
        <p:txBody>
          <a:bodyPr spcFirstLastPara="1" wrap="square" lIns="91425" tIns="91425" rIns="91425" bIns="91425" anchor="b" anchorCtr="0">
            <a:normAutofit/>
          </a:bodyPr>
          <a:lstStyle/>
          <a:p>
            <a:r>
              <a:rPr lang="en-US" sz="4000" dirty="0">
                <a:latin typeface="Google Sans" panose="020B0503030502040204" pitchFamily="34" charset="0"/>
              </a:rPr>
              <a:t>Be kind and forgiving</a:t>
            </a:r>
            <a:br>
              <a:rPr lang="en-US" sz="4000" dirty="0">
                <a:latin typeface="Google Sans" panose="020B0503030502040204" pitchFamily="34" charset="0"/>
              </a:rPr>
            </a:br>
            <a:br>
              <a:rPr lang="en-US" sz="4000" dirty="0">
                <a:latin typeface="Google Sans" panose="020B0503030502040204" pitchFamily="34" charset="0"/>
              </a:rPr>
            </a:br>
            <a:r>
              <a:rPr lang="en-US" sz="4000" dirty="0">
                <a:latin typeface="Google Sans" panose="020B0503030502040204" pitchFamily="34" charset="0"/>
              </a:rPr>
              <a:t>Grammarly - Disneyland of Spelling </a:t>
            </a:r>
            <a:endParaRPr lang="en" sz="4000" dirty="0">
              <a:latin typeface="Google Sans" panose="020B0503030502040204" pitchFamily="3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 name="Picture 5">
            <a:extLst>
              <a:ext uri="{FF2B5EF4-FFF2-40B4-BE49-F238E27FC236}">
                <a16:creationId xmlns:a16="http://schemas.microsoft.com/office/drawing/2014/main" id="{8B8A004A-DAE8-37EC-9AFB-6282C8D7FAED}"/>
              </a:ext>
            </a:extLst>
          </p:cNvPr>
          <p:cNvPicPr>
            <a:picLocks noChangeAspect="1"/>
          </p:cNvPicPr>
          <p:nvPr/>
        </p:nvPicPr>
        <p:blipFill>
          <a:blip r:embed="rId3"/>
          <a:stretch>
            <a:fillRect/>
          </a:stretch>
        </p:blipFill>
        <p:spPr>
          <a:xfrm>
            <a:off x="4007005" y="0"/>
            <a:ext cx="5123795"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5"/>
          <p:cNvSpPr txBox="1">
            <a:spLocks noGrp="1"/>
          </p:cNvSpPr>
          <p:nvPr>
            <p:ph type="title"/>
          </p:nvPr>
        </p:nvSpPr>
        <p:spPr>
          <a:xfrm>
            <a:off x="311700" y="445025"/>
            <a:ext cx="3655616"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latin typeface="Google Sans" panose="020B0503030502040204" pitchFamily="34" charset="0"/>
              </a:rPr>
              <a:t>Forgot attachment?</a:t>
            </a:r>
            <a:endParaRPr b="1" dirty="0">
              <a:latin typeface="Google Sans" panose="020B0503030502040204" pitchFamily="34" charset="0"/>
            </a:endParaRPr>
          </a:p>
        </p:txBody>
      </p:sp>
      <p:sp>
        <p:nvSpPr>
          <p:cNvPr id="187" name="Google Shape;187;p35"/>
          <p:cNvSpPr txBox="1">
            <a:spLocks noGrp="1"/>
          </p:cNvSpPr>
          <p:nvPr>
            <p:ph type="body" idx="1"/>
          </p:nvPr>
        </p:nvSpPr>
        <p:spPr>
          <a:xfrm>
            <a:off x="311700" y="1955179"/>
            <a:ext cx="3719387" cy="302240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sz="2800" dirty="0">
                <a:solidFill>
                  <a:schemeClr val="dk1"/>
                </a:solidFill>
                <a:latin typeface="Google Sans"/>
                <a:ea typeface="Google Sans"/>
                <a:cs typeface="Google Sans"/>
                <a:sym typeface="Google Sans"/>
              </a:rPr>
              <a:t>Attachments first, message second, subject third, and recipients last. </a:t>
            </a:r>
          </a:p>
          <a:p>
            <a:pPr marL="0" lvl="0" indent="0" algn="l" rtl="0">
              <a:spcBef>
                <a:spcPts val="0"/>
              </a:spcBef>
              <a:spcAft>
                <a:spcPts val="1200"/>
              </a:spcAft>
              <a:buNone/>
            </a:pPr>
            <a:endParaRPr lang="en-US" sz="2800" dirty="0">
              <a:solidFill>
                <a:schemeClr val="dk1"/>
              </a:solidFill>
              <a:latin typeface="Google Sans"/>
              <a:ea typeface="Google Sans"/>
              <a:cs typeface="Google Sans"/>
              <a:sym typeface="Google Sans"/>
            </a:endParaRPr>
          </a:p>
          <a:p>
            <a:pPr marL="0" lvl="0" indent="0" algn="l" rtl="0">
              <a:spcBef>
                <a:spcPts val="0"/>
              </a:spcBef>
              <a:spcAft>
                <a:spcPts val="1200"/>
              </a:spcAft>
              <a:buNone/>
            </a:pPr>
            <a:r>
              <a:rPr lang="en-US" sz="2800" dirty="0">
                <a:solidFill>
                  <a:schemeClr val="dk1"/>
                </a:solidFill>
                <a:latin typeface="Google Sans"/>
                <a:ea typeface="Google Sans"/>
                <a:cs typeface="Google Sans"/>
                <a:sym typeface="Google Sans"/>
              </a:rPr>
              <a:t>This is my way.</a:t>
            </a:r>
          </a:p>
          <a:p>
            <a:pPr marL="0" lvl="0" indent="0" algn="l" rtl="0">
              <a:spcBef>
                <a:spcPts val="0"/>
              </a:spcBef>
              <a:spcAft>
                <a:spcPts val="1200"/>
              </a:spcAft>
              <a:buNone/>
            </a:pPr>
            <a:endParaRPr lang="en-CA" sz="1500" dirty="0">
              <a:solidFill>
                <a:schemeClr val="dk1"/>
              </a:solidFill>
              <a:latin typeface="Google Sans"/>
              <a:ea typeface="Google Sans"/>
              <a:cs typeface="Google Sans"/>
              <a:sym typeface="Google Sans"/>
            </a:endParaRPr>
          </a:p>
        </p:txBody>
      </p:sp>
      <p:pic>
        <p:nvPicPr>
          <p:cNvPr id="7170" name="Picture 2" descr="Re: Important Docs (*now with attachments) : r/adhdmeme">
            <a:extLst>
              <a:ext uri="{FF2B5EF4-FFF2-40B4-BE49-F238E27FC236}">
                <a16:creationId xmlns:a16="http://schemas.microsoft.com/office/drawing/2014/main" id="{95F163D7-4D1E-4955-0960-76B8D3E590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3850" y="0"/>
            <a:ext cx="5010150" cy="51504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1555954" y="1890498"/>
            <a:ext cx="6487791" cy="1988328"/>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503030502040204" pitchFamily="34" charset="0"/>
              </a:rPr>
              <a:t>Create Abundance;</a:t>
            </a:r>
            <a:br>
              <a:rPr lang="en-US" sz="4400" dirty="0">
                <a:latin typeface="Google Sans" panose="020B0503030502040204" pitchFamily="34" charset="0"/>
              </a:rPr>
            </a:br>
            <a:r>
              <a:rPr lang="en-US" sz="4400" dirty="0">
                <a:latin typeface="Google Sans" panose="020B0503030502040204" pitchFamily="34" charset="0"/>
              </a:rPr>
              <a:t>Not redundance</a:t>
            </a:r>
            <a:endParaRPr lang="en-US" dirty="0">
              <a:latin typeface="Google Sans" panose="020B0503030502040204" pitchFamily="34" charset="0"/>
            </a:endParaRPr>
          </a:p>
        </p:txBody>
      </p:sp>
    </p:spTree>
    <p:extLst>
      <p:ext uri="{BB962C8B-B14F-4D97-AF65-F5344CB8AC3E}">
        <p14:creationId xmlns:p14="http://schemas.microsoft.com/office/powerpoint/2010/main" val="10163022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A98E5-9152-241B-F164-88DFA9E51804}"/>
              </a:ext>
            </a:extLst>
          </p:cNvPr>
          <p:cNvSpPr>
            <a:spLocks noGrp="1"/>
          </p:cNvSpPr>
          <p:nvPr>
            <p:ph type="title"/>
          </p:nvPr>
        </p:nvSpPr>
        <p:spPr>
          <a:xfrm>
            <a:off x="685800" y="759543"/>
            <a:ext cx="7826625" cy="3661108"/>
          </a:xfrm>
        </p:spPr>
        <p:txBody>
          <a:bodyPr>
            <a:normAutofit/>
          </a:bodyPr>
          <a:lstStyle/>
          <a:p>
            <a:pPr algn="ctr"/>
            <a:r>
              <a:rPr lang="en-CA" sz="3600" dirty="0">
                <a:latin typeface="Google Sans" panose="020B0503030502040204" pitchFamily="34" charset="0"/>
              </a:rPr>
              <a:t>      </a:t>
            </a:r>
            <a:br>
              <a:rPr lang="en-CA" sz="3600" dirty="0">
                <a:latin typeface="Google Sans" panose="020B0503030502040204" pitchFamily="34" charset="0"/>
              </a:rPr>
            </a:br>
            <a:r>
              <a:rPr lang="en-CA" sz="3600" dirty="0">
                <a:latin typeface="Google Sans" panose="020B0503030502040204" pitchFamily="34" charset="0"/>
              </a:rPr>
              <a:t>    Universal Design Foods (UDF)</a:t>
            </a:r>
            <a:br>
              <a:rPr lang="en-CA" sz="3600" dirty="0">
                <a:latin typeface="Google Sans" panose="020B0503030502040204" pitchFamily="34" charset="0"/>
              </a:rPr>
            </a:br>
            <a:br>
              <a:rPr lang="en-CA" sz="3600" dirty="0">
                <a:latin typeface="Google Sans" panose="020B0503030502040204" pitchFamily="34" charset="0"/>
              </a:rPr>
            </a:br>
            <a:br>
              <a:rPr lang="en-CA" sz="3600" dirty="0">
                <a:latin typeface="Google Sans" panose="020B0503030502040204" pitchFamily="34" charset="0"/>
              </a:rPr>
            </a:br>
            <a:br>
              <a:rPr lang="en-CA" sz="3600" dirty="0">
                <a:latin typeface="Google Sans" panose="020B0503030502040204" pitchFamily="34" charset="0"/>
              </a:rPr>
            </a:br>
            <a:r>
              <a:rPr lang="en-CA" sz="3600" dirty="0">
                <a:latin typeface="Google Sans" panose="020B0503030502040204" pitchFamily="34" charset="0"/>
              </a:rPr>
              <a:t>      Nursery to Nursing Homes</a:t>
            </a:r>
          </a:p>
        </p:txBody>
      </p:sp>
    </p:spTree>
    <p:extLst>
      <p:ext uri="{BB962C8B-B14F-4D97-AF65-F5344CB8AC3E}">
        <p14:creationId xmlns:p14="http://schemas.microsoft.com/office/powerpoint/2010/main" val="26504014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2D609B1-FAD0-F406-31F3-F0851942B75C}"/>
              </a:ext>
            </a:extLst>
          </p:cNvPr>
          <p:cNvPicPr>
            <a:picLocks noChangeAspect="1"/>
          </p:cNvPicPr>
          <p:nvPr/>
        </p:nvPicPr>
        <p:blipFill>
          <a:blip r:embed="rId3"/>
          <a:stretch>
            <a:fillRect/>
          </a:stretch>
        </p:blipFill>
        <p:spPr>
          <a:xfrm>
            <a:off x="673584" y="88321"/>
            <a:ext cx="5851932" cy="4996297"/>
          </a:xfrm>
          <a:prstGeom prst="rect">
            <a:avLst/>
          </a:prstGeom>
        </p:spPr>
      </p:pic>
      <p:sp>
        <p:nvSpPr>
          <p:cNvPr id="4" name="Rectangle 3">
            <a:extLst>
              <a:ext uri="{FF2B5EF4-FFF2-40B4-BE49-F238E27FC236}">
                <a16:creationId xmlns:a16="http://schemas.microsoft.com/office/drawing/2014/main" id="{C4686B6E-06F6-37CD-2AC9-3824C6C7F8D3}"/>
              </a:ext>
            </a:extLst>
          </p:cNvPr>
          <p:cNvSpPr/>
          <p:nvPr/>
        </p:nvSpPr>
        <p:spPr>
          <a:xfrm rot="16200000">
            <a:off x="4449042" y="2367393"/>
            <a:ext cx="5143500" cy="408713"/>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fr-FR" sz="1200" dirty="0"/>
              <a:t>Image : https://www.kewpie.com/en/sustainability/dietary-lifestyle/universal/</a:t>
            </a:r>
          </a:p>
          <a:p>
            <a:pPr algn="ctr"/>
            <a:endParaRPr lang="en-CA" dirty="0"/>
          </a:p>
        </p:txBody>
      </p:sp>
    </p:spTree>
    <p:extLst>
      <p:ext uri="{BB962C8B-B14F-4D97-AF65-F5344CB8AC3E}">
        <p14:creationId xmlns:p14="http://schemas.microsoft.com/office/powerpoint/2010/main" val="12078001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3" y="3752828"/>
            <a:ext cx="5006897" cy="523220"/>
          </a:xfrm>
          <a:prstGeom prst="rect">
            <a:avLst/>
          </a:prstGeom>
          <a:noFill/>
        </p:spPr>
        <p:txBody>
          <a:bodyPr wrap="square">
            <a:spAutoFit/>
          </a:bodyPr>
          <a:lstStyle/>
          <a:p>
            <a:br>
              <a:rPr lang="en-US" dirty="0"/>
            </a:br>
            <a:endParaRPr lang="en-CA" dirty="0"/>
          </a:p>
        </p:txBody>
      </p:sp>
      <p:pic>
        <p:nvPicPr>
          <p:cNvPr id="8194" name="Picture 2" descr="Board view – Asana Help Center">
            <a:extLst>
              <a:ext uri="{FF2B5EF4-FFF2-40B4-BE49-F238E27FC236}">
                <a16:creationId xmlns:a16="http://schemas.microsoft.com/office/drawing/2014/main" id="{7BB14127-DEE0-B25A-66AA-556A2C0944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21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17462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888642" y="1875750"/>
            <a:ext cx="6497392" cy="1610865"/>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Canary in the coalmine</a:t>
            </a:r>
            <a:endParaRPr lang="en-US" dirty="0">
              <a:latin typeface="Google Sans" panose="020B0604020202020204" charset="0"/>
              <a:ea typeface="Google Sans" panose="020B0604020202020204" charset="0"/>
              <a:cs typeface="Google Sans" panose="020B0604020202020204" charset="0"/>
            </a:endParaRPr>
          </a:p>
        </p:txBody>
      </p:sp>
      <p:pic>
        <p:nvPicPr>
          <p:cNvPr id="2" name="Picture 2" descr="Women Leaving the Top: Canaries in the Coal Mine? | Coal mining, Poetry  art, Canary">
            <a:extLst>
              <a:ext uri="{FF2B5EF4-FFF2-40B4-BE49-F238E27FC236}">
                <a16:creationId xmlns:a16="http://schemas.microsoft.com/office/drawing/2014/main" id="{2B187AE2-AADB-ECE5-390D-CDAA206ABA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1854" y="1875750"/>
            <a:ext cx="1373412" cy="14212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8051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252761" y="126380"/>
            <a:ext cx="4665826" cy="4890740"/>
          </a:xfrm>
          <a:prstGeom prst="rect">
            <a:avLst/>
          </a:prstGeom>
        </p:spPr>
        <p:txBody>
          <a:bodyPr spcFirstLastPara="1" wrap="square" lIns="91425" tIns="91425" rIns="91425" bIns="91425" anchor="b" anchorCtr="0">
            <a:normAutofit/>
          </a:bodyPr>
          <a:lstStyle/>
          <a:p>
            <a:r>
              <a:rPr lang="en-US" sz="3300" dirty="0">
                <a:latin typeface="Google Sans" panose="020B0604020202020204" charset="0"/>
                <a:ea typeface="Google Sans" panose="020B0604020202020204" charset="0"/>
                <a:cs typeface="Google Sans" panose="020B0604020202020204" charset="0"/>
              </a:rPr>
              <a:t>Often the first to sense danger akin to canaries in the coal mine</a:t>
            </a: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r>
              <a:rPr lang="en-US" sz="3300" dirty="0">
                <a:latin typeface="Google Sans" panose="020B0604020202020204" charset="0"/>
                <a:ea typeface="Google Sans" panose="020B0604020202020204" charset="0"/>
                <a:cs typeface="Google Sans" panose="020B0604020202020204" charset="0"/>
              </a:rPr>
              <a:t>Preventing miscommunication and not overwhelming the users</a:t>
            </a:r>
            <a:endParaRPr lang="en" sz="3300" dirty="0">
              <a:latin typeface="Google Sans" panose="020B0604020202020204" charset="0"/>
              <a:ea typeface="Google Sans" panose="020B0604020202020204" charset="0"/>
              <a:cs typeface="Google Sans" panose="020B060402020202020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148" name="Picture 4" descr="Canaries in the Investment Coal Mine? | Financial Pathways">
            <a:extLst>
              <a:ext uri="{FF2B5EF4-FFF2-40B4-BE49-F238E27FC236}">
                <a16:creationId xmlns:a16="http://schemas.microsoft.com/office/drawing/2014/main" id="{FA14F825-2210-F3EC-4459-C7D03AD3CF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1863" y="126380"/>
            <a:ext cx="3992138" cy="281661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3BEDC8A9-117F-CC97-F00B-DDF4DCEAE8B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24407" y="3192821"/>
            <a:ext cx="2247049" cy="1552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994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F0682-9832-3A56-665D-8C3AA6E57D39}"/>
              </a:ext>
            </a:extLst>
          </p:cNvPr>
          <p:cNvSpPr>
            <a:spLocks noGrp="1"/>
          </p:cNvSpPr>
          <p:nvPr>
            <p:ph type="title"/>
          </p:nvPr>
        </p:nvSpPr>
        <p:spPr>
          <a:xfrm>
            <a:off x="311699" y="523568"/>
            <a:ext cx="8168623" cy="3701845"/>
          </a:xfrm>
        </p:spPr>
        <p:txBody>
          <a:bodyPr>
            <a:noAutofit/>
          </a:bodyPr>
          <a:lstStyle/>
          <a:p>
            <a:r>
              <a:rPr lang="en-US" sz="3200" dirty="0">
                <a:latin typeface="Google Sans" panose="020B0604020202020204" charset="0"/>
                <a:ea typeface="Google Sans" panose="020B0604020202020204" charset="0"/>
                <a:cs typeface="Google Sans" panose="020B0604020202020204" charset="0"/>
              </a:rPr>
              <a:t>Often the first to sense danger akin to canaries in the coal mine</a:t>
            </a:r>
            <a:br>
              <a:rPr lang="en-US" sz="3200" dirty="0">
                <a:latin typeface="Google Sans" panose="020B0604020202020204" charset="0"/>
                <a:ea typeface="Google Sans" panose="020B0604020202020204" charset="0"/>
                <a:cs typeface="Google Sans" panose="020B0604020202020204" charset="0"/>
              </a:rPr>
            </a:br>
            <a:br>
              <a:rPr lang="en-US" sz="3200" dirty="0">
                <a:latin typeface="Google Sans" panose="020B0604020202020204" charset="0"/>
                <a:ea typeface="Google Sans" panose="020B0604020202020204" charset="0"/>
                <a:cs typeface="Google Sans" panose="020B0604020202020204" charset="0"/>
              </a:rPr>
            </a:br>
            <a:br>
              <a:rPr lang="en-US" sz="3200" dirty="0">
                <a:latin typeface="Google Sans" panose="020B0604020202020204" charset="0"/>
                <a:ea typeface="Google Sans" panose="020B0604020202020204" charset="0"/>
                <a:cs typeface="Google Sans" panose="020B0604020202020204" charset="0"/>
              </a:rPr>
            </a:br>
            <a:br>
              <a:rPr lang="en-US" sz="3200" dirty="0">
                <a:latin typeface="Google Sans" panose="020B0604020202020204" charset="0"/>
                <a:ea typeface="Google Sans" panose="020B0604020202020204" charset="0"/>
                <a:cs typeface="Google Sans" panose="020B0604020202020204" charset="0"/>
              </a:rPr>
            </a:br>
            <a:r>
              <a:rPr lang="en-US" sz="3200" dirty="0">
                <a:latin typeface="Google Sans" panose="020B0604020202020204" charset="0"/>
                <a:ea typeface="Google Sans" panose="020B0604020202020204" charset="0"/>
                <a:cs typeface="Google Sans" panose="020B0604020202020204" charset="0"/>
              </a:rPr>
              <a:t>Preventing miscommunication and not overwhelming the users</a:t>
            </a:r>
            <a:endParaRPr lang="en-CA" sz="3200" dirty="0">
              <a:latin typeface="Google Sans" panose="020B0503030502040204" pitchFamily="34" charset="0"/>
            </a:endParaRPr>
          </a:p>
        </p:txBody>
      </p:sp>
    </p:spTree>
    <p:extLst>
      <p:ext uri="{BB962C8B-B14F-4D97-AF65-F5344CB8AC3E}">
        <p14:creationId xmlns:p14="http://schemas.microsoft.com/office/powerpoint/2010/main" val="1244191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2659849" y="2102764"/>
            <a:ext cx="2985878" cy="654292"/>
          </a:xfrm>
          <a:prstGeom prst="rect">
            <a:avLst/>
          </a:prstGeom>
        </p:spPr>
        <p:txBody>
          <a:bodyPr spcFirstLastPara="1" wrap="square" lIns="0" tIns="0" rIns="0" bIns="91425" anchor="t" anchorCtr="0">
            <a:normAutofit fontScale="90000"/>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Guidelines</a:t>
            </a:r>
            <a:endParaRPr lang="en-US"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390622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09470" y="913544"/>
            <a:ext cx="8925059" cy="3859518"/>
          </a:xfrm>
          <a:prstGeom prst="rect">
            <a:avLst/>
          </a:prstGeom>
          <a:noFill/>
        </p:spPr>
        <p:txBody>
          <a:bodyPr wrap="square">
            <a:spAutoFit/>
          </a:bodyPr>
          <a:lstStyle/>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Interpretable messages :</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Avoid use of characters that look alike </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E.g. 1lI, B8, QO0CD, and break up long strings in phone numbers e.g. (000) 000–0000</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Stick to active voice </a:t>
            </a:r>
            <a:r>
              <a:rPr lang="en-US" sz="1600" dirty="0">
                <a:latin typeface="Google Sans" panose="020B0604020202020204" charset="0"/>
                <a:ea typeface="Google Sans" panose="020B0604020202020204" charset="0"/>
                <a:cs typeface="Google Sans" panose="020B0604020202020204" charset="0"/>
                <a:sym typeface="Arial"/>
              </a:rPr>
              <a:t>: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Passive voice sentences are longer and harder to comprehend.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Users with ADHD will get bored, dyslexics will have even more trouble reading, and so will readers on the spectrum.</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Avoid metaphors </a:t>
            </a:r>
            <a:r>
              <a:rPr lang="en-US" sz="1600" dirty="0">
                <a:latin typeface="Google Sans" panose="020B0604020202020204" charset="0"/>
                <a:ea typeface="Google Sans" panose="020B0604020202020204" charset="0"/>
                <a:cs typeface="Google Sans" panose="020B0604020202020204" charset="0"/>
                <a:sym typeface="Arial"/>
              </a:rPr>
              <a:t>:</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Trouble understanding metaphors, such as idioms and other abstract figures of speech.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E.g. Instead of calling it a day, it’s more inclusive to say that something is done.</a:t>
            </a: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 y="138826"/>
            <a:ext cx="7456448"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23998679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0FE3C-ABB6-56F6-A827-C99F85C3F5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8A4C77-12F0-D16B-B554-97620A99D0B3}"/>
              </a:ext>
            </a:extLst>
          </p:cNvPr>
          <p:cNvSpPr txBox="1"/>
          <p:nvPr/>
        </p:nvSpPr>
        <p:spPr>
          <a:xfrm>
            <a:off x="270165" y="596706"/>
            <a:ext cx="7952508" cy="4435958"/>
          </a:xfrm>
          <a:prstGeom prst="rect">
            <a:avLst/>
          </a:prstGeom>
          <a:noFill/>
        </p:spPr>
        <p:txBody>
          <a:bodyPr wrap="square">
            <a:spAutoFit/>
          </a:bodyPr>
          <a:lstStyle/>
          <a:p>
            <a:pPr marL="0" lvl="0" indent="0" algn="l" rtl="0">
              <a:lnSpc>
                <a:spcPct val="115000"/>
              </a:lnSpc>
              <a:spcBef>
                <a:spcPts val="0"/>
              </a:spcBef>
              <a:spcAft>
                <a:spcPts val="1200"/>
              </a:spcAft>
              <a:buSzPts val="1600"/>
              <a:buNone/>
            </a:pPr>
            <a:r>
              <a:rPr lang="en-US" sz="1600" b="1" dirty="0">
                <a:latin typeface="Google Sans" panose="020B0604020202020204" charset="0"/>
                <a:ea typeface="Google Sans" panose="020B0604020202020204" charset="0"/>
                <a:cs typeface="Google Sans" panose="020B0604020202020204" charset="0"/>
                <a:sym typeface="Arial"/>
              </a:rPr>
              <a:t>Use emojis wisely :</a:t>
            </a:r>
          </a:p>
          <a:p>
            <a:pPr marL="0" lvl="0" indent="0" algn="l"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Different languages have different interpretations. Custom and culture vary</a:t>
            </a:r>
          </a:p>
          <a:p>
            <a:endParaRPr lang="en-US" sz="1600" b="1"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Format your writing :</a:t>
            </a:r>
            <a:r>
              <a:rPr lang="en-US" sz="1600" dirty="0">
                <a:latin typeface="Google Sans" panose="020B0604020202020204" charset="0"/>
                <a:ea typeface="Google Sans" panose="020B0604020202020204" charset="0"/>
                <a:cs typeface="Google Sans" panose="020B0604020202020204" charset="0"/>
              </a:rPr>
              <a:t>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Divide large chunks of text into smaller paragraphs. </a:t>
            </a:r>
          </a:p>
          <a:p>
            <a:r>
              <a:rPr lang="en-US" sz="1600" dirty="0">
                <a:latin typeface="Google Sans" panose="020B0604020202020204" charset="0"/>
                <a:ea typeface="Google Sans" panose="020B0604020202020204" charset="0"/>
                <a:cs typeface="Google Sans" panose="020B0604020202020204" charset="0"/>
              </a:rPr>
              <a:t>It is challenging for people struggling with limited attention spans.</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descriptive buttons :</a:t>
            </a:r>
            <a:r>
              <a:rPr lang="en-US" sz="1600" dirty="0">
                <a:latin typeface="Google Sans" panose="020B0604020202020204" charset="0"/>
                <a:ea typeface="Google Sans" panose="020B0604020202020204" charset="0"/>
                <a:cs typeface="Google Sans" panose="020B0604020202020204" charset="0"/>
              </a:rPr>
              <a:t>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No vague microcopy, such as </a:t>
            </a:r>
            <a:r>
              <a:rPr lang="en-US" sz="1600" i="1" dirty="0">
                <a:latin typeface="Google Sans" panose="020B0604020202020204" charset="0"/>
                <a:ea typeface="Google Sans" panose="020B0604020202020204" charset="0"/>
                <a:cs typeface="Google Sans" panose="020B0604020202020204" charset="0"/>
              </a:rPr>
              <a:t>Click here. </a:t>
            </a:r>
            <a:r>
              <a:rPr lang="en-US" sz="1600" dirty="0">
                <a:latin typeface="Google Sans" panose="020B0604020202020204" charset="0"/>
                <a:ea typeface="Google Sans" panose="020B0604020202020204" charset="0"/>
                <a:cs typeface="Google Sans" panose="020B0604020202020204" charset="0"/>
              </a:rPr>
              <a:t>Think of screen readers</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Describe the purpose of the button.</a:t>
            </a:r>
          </a:p>
          <a:p>
            <a:r>
              <a:rPr lang="en-US" sz="1600" dirty="0">
                <a:latin typeface="Google Sans" panose="020B0604020202020204" charset="0"/>
                <a:ea typeface="Google Sans" panose="020B0604020202020204" charset="0"/>
                <a:cs typeface="Google Sans" panose="020B0604020202020204" charset="0"/>
              </a:rPr>
              <a:t>Example: </a:t>
            </a:r>
            <a:r>
              <a:rPr lang="en-US" sz="1600" i="1" dirty="0">
                <a:latin typeface="Google Sans" panose="020B0604020202020204" charset="0"/>
                <a:ea typeface="Google Sans" panose="020B0604020202020204" charset="0"/>
                <a:cs typeface="Google Sans" panose="020B0604020202020204" charset="0"/>
              </a:rPr>
              <a:t>Upload images, Register, Download the e-book</a:t>
            </a:r>
            <a:r>
              <a:rPr lang="en-US" sz="1600" dirty="0">
                <a:latin typeface="Google Sans" panose="020B0604020202020204" charset="0"/>
                <a:ea typeface="Google Sans" panose="020B0604020202020204" charset="0"/>
                <a:cs typeface="Google Sans" panose="020B0604020202020204" charset="0"/>
              </a:rPr>
              <a:t>. </a:t>
            </a:r>
          </a:p>
          <a:p>
            <a:r>
              <a:rPr lang="en-US" sz="1600" dirty="0">
                <a:latin typeface="Google Sans" panose="020B0604020202020204" charset="0"/>
                <a:ea typeface="Google Sans" panose="020B0604020202020204" charset="0"/>
                <a:cs typeface="Google Sans" panose="020B0604020202020204" charset="0"/>
              </a:rPr>
              <a:t>This simple change makes navigation smoother and reduces anxiety.</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2DB19D98-7005-BD22-C06E-9F1B8C5F7218}"/>
              </a:ext>
            </a:extLst>
          </p:cNvPr>
          <p:cNvSpPr txBox="1"/>
          <p:nvPr/>
        </p:nvSpPr>
        <p:spPr>
          <a:xfrm>
            <a:off x="457199" y="39029"/>
            <a:ext cx="7130867"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27000222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57920" y="804561"/>
            <a:ext cx="8445530" cy="4054315"/>
          </a:xfrm>
          <a:prstGeom prst="rect">
            <a:avLst/>
          </a:prstGeom>
          <a:noFill/>
        </p:spPr>
        <p:txBody>
          <a:bodyPr wrap="square">
            <a:spAutoFit/>
          </a:bodyPr>
          <a:lstStyle/>
          <a:p>
            <a:endParaRPr lang="en-CA"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Be careful with animations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Too much stimulation can induce anxiety in people on the autism spectrum, which may even lead to physical pain, withdrawal, or meltdown. </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of animated elements </a:t>
            </a:r>
            <a:r>
              <a:rPr lang="en-US" sz="1600" dirty="0">
                <a:latin typeface="Google Sans" panose="020B0604020202020204" charset="0"/>
                <a:ea typeface="Google Sans" panose="020B0604020202020204" charset="0"/>
                <a:cs typeface="Google Sans" panose="020B0604020202020204" charset="0"/>
              </a:rPr>
              <a:t>: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Should be limited to instances when it serves a purpose.</a:t>
            </a:r>
          </a:p>
          <a:p>
            <a:r>
              <a:rPr lang="en-US" sz="1600" dirty="0">
                <a:latin typeface="Google Sans" panose="020B0604020202020204" charset="0"/>
                <a:ea typeface="Google Sans" panose="020B0604020202020204" charset="0"/>
                <a:cs typeface="Google Sans" panose="020B0604020202020204" charset="0"/>
              </a:rPr>
              <a:t>Also remember not to make them too invasive.</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Mind the abbreviations :</a:t>
            </a:r>
            <a:r>
              <a:rPr lang="en-US" sz="1600" dirty="0">
                <a:latin typeface="Google Sans" panose="020B0604020202020204" charset="0"/>
                <a:ea typeface="Google Sans" panose="020B0604020202020204" charset="0"/>
                <a:cs typeface="Google Sans" panose="020B0604020202020204" charset="0"/>
              </a:rPr>
              <a:t>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AI in context</a:t>
            </a:r>
            <a:br>
              <a:rPr lang="en-US" sz="1600" dirty="0">
                <a:latin typeface="Google Sans" panose="020B0604020202020204" charset="0"/>
                <a:ea typeface="Google Sans" panose="020B0604020202020204" charset="0"/>
                <a:cs typeface="Google Sans" panose="020B0604020202020204" charset="0"/>
              </a:rPr>
            </a:br>
            <a:r>
              <a:rPr lang="en-US" sz="1600" dirty="0">
                <a:latin typeface="Google Sans" panose="020B0604020202020204" charset="0"/>
                <a:ea typeface="Google Sans" panose="020B0604020202020204" charset="0"/>
                <a:cs typeface="Google Sans" panose="020B0604020202020204" charset="0"/>
              </a:rPr>
              <a:t>Artificial Intelligence vs Artificial Insemination</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032387" y="138826"/>
            <a:ext cx="6843252"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3884205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55418" y="796636"/>
            <a:ext cx="6322898" cy="4292525"/>
          </a:xfrm>
          <a:prstGeom prst="rect">
            <a:avLst/>
          </a:prstGeom>
        </p:spPr>
        <p:txBody>
          <a:bodyPr spcFirstLastPara="1" wrap="square" lIns="91425" tIns="91425" rIns="91425" bIns="91425" anchor="t" anchorCtr="0">
            <a:normAutofit/>
          </a:bodyPr>
          <a:lstStyle/>
          <a:p>
            <a:pPr marL="127000" indent="0">
              <a:buNone/>
            </a:pP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Avoid autoplay</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Unexpected movement is surprising and scary, not to mention the sound!</a:t>
            </a:r>
            <a:br>
              <a:rPr lang="en-US" sz="2000" dirty="0">
                <a:latin typeface="Google Sans" panose="020B0604020202020204" charset="0"/>
                <a:ea typeface="Google Sans" panose="020B0604020202020204" charset="0"/>
                <a:cs typeface="Google Sans" panose="020B0604020202020204" charset="0"/>
              </a:rPr>
            </a:br>
            <a:r>
              <a:rPr lang="en-US" sz="1400" dirty="0" err="1">
                <a:latin typeface="Google Sans" panose="020B0604020202020204" charset="0"/>
                <a:ea typeface="Google Sans" panose="020B0604020202020204" charset="0"/>
                <a:cs typeface="Google Sans" panose="020B0604020202020204" charset="0"/>
              </a:rPr>
              <a:t>Psstt</a:t>
            </a:r>
            <a:r>
              <a:rPr lang="en-US" sz="2000" dirty="0">
                <a:latin typeface="Google Sans" panose="020B0604020202020204" charset="0"/>
                <a:ea typeface="Google Sans" panose="020B0604020202020204" charset="0"/>
                <a:cs typeface="Google Sans" panose="020B0604020202020204" charset="0"/>
              </a:rPr>
              <a:t> </a:t>
            </a:r>
            <a:r>
              <a:rPr lang="en-US" sz="1600" dirty="0">
                <a:latin typeface="Google Sans" panose="020B0604020202020204" charset="0"/>
                <a:ea typeface="Google Sans" panose="020B0604020202020204" charset="0"/>
                <a:cs typeface="Google Sans" panose="020B0604020202020204" charset="0"/>
              </a:rPr>
              <a:t>I startle a lot!</a:t>
            </a:r>
            <a:br>
              <a:rPr lang="en-US" sz="16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effectLst/>
                <a:latin typeface="Google Sans" panose="020B0604020202020204" charset="0"/>
                <a:ea typeface="Google Sans" panose="020B0604020202020204" charset="0"/>
                <a:cs typeface="Google Sans" panose="020B0604020202020204" charset="0"/>
              </a:rPr>
              <a:t>Add subtitles and captions</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endParaRPr lang="en-CA" sz="2000" dirty="0">
              <a:latin typeface="Google Sans" panose="020B0604020202020204" charset="0"/>
              <a:ea typeface="Google Sans" panose="020B0604020202020204" charset="0"/>
              <a:cs typeface="Google Sans" panose="020B0604020202020204" charset="0"/>
            </a:endParaRPr>
          </a:p>
        </p:txBody>
      </p:sp>
      <p:pic>
        <p:nvPicPr>
          <p:cNvPr id="2" name="Picture 1">
            <a:extLst>
              <a:ext uri="{FF2B5EF4-FFF2-40B4-BE49-F238E27FC236}">
                <a16:creationId xmlns:a16="http://schemas.microsoft.com/office/drawing/2014/main" id="{07501CD2-C6C9-C101-911B-98E270E3D7C7}"/>
              </a:ext>
            </a:extLst>
          </p:cNvPr>
          <p:cNvPicPr>
            <a:picLocks noChangeAspect="1"/>
          </p:cNvPicPr>
          <p:nvPr/>
        </p:nvPicPr>
        <p:blipFill>
          <a:blip r:embed="rId3"/>
          <a:stretch>
            <a:fillRect/>
          </a:stretch>
        </p:blipFill>
        <p:spPr>
          <a:xfrm>
            <a:off x="6457985" y="2463460"/>
            <a:ext cx="2509874" cy="1678030"/>
          </a:xfrm>
          <a:prstGeom prst="rect">
            <a:avLst/>
          </a:prstGeom>
        </p:spPr>
      </p:pic>
      <p:pic>
        <p:nvPicPr>
          <p:cNvPr id="3" name="Picture 2">
            <a:extLst>
              <a:ext uri="{FF2B5EF4-FFF2-40B4-BE49-F238E27FC236}">
                <a16:creationId xmlns:a16="http://schemas.microsoft.com/office/drawing/2014/main" id="{99FC0E22-753B-969D-1076-4511B4CE3002}"/>
              </a:ext>
            </a:extLst>
          </p:cNvPr>
          <p:cNvPicPr>
            <a:picLocks noChangeAspect="1"/>
          </p:cNvPicPr>
          <p:nvPr/>
        </p:nvPicPr>
        <p:blipFill>
          <a:blip r:embed="rId4"/>
          <a:stretch>
            <a:fillRect/>
          </a:stretch>
        </p:blipFill>
        <p:spPr>
          <a:xfrm>
            <a:off x="6455948" y="725644"/>
            <a:ext cx="2509874" cy="1333500"/>
          </a:xfrm>
          <a:prstGeom prst="rect">
            <a:avLst/>
          </a:prstGeom>
        </p:spPr>
      </p:pic>
      <p:sp>
        <p:nvSpPr>
          <p:cNvPr id="4" name="Google Shape;273;p49">
            <a:extLst>
              <a:ext uri="{FF2B5EF4-FFF2-40B4-BE49-F238E27FC236}">
                <a16:creationId xmlns:a16="http://schemas.microsoft.com/office/drawing/2014/main" id="{46259F76-8951-18D0-74FD-171E1671491E}"/>
              </a:ext>
            </a:extLst>
          </p:cNvPr>
          <p:cNvSpPr txBox="1"/>
          <p:nvPr/>
        </p:nvSpPr>
        <p:spPr>
          <a:xfrm>
            <a:off x="540550" y="160875"/>
            <a:ext cx="6843252"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19263598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111040" y="893618"/>
            <a:ext cx="4884706" cy="3978535"/>
          </a:xfrm>
          <a:prstGeom prst="rect">
            <a:avLst/>
          </a:prstGeom>
        </p:spPr>
        <p:txBody>
          <a:bodyPr spcFirstLastPara="1" wrap="square" lIns="91425" tIns="91425" rIns="91425" bIns="91425" anchor="t" anchorCtr="0">
            <a:normAutofit/>
          </a:bodyPr>
          <a:lstStyle/>
          <a:p>
            <a:pPr marL="127000" indent="0">
              <a:buNone/>
            </a:pPr>
            <a:r>
              <a:rPr lang="en-US" sz="2000" dirty="0">
                <a:latin typeface="Google Sans" panose="020B0604020202020204" charset="0"/>
                <a:ea typeface="Google Sans" panose="020B0604020202020204" charset="0"/>
                <a:cs typeface="Google Sans" panose="020B0604020202020204" charset="0"/>
              </a:rPr>
              <a:t>Aim to visually please, rather than disturb.</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Abstain from auto play in websites and music that suddenly appears out of nowhere.</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Skip highly vibrant colors.</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Perform user testing and focus groups with ND users.</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endParaRPr lang="en-CA" sz="2000" dirty="0">
              <a:latin typeface="Google Sans" panose="020B0604020202020204" charset="0"/>
              <a:ea typeface="Google Sans" panose="020B0604020202020204" charset="0"/>
              <a:cs typeface="Google Sans" panose="020B0604020202020204" charset="0"/>
            </a:endParaRPr>
          </a:p>
        </p:txBody>
      </p:sp>
      <p:pic>
        <p:nvPicPr>
          <p:cNvPr id="1026" name="Picture 2" descr="bright_saturated-button">
            <a:extLst>
              <a:ext uri="{FF2B5EF4-FFF2-40B4-BE49-F238E27FC236}">
                <a16:creationId xmlns:a16="http://schemas.microsoft.com/office/drawing/2014/main" id="{EB13F083-8302-3B7E-08B7-18E75C06D2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7145" y="1004432"/>
            <a:ext cx="3995815" cy="31346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19778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F3B06E7-1ADF-A065-776F-F02AA57AAB90}"/>
              </a:ext>
            </a:extLst>
          </p:cNvPr>
          <p:cNvSpPr>
            <a:spLocks noGrp="1"/>
          </p:cNvSpPr>
          <p:nvPr>
            <p:ph type="title" idx="2"/>
          </p:nvPr>
        </p:nvSpPr>
        <p:spPr>
          <a:xfrm>
            <a:off x="1073700" y="259698"/>
            <a:ext cx="5708100" cy="583800"/>
          </a:xfrm>
        </p:spPr>
        <p:txBody>
          <a:bodyPr>
            <a:normAutofit/>
          </a:bodyPr>
          <a:lstStyle/>
          <a:p>
            <a:pPr algn="ctr"/>
            <a:r>
              <a:rPr lang="en-US" dirty="0">
                <a:latin typeface="Google Sans" panose="020B0604020202020204" charset="0"/>
                <a:cs typeface="Google Sans" panose="020B0604020202020204" charset="0"/>
              </a:rPr>
              <a:t>Context is the king err queen</a:t>
            </a:r>
            <a:endParaRPr lang="en-CA" dirty="0">
              <a:latin typeface="Google Sans" panose="020B0604020202020204" charset="0"/>
              <a:cs typeface="Google Sans" panose="020B0604020202020204" charset="0"/>
            </a:endParaRPr>
          </a:p>
        </p:txBody>
      </p:sp>
      <p:sp>
        <p:nvSpPr>
          <p:cNvPr id="5" name="Google Shape;233;p43">
            <a:extLst>
              <a:ext uri="{FF2B5EF4-FFF2-40B4-BE49-F238E27FC236}">
                <a16:creationId xmlns:a16="http://schemas.microsoft.com/office/drawing/2014/main" id="{D136BDCB-1A02-0D0D-5F73-8F0F59971A6B}"/>
              </a:ext>
            </a:extLst>
          </p:cNvPr>
          <p:cNvSpPr txBox="1">
            <a:spLocks noGrp="1"/>
          </p:cNvSpPr>
          <p:nvPr>
            <p:ph type="title"/>
          </p:nvPr>
        </p:nvSpPr>
        <p:spPr>
          <a:xfrm>
            <a:off x="270164" y="1032164"/>
            <a:ext cx="4100945" cy="3048000"/>
          </a:xfrm>
          <a:prstGeom prst="rect">
            <a:avLst/>
          </a:prstGeom>
        </p:spPr>
        <p:txBody>
          <a:bodyPr spcFirstLastPara="1" wrap="square" lIns="91425" tIns="91425" rIns="91425" bIns="91425" anchor="t" anchorCtr="0">
            <a:normAutofit fontScale="90000"/>
          </a:bodyPr>
          <a:lstStyle/>
          <a:p>
            <a:pPr marL="127000" indent="0">
              <a:buNone/>
            </a:pP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 Think and </a:t>
            </a:r>
            <a:r>
              <a:rPr lang="en-CA" sz="2000" dirty="0">
                <a:latin typeface="Google Sans" panose="020B0604020202020204" charset="0"/>
                <a:ea typeface="Google Sans" panose="020B0604020202020204" charset="0"/>
                <a:cs typeface="Google Sans" panose="020B0604020202020204" charset="0"/>
              </a:rPr>
              <a:t>Feel GILTY!</a:t>
            </a: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GILT :  A word salad!</a:t>
            </a: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Globalization (G11N)</a:t>
            </a: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Internationalization (I18N)</a:t>
            </a: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Localization (L10N)</a:t>
            </a: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Translation  (T9N)</a:t>
            </a:r>
          </a:p>
        </p:txBody>
      </p:sp>
      <p:sp>
        <p:nvSpPr>
          <p:cNvPr id="6" name="TextBox 5">
            <a:extLst>
              <a:ext uri="{FF2B5EF4-FFF2-40B4-BE49-F238E27FC236}">
                <a16:creationId xmlns:a16="http://schemas.microsoft.com/office/drawing/2014/main" id="{76BD3DB8-DA56-6CDC-6B47-508F653BE476}"/>
              </a:ext>
            </a:extLst>
          </p:cNvPr>
          <p:cNvSpPr txBox="1"/>
          <p:nvPr/>
        </p:nvSpPr>
        <p:spPr>
          <a:xfrm>
            <a:off x="360219" y="4745302"/>
            <a:ext cx="6802582" cy="276999"/>
          </a:xfrm>
          <a:prstGeom prst="rect">
            <a:avLst/>
          </a:prstGeom>
          <a:noFill/>
        </p:spPr>
        <p:txBody>
          <a:bodyPr wrap="square" rtlCol="0">
            <a:spAutoFit/>
          </a:bodyPr>
          <a:lstStyle/>
          <a:p>
            <a:r>
              <a:rPr lang="en-CA" sz="1200" dirty="0"/>
              <a:t>Source : https://www.adverbum.com/en/blog/globalization-internationalization-localization-translation</a:t>
            </a:r>
          </a:p>
        </p:txBody>
      </p:sp>
      <p:pic>
        <p:nvPicPr>
          <p:cNvPr id="10" name="Picture 9">
            <a:extLst>
              <a:ext uri="{FF2B5EF4-FFF2-40B4-BE49-F238E27FC236}">
                <a16:creationId xmlns:a16="http://schemas.microsoft.com/office/drawing/2014/main" id="{470A1257-0929-77B5-BE9B-A7DB5B0D6EC2}"/>
              </a:ext>
            </a:extLst>
          </p:cNvPr>
          <p:cNvPicPr>
            <a:picLocks noChangeAspect="1"/>
          </p:cNvPicPr>
          <p:nvPr/>
        </p:nvPicPr>
        <p:blipFill>
          <a:blip r:embed="rId3"/>
          <a:stretch>
            <a:fillRect/>
          </a:stretch>
        </p:blipFill>
        <p:spPr>
          <a:xfrm>
            <a:off x="4572000" y="1535741"/>
            <a:ext cx="3810000" cy="2066925"/>
          </a:xfrm>
          <a:prstGeom prst="rect">
            <a:avLst/>
          </a:prstGeom>
        </p:spPr>
      </p:pic>
    </p:spTree>
    <p:extLst>
      <p:ext uri="{BB962C8B-B14F-4D97-AF65-F5344CB8AC3E}">
        <p14:creationId xmlns:p14="http://schemas.microsoft.com/office/powerpoint/2010/main" val="4062840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1286CD7-EC33-268B-84A4-2F70EBB39A14}"/>
              </a:ext>
            </a:extLst>
          </p:cNvPr>
          <p:cNvPicPr>
            <a:picLocks noChangeAspect="1"/>
          </p:cNvPicPr>
          <p:nvPr/>
        </p:nvPicPr>
        <p:blipFill>
          <a:blip r:embed="rId2"/>
          <a:stretch>
            <a:fillRect/>
          </a:stretch>
        </p:blipFill>
        <p:spPr>
          <a:xfrm>
            <a:off x="714375" y="0"/>
            <a:ext cx="7715250" cy="5143500"/>
          </a:xfrm>
          <a:prstGeom prst="rect">
            <a:avLst/>
          </a:prstGeom>
        </p:spPr>
      </p:pic>
    </p:spTree>
    <p:extLst>
      <p:ext uri="{BB962C8B-B14F-4D97-AF65-F5344CB8AC3E}">
        <p14:creationId xmlns:p14="http://schemas.microsoft.com/office/powerpoint/2010/main" val="20737021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2ADF4-DF6B-3E98-72FD-20B31BC06B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1EAAF7-8D60-1A92-C3E6-CA5B21D0CE1C}"/>
              </a:ext>
            </a:extLst>
          </p:cNvPr>
          <p:cNvSpPr>
            <a:spLocks noGrp="1"/>
          </p:cNvSpPr>
          <p:nvPr>
            <p:ph type="title" idx="2"/>
          </p:nvPr>
        </p:nvSpPr>
        <p:spPr>
          <a:xfrm>
            <a:off x="1073700" y="259698"/>
            <a:ext cx="5708100" cy="583800"/>
          </a:xfrm>
        </p:spPr>
        <p:txBody>
          <a:bodyPr>
            <a:normAutofit/>
          </a:bodyPr>
          <a:lstStyle/>
          <a:p>
            <a:r>
              <a:rPr lang="en-US" dirty="0">
                <a:latin typeface="Google Sans" panose="020B0604020202020204" charset="0"/>
                <a:cs typeface="Google Sans" panose="020B0604020202020204" charset="0"/>
              </a:rPr>
              <a:t>Protanopia - </a:t>
            </a:r>
            <a:r>
              <a:rPr lang="en-US" dirty="0" err="1">
                <a:latin typeface="Google Sans" panose="020B0604020202020204" charset="0"/>
                <a:cs typeface="Google Sans" panose="020B0604020202020204" charset="0"/>
              </a:rPr>
              <a:t>Colour</a:t>
            </a:r>
            <a:r>
              <a:rPr lang="en-US" dirty="0">
                <a:latin typeface="Google Sans" panose="020B0604020202020204" charset="0"/>
                <a:cs typeface="Google Sans" panose="020B0604020202020204" charset="0"/>
              </a:rPr>
              <a:t> Blindness</a:t>
            </a:r>
            <a:endParaRPr lang="en-CA" dirty="0">
              <a:latin typeface="Google Sans" panose="020B0604020202020204" charset="0"/>
              <a:cs typeface="Google Sans" panose="020B0604020202020204" charset="0"/>
            </a:endParaRPr>
          </a:p>
        </p:txBody>
      </p:sp>
      <p:sp>
        <p:nvSpPr>
          <p:cNvPr id="6" name="TextBox 5">
            <a:extLst>
              <a:ext uri="{FF2B5EF4-FFF2-40B4-BE49-F238E27FC236}">
                <a16:creationId xmlns:a16="http://schemas.microsoft.com/office/drawing/2014/main" id="{BAB46F12-CA6C-EA57-564D-AD6CFB7FA5AE}"/>
              </a:ext>
            </a:extLst>
          </p:cNvPr>
          <p:cNvSpPr txBox="1"/>
          <p:nvPr/>
        </p:nvSpPr>
        <p:spPr>
          <a:xfrm>
            <a:off x="537749" y="4745302"/>
            <a:ext cx="6625052" cy="276999"/>
          </a:xfrm>
          <a:prstGeom prst="rect">
            <a:avLst/>
          </a:prstGeom>
          <a:noFill/>
        </p:spPr>
        <p:txBody>
          <a:bodyPr wrap="square" rtlCol="0">
            <a:spAutoFit/>
          </a:bodyPr>
          <a:lstStyle/>
          <a:p>
            <a:r>
              <a:rPr lang="en-CA" sz="1200" dirty="0"/>
              <a:t>Source : https://www.theverge.com/23650428/colorblindness-design-ui-accessibility-wordle</a:t>
            </a:r>
          </a:p>
        </p:txBody>
      </p:sp>
      <p:pic>
        <p:nvPicPr>
          <p:cNvPr id="4" name="Picture 3">
            <a:extLst>
              <a:ext uri="{FF2B5EF4-FFF2-40B4-BE49-F238E27FC236}">
                <a16:creationId xmlns:a16="http://schemas.microsoft.com/office/drawing/2014/main" id="{C494B839-6F41-018B-6731-0900E99CCE1C}"/>
              </a:ext>
            </a:extLst>
          </p:cNvPr>
          <p:cNvPicPr>
            <a:picLocks noChangeAspect="1"/>
          </p:cNvPicPr>
          <p:nvPr/>
        </p:nvPicPr>
        <p:blipFill>
          <a:blip r:embed="rId3"/>
          <a:stretch>
            <a:fillRect/>
          </a:stretch>
        </p:blipFill>
        <p:spPr>
          <a:xfrm>
            <a:off x="4953000" y="1009071"/>
            <a:ext cx="3816927" cy="3110640"/>
          </a:xfrm>
          <a:prstGeom prst="rect">
            <a:avLst/>
          </a:prstGeom>
        </p:spPr>
      </p:pic>
      <p:pic>
        <p:nvPicPr>
          <p:cNvPr id="11" name="Picture 10">
            <a:extLst>
              <a:ext uri="{FF2B5EF4-FFF2-40B4-BE49-F238E27FC236}">
                <a16:creationId xmlns:a16="http://schemas.microsoft.com/office/drawing/2014/main" id="{31A6A1C8-F79D-B7D9-896F-623DD73EC108}"/>
              </a:ext>
            </a:extLst>
          </p:cNvPr>
          <p:cNvPicPr>
            <a:picLocks noChangeAspect="1"/>
          </p:cNvPicPr>
          <p:nvPr/>
        </p:nvPicPr>
        <p:blipFill>
          <a:blip r:embed="rId4"/>
          <a:stretch>
            <a:fillRect/>
          </a:stretch>
        </p:blipFill>
        <p:spPr>
          <a:xfrm>
            <a:off x="537749" y="1009071"/>
            <a:ext cx="4364704" cy="3110640"/>
          </a:xfrm>
          <a:prstGeom prst="rect">
            <a:avLst/>
          </a:prstGeom>
        </p:spPr>
      </p:pic>
      <p:sp>
        <p:nvSpPr>
          <p:cNvPr id="12" name="TextBox 11">
            <a:extLst>
              <a:ext uri="{FF2B5EF4-FFF2-40B4-BE49-F238E27FC236}">
                <a16:creationId xmlns:a16="http://schemas.microsoft.com/office/drawing/2014/main" id="{C35AB05A-5EF4-6CA2-C165-9BE0E55B1381}"/>
              </a:ext>
            </a:extLst>
          </p:cNvPr>
          <p:cNvSpPr txBox="1"/>
          <p:nvPr/>
        </p:nvSpPr>
        <p:spPr>
          <a:xfrm>
            <a:off x="537749" y="4419272"/>
            <a:ext cx="3888778" cy="276999"/>
          </a:xfrm>
          <a:prstGeom prst="rect">
            <a:avLst/>
          </a:prstGeom>
          <a:noFill/>
        </p:spPr>
        <p:txBody>
          <a:bodyPr wrap="square" rtlCol="0">
            <a:spAutoFit/>
          </a:bodyPr>
          <a:lstStyle/>
          <a:p>
            <a:r>
              <a:rPr lang="en-US" sz="1200" dirty="0">
                <a:latin typeface="Google Sans" panose="020B0604020202020204" charset="0"/>
                <a:cs typeface="Google Sans" panose="020B0604020202020204" charset="0"/>
              </a:rPr>
              <a:t>Test in Grayscale. Mute the colors</a:t>
            </a:r>
            <a:endParaRPr lang="en-CA" sz="1200" dirty="0">
              <a:latin typeface="Google Sans" panose="020B0604020202020204" charset="0"/>
              <a:cs typeface="Google Sans" panose="020B0604020202020204" charset="0"/>
            </a:endParaRPr>
          </a:p>
        </p:txBody>
      </p:sp>
    </p:spTree>
    <p:extLst>
      <p:ext uri="{BB962C8B-B14F-4D97-AF65-F5344CB8AC3E}">
        <p14:creationId xmlns:p14="http://schemas.microsoft.com/office/powerpoint/2010/main" val="21548136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91063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AADAB5-9766-78AC-A4D1-082A7972E869}"/>
              </a:ext>
            </a:extLst>
          </p:cNvPr>
          <p:cNvSpPr>
            <a:spLocks noGrp="1"/>
          </p:cNvSpPr>
          <p:nvPr>
            <p:ph type="title"/>
          </p:nvPr>
        </p:nvSpPr>
        <p:spPr/>
        <p:txBody>
          <a:bodyPr/>
          <a:lstStyle/>
          <a:p>
            <a:pPr algn="ctr"/>
            <a:r>
              <a:rPr lang="en-CA" dirty="0"/>
              <a:t>Takeaways</a:t>
            </a:r>
          </a:p>
        </p:txBody>
      </p:sp>
      <p:sp>
        <p:nvSpPr>
          <p:cNvPr id="3" name="Text Placeholder 2">
            <a:extLst>
              <a:ext uri="{FF2B5EF4-FFF2-40B4-BE49-F238E27FC236}">
                <a16:creationId xmlns:a16="http://schemas.microsoft.com/office/drawing/2014/main" id="{DA289655-A2B2-67E1-8216-E9FAEAA4627F}"/>
              </a:ext>
            </a:extLst>
          </p:cNvPr>
          <p:cNvSpPr>
            <a:spLocks noGrp="1"/>
          </p:cNvSpPr>
          <p:nvPr>
            <p:ph type="body" idx="1"/>
          </p:nvPr>
        </p:nvSpPr>
        <p:spPr>
          <a:xfrm>
            <a:off x="311699" y="1152475"/>
            <a:ext cx="8297041" cy="3416400"/>
          </a:xfrm>
        </p:spPr>
        <p:txBody>
          <a:bodyPr>
            <a:normAutofit/>
          </a:bodyPr>
          <a:lstStyle/>
          <a:p>
            <a:pPr marL="127000" indent="0">
              <a:buNone/>
            </a:pPr>
            <a:r>
              <a:rPr lang="en-US" sz="2800" dirty="0">
                <a:latin typeface="Google Sans" panose="020B0604020202020204" charset="0"/>
                <a:ea typeface="Google Sans" panose="020B0604020202020204" charset="0"/>
                <a:cs typeface="Google Sans" panose="020B0604020202020204" charset="0"/>
              </a:rPr>
              <a:t>Aim to visually please, rather than disturb.</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Abstain from auto play and music that suddenly appears out of nowhere.</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Skip highly vibrant colors.</a:t>
            </a:r>
          </a:p>
          <a:p>
            <a:endParaRPr lang="en-CA" sz="24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6774217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40497C3-634C-7CD7-CC6F-30F491A7B76D}"/>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36601927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A84F37-CDF1-45E3-2EE1-F3CC16F1E8D5}"/>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42928274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D3F18F7-9EC7-3E36-6F18-40F95A65465A}"/>
              </a:ext>
            </a:extLst>
          </p:cNvPr>
          <p:cNvPicPr>
            <a:picLocks noChangeAspect="1"/>
          </p:cNvPicPr>
          <p:nvPr/>
        </p:nvPicPr>
        <p:blipFill>
          <a:blip r:embed="rId2"/>
          <a:stretch>
            <a:fillRect/>
          </a:stretch>
        </p:blipFill>
        <p:spPr>
          <a:xfrm>
            <a:off x="2301704" y="0"/>
            <a:ext cx="4808220" cy="4495800"/>
          </a:xfrm>
          <a:prstGeom prst="rect">
            <a:avLst/>
          </a:prstGeom>
        </p:spPr>
      </p:pic>
      <p:sp>
        <p:nvSpPr>
          <p:cNvPr id="5" name="TextBox 4">
            <a:extLst>
              <a:ext uri="{FF2B5EF4-FFF2-40B4-BE49-F238E27FC236}">
                <a16:creationId xmlns:a16="http://schemas.microsoft.com/office/drawing/2014/main" id="{ECB55B19-BCD6-F282-C32D-4F0CFFA71381}"/>
              </a:ext>
            </a:extLst>
          </p:cNvPr>
          <p:cNvSpPr txBox="1"/>
          <p:nvPr/>
        </p:nvSpPr>
        <p:spPr>
          <a:xfrm>
            <a:off x="3695700" y="4819650"/>
            <a:ext cx="2285999" cy="276999"/>
          </a:xfrm>
          <a:prstGeom prst="rect">
            <a:avLst/>
          </a:prstGeom>
          <a:noFill/>
        </p:spPr>
        <p:txBody>
          <a:bodyPr wrap="square" rtlCol="0">
            <a:spAutoFit/>
          </a:bodyPr>
          <a:lstStyle/>
          <a:p>
            <a:r>
              <a:rPr lang="en-CA" sz="1200" dirty="0">
                <a:latin typeface="Roboto Mono Light" panose="020B0604020202020204" charset="0"/>
                <a:ea typeface="Roboto Mono Light" panose="020B0604020202020204" charset="0"/>
              </a:rPr>
              <a:t>Credit : </a:t>
            </a:r>
            <a:r>
              <a:rPr lang="en-CA" sz="1200" dirty="0" err="1">
                <a:latin typeface="Roboto Mono Light" panose="020B0604020202020204" charset="0"/>
                <a:ea typeface="Roboto Mono Light" panose="020B0604020202020204" charset="0"/>
              </a:rPr>
              <a:t>DesignMantic</a:t>
            </a:r>
            <a:endParaRPr lang="en-CA" sz="1200" dirty="0">
              <a:latin typeface="Roboto Mono Light" panose="020B0604020202020204" charset="0"/>
              <a:ea typeface="Roboto Mono Light" panose="020B0604020202020204" charset="0"/>
            </a:endParaRPr>
          </a:p>
        </p:txBody>
      </p:sp>
    </p:spTree>
    <p:extLst>
      <p:ext uri="{BB962C8B-B14F-4D97-AF65-F5344CB8AC3E}">
        <p14:creationId xmlns:p14="http://schemas.microsoft.com/office/powerpoint/2010/main" val="24545115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312931" y="1220677"/>
            <a:ext cx="4162425" cy="2985433"/>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b="0" i="0" dirty="0">
                <a:solidFill>
                  <a:srgbClr val="000000"/>
                </a:solidFill>
                <a:effectLst/>
                <a:highlight>
                  <a:srgbClr val="FFFFFF"/>
                </a:highlight>
                <a:latin typeface="Jost"/>
              </a:rPr>
              <a:t>more useful information (the signal) &gt;&gt;&gt;&gt;&gt;&gt; unwanted data (the noise)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29421781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3F9277-944D-2C4D-8F24-A35317C2460D}"/>
              </a:ext>
            </a:extLst>
          </p:cNvPr>
          <p:cNvSpPr txBox="1"/>
          <p:nvPr/>
        </p:nvSpPr>
        <p:spPr>
          <a:xfrm>
            <a:off x="3746810" y="2163337"/>
            <a:ext cx="1791630" cy="584775"/>
          </a:xfrm>
          <a:prstGeom prst="rect">
            <a:avLst/>
          </a:prstGeom>
          <a:noFill/>
        </p:spPr>
        <p:txBody>
          <a:bodyPr wrap="square" rtlCol="0">
            <a:spAutoFit/>
          </a:bodyPr>
          <a:lstStyle/>
          <a:p>
            <a:r>
              <a:rPr lang="en-US" sz="3200" dirty="0"/>
              <a:t>SNR</a:t>
            </a:r>
            <a:endParaRPr lang="en-CA" sz="3200" dirty="0"/>
          </a:p>
        </p:txBody>
      </p:sp>
      <p:pic>
        <p:nvPicPr>
          <p:cNvPr id="4" name="Picture 3">
            <a:extLst>
              <a:ext uri="{FF2B5EF4-FFF2-40B4-BE49-F238E27FC236}">
                <a16:creationId xmlns:a16="http://schemas.microsoft.com/office/drawing/2014/main" id="{3A64EB42-07F6-5589-9E93-74C5E0FE9BE4}"/>
              </a:ext>
            </a:extLst>
          </p:cNvPr>
          <p:cNvPicPr>
            <a:picLocks noChangeAspect="1"/>
          </p:cNvPicPr>
          <p:nvPr/>
        </p:nvPicPr>
        <p:blipFill>
          <a:blip r:embed="rId2"/>
          <a:stretch>
            <a:fillRect/>
          </a:stretch>
        </p:blipFill>
        <p:spPr>
          <a:xfrm>
            <a:off x="0" y="8929"/>
            <a:ext cx="9144000" cy="5125641"/>
          </a:xfrm>
          <a:prstGeom prst="rect">
            <a:avLst/>
          </a:prstGeom>
        </p:spPr>
      </p:pic>
      <p:sp>
        <p:nvSpPr>
          <p:cNvPr id="3" name="TextBox 2">
            <a:extLst>
              <a:ext uri="{FF2B5EF4-FFF2-40B4-BE49-F238E27FC236}">
                <a16:creationId xmlns:a16="http://schemas.microsoft.com/office/drawing/2014/main" id="{54110566-3CDA-401E-46EC-993BCA4F438B}"/>
              </a:ext>
            </a:extLst>
          </p:cNvPr>
          <p:cNvSpPr txBox="1"/>
          <p:nvPr/>
        </p:nvSpPr>
        <p:spPr>
          <a:xfrm>
            <a:off x="1308410" y="728546"/>
            <a:ext cx="1032655" cy="369332"/>
          </a:xfrm>
          <a:prstGeom prst="rect">
            <a:avLst/>
          </a:prstGeom>
          <a:noFill/>
        </p:spPr>
        <p:txBody>
          <a:bodyPr wrap="none" rtlCol="0">
            <a:spAutoFit/>
          </a:bodyPr>
          <a:lstStyle/>
          <a:p>
            <a:r>
              <a:rPr lang="en-US" dirty="0">
                <a:solidFill>
                  <a:schemeClr val="bg1"/>
                </a:solidFill>
                <a:latin typeface="Google Sans" panose="020B0503030502040204" pitchFamily="34" charset="0"/>
              </a:rPr>
              <a:t>S/R (dB)</a:t>
            </a:r>
            <a:endParaRPr lang="en-CA" dirty="0">
              <a:solidFill>
                <a:schemeClr val="bg1"/>
              </a:solidFill>
              <a:latin typeface="Google Sans" panose="020B0503030502040204" pitchFamily="34" charset="0"/>
            </a:endParaRPr>
          </a:p>
        </p:txBody>
      </p:sp>
    </p:spTree>
    <p:extLst>
      <p:ext uri="{BB962C8B-B14F-4D97-AF65-F5344CB8AC3E}">
        <p14:creationId xmlns:p14="http://schemas.microsoft.com/office/powerpoint/2010/main" val="7700526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139750" y="1562836"/>
            <a:ext cx="5048443" cy="2492990"/>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dirty="0">
                <a:solidFill>
                  <a:srgbClr val="000000"/>
                </a:solidFill>
                <a:highlight>
                  <a:srgbClr val="FFFFFF"/>
                </a:highlight>
                <a:latin typeface="Jost"/>
              </a:rPr>
              <a:t>M</a:t>
            </a:r>
            <a:r>
              <a:rPr lang="en-US" sz="3200" b="0" i="0" dirty="0">
                <a:solidFill>
                  <a:srgbClr val="000000"/>
                </a:solidFill>
                <a:effectLst/>
                <a:highlight>
                  <a:srgbClr val="FFFFFF"/>
                </a:highlight>
                <a:latin typeface="Jost"/>
              </a:rPr>
              <a:t>ore useful information (the signal) &gt;&gt;&gt;&gt;&gt;&gt; </a:t>
            </a:r>
          </a:p>
          <a:p>
            <a:r>
              <a:rPr lang="en-US" sz="3200" b="0" i="0" dirty="0">
                <a:solidFill>
                  <a:srgbClr val="000000"/>
                </a:solidFill>
                <a:effectLst/>
                <a:highlight>
                  <a:srgbClr val="FFFFFF"/>
                </a:highlight>
                <a:latin typeface="Jost"/>
              </a:rPr>
              <a:t>unwanted data (the noise)</a:t>
            </a:r>
            <a:endParaRPr lang="en-CA" sz="3000" dirty="0">
              <a:latin typeface="Google Sans" panose="020B0604020202020204" charset="0"/>
              <a:ea typeface="Google Sans" panose="020B0604020202020204" charset="0"/>
              <a:cs typeface="Google Sans" panose="020B0604020202020204" charset="0"/>
            </a:endParaRPr>
          </a:p>
        </p:txBody>
      </p:sp>
      <p:pic>
        <p:nvPicPr>
          <p:cNvPr id="1026" name="Picture 2" descr="Signal to Noise">
            <a:extLst>
              <a:ext uri="{FF2B5EF4-FFF2-40B4-BE49-F238E27FC236}">
                <a16:creationId xmlns:a16="http://schemas.microsoft.com/office/drawing/2014/main" id="{917CA62F-8328-BD4F-F015-39964B19E9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61374" y="352425"/>
            <a:ext cx="3333750" cy="4438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58659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0" y="1019175"/>
            <a:ext cx="4200525" cy="2586038"/>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dirty="0">
                <a:solidFill>
                  <a:schemeClr val="lt1"/>
                </a:solidFill>
              </a:rPr>
              <a:t>A design with inclusivity and neurodiversity in mind is not just ‘nice to have’ – it’s imperative</a:t>
            </a:r>
          </a:p>
        </p:txBody>
      </p:sp>
      <p:pic>
        <p:nvPicPr>
          <p:cNvPr id="4100" name="Picture 4" descr="An Introduction to Human-Centered Design">
            <a:extLst>
              <a:ext uri="{FF2B5EF4-FFF2-40B4-BE49-F238E27FC236}">
                <a16:creationId xmlns:a16="http://schemas.microsoft.com/office/drawing/2014/main" id="{414D396F-35BC-F18E-94DE-919BACD7CD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43477" y="1131236"/>
            <a:ext cx="3918024" cy="273091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15CACCB-BE19-28D2-A483-E39AB111606D}"/>
              </a:ext>
            </a:extLst>
          </p:cNvPr>
          <p:cNvSpPr txBox="1"/>
          <p:nvPr/>
        </p:nvSpPr>
        <p:spPr>
          <a:xfrm>
            <a:off x="540327" y="1427018"/>
            <a:ext cx="4336473" cy="1938992"/>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 design with inclusivity and neurodiversity in mind is not just ‘nice to have’ – it’s imperative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8204936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085128B-CD7D-E26A-7E37-54947783668A}"/>
              </a:ext>
            </a:extLst>
          </p:cNvPr>
          <p:cNvSpPr txBox="1"/>
          <p:nvPr/>
        </p:nvSpPr>
        <p:spPr>
          <a:xfrm>
            <a:off x="691376" y="369723"/>
            <a:ext cx="7062439" cy="646331"/>
          </a:xfrm>
          <a:prstGeom prst="rect">
            <a:avLst/>
          </a:prstGeom>
          <a:noFill/>
        </p:spPr>
        <p:txBody>
          <a:bodyPr wrap="square">
            <a:spAutoFit/>
          </a:bodyPr>
          <a:lstStyle/>
          <a:p>
            <a:r>
              <a:rPr lang="en-CA" sz="3600" dirty="0">
                <a:latin typeface="Google Sans" panose="020B0503030502040204" pitchFamily="34" charset="0"/>
              </a:rPr>
              <a:t>Accessibility is more than a ramp</a:t>
            </a:r>
          </a:p>
        </p:txBody>
      </p:sp>
      <p:sp>
        <p:nvSpPr>
          <p:cNvPr id="4" name="TextBox 3">
            <a:extLst>
              <a:ext uri="{FF2B5EF4-FFF2-40B4-BE49-F238E27FC236}">
                <a16:creationId xmlns:a16="http://schemas.microsoft.com/office/drawing/2014/main" id="{D4B1A4FB-570E-5FA1-5C05-AA2F7999BCD5}"/>
              </a:ext>
            </a:extLst>
          </p:cNvPr>
          <p:cNvSpPr txBox="1"/>
          <p:nvPr/>
        </p:nvSpPr>
        <p:spPr>
          <a:xfrm>
            <a:off x="750849" y="1970049"/>
            <a:ext cx="7740119" cy="1569660"/>
          </a:xfrm>
          <a:prstGeom prst="rect">
            <a:avLst/>
          </a:prstGeom>
          <a:noFill/>
        </p:spPr>
        <p:txBody>
          <a:bodyPr wrap="square" rtlCol="0">
            <a:spAutoFit/>
          </a:bodyPr>
          <a:lstStyle/>
          <a:p>
            <a:r>
              <a:rPr lang="en-US" sz="3000" dirty="0">
                <a:latin typeface="Google Sans" panose="020B0503030502040204" pitchFamily="34" charset="0"/>
              </a:rPr>
              <a:t>Designing for 'disability first’ often uncovers solutions that help everyone.</a:t>
            </a:r>
          </a:p>
          <a:p>
            <a:endParaRPr lang="en-US" dirty="0"/>
          </a:p>
          <a:p>
            <a:endParaRPr lang="en-CA" dirty="0"/>
          </a:p>
        </p:txBody>
      </p:sp>
    </p:spTree>
    <p:extLst>
      <p:ext uri="{BB962C8B-B14F-4D97-AF65-F5344CB8AC3E}">
        <p14:creationId xmlns:p14="http://schemas.microsoft.com/office/powerpoint/2010/main" val="11341911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pic>
        <p:nvPicPr>
          <p:cNvPr id="3076" name="Picture 4" descr="HR Magazine - Neurodiversity: a legal perspective">
            <a:extLst>
              <a:ext uri="{FF2B5EF4-FFF2-40B4-BE49-F238E27FC236}">
                <a16:creationId xmlns:a16="http://schemas.microsoft.com/office/drawing/2014/main" id="{5F397980-4E1C-215A-79DE-80341C083B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1175897"/>
            <a:ext cx="3471747" cy="279170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C7BAB18-F324-C400-1D2A-87FF80352A77}"/>
              </a:ext>
            </a:extLst>
          </p:cNvPr>
          <p:cNvSpPr txBox="1"/>
          <p:nvPr/>
        </p:nvSpPr>
        <p:spPr>
          <a:xfrm>
            <a:off x="468351" y="1220677"/>
            <a:ext cx="3694771" cy="2862322"/>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Great Minds Think Unalike And Learn Differently</a:t>
            </a:r>
            <a:br>
              <a:rPr lang="en-US" sz="3000" dirty="0">
                <a:latin typeface="Google Sans" panose="020B0604020202020204" charset="0"/>
                <a:ea typeface="Google Sans" panose="020B0604020202020204" charset="0"/>
                <a:cs typeface="Google Sans" panose="020B0604020202020204" charset="0"/>
              </a:rPr>
            </a:br>
            <a:br>
              <a:rPr lang="en-US" sz="3000" dirty="0">
                <a:latin typeface="Google Sans" panose="020B0604020202020204" charset="0"/>
                <a:ea typeface="Google Sans" panose="020B0604020202020204" charset="0"/>
                <a:cs typeface="Google Sans" panose="020B0604020202020204" charset="0"/>
              </a:rPr>
            </a:br>
            <a:r>
              <a:rPr lang="en-US" sz="3000" dirty="0">
                <a:latin typeface="Google Sans" panose="020B0604020202020204" charset="0"/>
                <a:ea typeface="Google Sans" panose="020B0604020202020204" charset="0"/>
                <a:cs typeface="Google Sans" panose="020B0604020202020204" charset="0"/>
              </a:rPr>
              <a:t>Representation Matters!</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4667508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3" name="Picture 2">
            <a:extLst>
              <a:ext uri="{FF2B5EF4-FFF2-40B4-BE49-F238E27FC236}">
                <a16:creationId xmlns:a16="http://schemas.microsoft.com/office/drawing/2014/main" id="{31DD495C-BFDE-D09E-780C-08317F70A58E}"/>
              </a:ext>
            </a:extLst>
          </p:cNvPr>
          <p:cNvPicPr>
            <a:picLocks noChangeAspect="1"/>
          </p:cNvPicPr>
          <p:nvPr/>
        </p:nvPicPr>
        <p:blipFill>
          <a:blip r:embed="rId3"/>
          <a:stretch>
            <a:fillRect/>
          </a:stretch>
        </p:blipFill>
        <p:spPr>
          <a:xfrm>
            <a:off x="0" y="-1"/>
            <a:ext cx="9209903" cy="5663685"/>
          </a:xfrm>
          <a:prstGeom prst="rect">
            <a:avLst/>
          </a:prstGeom>
        </p:spPr>
      </p:pic>
    </p:spTree>
    <p:extLst>
      <p:ext uri="{BB962C8B-B14F-4D97-AF65-F5344CB8AC3E}">
        <p14:creationId xmlns:p14="http://schemas.microsoft.com/office/powerpoint/2010/main" val="7475615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41EDB01-7B92-C411-D38D-3139915E7025}"/>
              </a:ext>
            </a:extLst>
          </p:cNvPr>
          <p:cNvSpPr txBox="1">
            <a:spLocks noGrp="1"/>
          </p:cNvSpPr>
          <p:nvPr>
            <p:ph type="title"/>
          </p:nvPr>
        </p:nvSpPr>
        <p:spPr>
          <a:xfrm>
            <a:off x="1960563" y="1803400"/>
            <a:ext cx="2808287" cy="755650"/>
          </a:xfrm>
          <a:prstGeom prst="rect">
            <a:avLst/>
          </a:prstGeom>
          <a:noFill/>
        </p:spPr>
        <p:txBody>
          <a:bodyPr wrap="square" rtlCol="0">
            <a:spAutoFit/>
          </a:bodyPr>
          <a:lstStyle/>
          <a:p>
            <a:pPr algn="l"/>
            <a:r>
              <a:rPr lang="en-US" sz="4000" b="1" i="0" dirty="0">
                <a:solidFill>
                  <a:srgbClr val="1E0A3C"/>
                </a:solidFill>
                <a:effectLst/>
                <a:latin typeface="Neue Plak"/>
              </a:rPr>
              <a:t>Thank you </a:t>
            </a:r>
            <a:endParaRPr lang="en-CA" dirty="0"/>
          </a:p>
        </p:txBody>
      </p:sp>
      <p:pic>
        <p:nvPicPr>
          <p:cNvPr id="5" name="Graphic 4" descr="Butterfly with solid fill">
            <a:extLst>
              <a:ext uri="{FF2B5EF4-FFF2-40B4-BE49-F238E27FC236}">
                <a16:creationId xmlns:a16="http://schemas.microsoft.com/office/drawing/2014/main" id="{DA08D357-BCFF-B24F-ECED-659B9FEB7DF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653355" y="1724025"/>
            <a:ext cx="914400" cy="914400"/>
          </a:xfrm>
          <a:prstGeom prst="rect">
            <a:avLst/>
          </a:prstGeom>
        </p:spPr>
      </p:pic>
    </p:spTree>
    <p:extLst>
      <p:ext uri="{BB962C8B-B14F-4D97-AF65-F5344CB8AC3E}">
        <p14:creationId xmlns:p14="http://schemas.microsoft.com/office/powerpoint/2010/main" val="9610632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Shape 246"/>
        <p:cNvGrpSpPr/>
        <p:nvPr/>
      </p:nvGrpSpPr>
      <p:grpSpPr>
        <a:xfrm>
          <a:off x="0" y="0"/>
          <a:ext cx="0" cy="0"/>
          <a:chOff x="0" y="0"/>
          <a:chExt cx="0" cy="0"/>
        </a:xfrm>
      </p:grpSpPr>
      <p:pic>
        <p:nvPicPr>
          <p:cNvPr id="2052" name="Picture 4" descr="Thank you for watching our presentation - Minions | Make a Meme">
            <a:extLst>
              <a:ext uri="{FF2B5EF4-FFF2-40B4-BE49-F238E27FC236}">
                <a16:creationId xmlns:a16="http://schemas.microsoft.com/office/drawing/2014/main" id="{D717940E-B1B7-60EE-1AF7-2A08C711B0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65817" y="657457"/>
            <a:ext cx="5715000" cy="396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33581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604</TotalTime>
  <Words>1043</Words>
  <Application>Microsoft Office PowerPoint</Application>
  <PresentationFormat>On-screen Show (16:9)</PresentationFormat>
  <Paragraphs>110</Paragraphs>
  <Slides>52</Slides>
  <Notes>31</Notes>
  <HiddenSlides>7</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52</vt:i4>
      </vt:variant>
    </vt:vector>
  </HeadingPairs>
  <TitlesOfParts>
    <vt:vector size="62" baseType="lpstr">
      <vt:lpstr>Jost</vt:lpstr>
      <vt:lpstr>Calibri</vt:lpstr>
      <vt:lpstr>Google Sans</vt:lpstr>
      <vt:lpstr>Roboto Mono Light</vt:lpstr>
      <vt:lpstr>Merriweather</vt:lpstr>
      <vt:lpstr>open sans</vt:lpstr>
      <vt:lpstr>Calibri Light</vt:lpstr>
      <vt:lpstr>Arial</vt:lpstr>
      <vt:lpstr>Neue Plak</vt:lpstr>
      <vt:lpstr>Office Theme</vt:lpstr>
      <vt:lpstr>Designing for Neurodiversity, Empathy, Human Centric Design and Inclusion in Software Applications  </vt:lpstr>
      <vt:lpstr>PowerPoint Presentation</vt:lpstr>
      <vt:lpstr>PowerPoint Presentation</vt:lpstr>
      <vt:lpstr>PowerPoint Presentation</vt:lpstr>
      <vt:lpstr>PowerPoint Presentation</vt:lpstr>
      <vt:lpstr>Glossophobia</vt:lpstr>
      <vt:lpstr>Before November 30, 2022 and After</vt:lpstr>
      <vt:lpstr>PowerPoint Presentation</vt:lpstr>
      <vt:lpstr>PowerPoint Presentation</vt:lpstr>
      <vt:lpstr>This presentation is for everyone!</vt:lpstr>
      <vt:lpstr>PowerPoint Presentation</vt:lpstr>
      <vt:lpstr>What is Neurodiversity?  Accessibility vs ND  Guidelines for Design  Concluding Remarks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Implement a Forgiving Format to Accommodate Users’ Mistakes</vt:lpstr>
      <vt:lpstr>Be kind and forgiving  Grammarly - Disneyland of Spelling </vt:lpstr>
      <vt:lpstr>Forgot attachment?</vt:lpstr>
      <vt:lpstr>Create Abundance; Not redundance</vt:lpstr>
      <vt:lpstr>           Universal Design Foods (UDF)          Nursery to Nursing Homes</vt:lpstr>
      <vt:lpstr>PowerPoint Presentation</vt:lpstr>
      <vt:lpstr>PowerPoint Presentation</vt:lpstr>
      <vt:lpstr>Canary in the coalmine</vt:lpstr>
      <vt:lpstr>Often the first to sense danger akin to canaries in the coal mine    Preventing miscommunication and not overwhelming the users</vt:lpstr>
      <vt:lpstr>Often the first to sense danger akin to canaries in the coal mine    Preventing miscommunication and not overwhelming the users</vt:lpstr>
      <vt:lpstr>Guidelines</vt:lpstr>
      <vt:lpstr>PowerPoint Presentation</vt:lpstr>
      <vt:lpstr>PowerPoint Presentation</vt:lpstr>
      <vt:lpstr>PowerPoint Presentation</vt:lpstr>
      <vt:lpstr>  Avoid autoplay  Unexpected movement is surprising and scary, not to mention the sound! Psstt I startle a lot!  Add subtitles and captions  </vt:lpstr>
      <vt:lpstr>Aim to visually please, rather than disturb.  Abstain from auto play in websites and music that suddenly appears out of nowhere.  Skip highly vibrant colors.  Perform user testing and focus groups with ND users.  </vt:lpstr>
      <vt:lpstr>Context is the king err queen</vt:lpstr>
      <vt:lpstr>PowerPoint Presentation</vt:lpstr>
      <vt:lpstr>Protanopia - Colour Blindness</vt:lpstr>
      <vt:lpstr>PowerPoint Presentation</vt:lpstr>
      <vt:lpstr>Takeaways</vt:lpstr>
      <vt:lpstr>PowerPoint Presentation</vt:lpstr>
      <vt:lpstr>PowerPoint Presentation</vt:lpstr>
      <vt:lpstr>PowerPoint Presentation</vt:lpstr>
      <vt:lpstr>Great Minds Think Unalike And Learn Differently  Representation Matters!</vt:lpstr>
      <vt:lpstr>PowerPoint Presentation</vt:lpstr>
      <vt:lpstr>Great Minds Think Unalike And Learn Differently  Representation Matters!</vt:lpstr>
      <vt:lpstr>A design with inclusivity and neurodiversity in mind is not just ‘nice to have’ – it’s imperative</vt:lpstr>
      <vt:lpstr>PowerPoint Presentation</vt:lpstr>
      <vt:lpstr>Great Minds Think Unalike And Learn Differently  Representation Matters!</vt:lpstr>
      <vt:lpstr>PowerPoint Presentation</vt:lpstr>
      <vt:lpstr>Thank you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Vaishnavi T V</cp:lastModifiedBy>
  <cp:revision>67</cp:revision>
  <dcterms:modified xsi:type="dcterms:W3CDTF">2025-04-18T19:30:37Z</dcterms:modified>
</cp:coreProperties>
</file>