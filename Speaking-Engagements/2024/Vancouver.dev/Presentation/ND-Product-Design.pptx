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39"/>
  </p:notesMasterIdLst>
  <p:sldIdLst>
    <p:sldId id="260" r:id="rId2"/>
    <p:sldId id="372" r:id="rId3"/>
    <p:sldId id="364" r:id="rId4"/>
    <p:sldId id="323" r:id="rId5"/>
    <p:sldId id="370" r:id="rId6"/>
    <p:sldId id="371" r:id="rId7"/>
    <p:sldId id="324" r:id="rId8"/>
    <p:sldId id="325" r:id="rId9"/>
    <p:sldId id="352" r:id="rId10"/>
    <p:sldId id="327" r:id="rId11"/>
    <p:sldId id="349" r:id="rId12"/>
    <p:sldId id="278" r:id="rId13"/>
    <p:sldId id="330" r:id="rId14"/>
    <p:sldId id="332" r:id="rId15"/>
    <p:sldId id="334" r:id="rId16"/>
    <p:sldId id="279" r:id="rId17"/>
    <p:sldId id="271" r:id="rId18"/>
    <p:sldId id="326" r:id="rId19"/>
    <p:sldId id="336" r:id="rId20"/>
    <p:sldId id="346" r:id="rId21"/>
    <p:sldId id="335" r:id="rId22"/>
    <p:sldId id="347" r:id="rId23"/>
    <p:sldId id="337" r:id="rId24"/>
    <p:sldId id="338" r:id="rId25"/>
    <p:sldId id="333" r:id="rId26"/>
    <p:sldId id="348" r:id="rId27"/>
    <p:sldId id="345" r:id="rId28"/>
    <p:sldId id="339" r:id="rId29"/>
    <p:sldId id="340" r:id="rId30"/>
    <p:sldId id="341" r:id="rId31"/>
    <p:sldId id="365" r:id="rId32"/>
    <p:sldId id="368" r:id="rId33"/>
    <p:sldId id="367" r:id="rId34"/>
    <p:sldId id="366" r:id="rId35"/>
    <p:sldId id="342" r:id="rId36"/>
    <p:sldId id="343" r:id="rId37"/>
    <p:sldId id="344" r:id="rId38"/>
  </p:sldIdLst>
  <p:sldSz cx="9144000" cy="5143500" type="screen16x9"/>
  <p:notesSz cx="6858000" cy="9144000"/>
  <p:embeddedFontLst>
    <p:embeddedFont>
      <p:font typeface="Google Sans" panose="020B0503030502040204" pitchFamily="34" charset="0"/>
      <p:regular r:id="rId40"/>
      <p:bold r:id="rId41"/>
      <p:italic r:id="rId42"/>
      <p:boldItalic r:id="rId43"/>
    </p:embeddedFont>
    <p:embeddedFont>
      <p:font typeface="Merriweather" panose="00000500000000000000" pitchFamily="2" charset="0"/>
      <p:regular r:id="rId44"/>
      <p:bold r:id="rId45"/>
      <p:italic r:id="rId46"/>
      <p:boldItalic r:id="rId47"/>
    </p:embeddedFont>
    <p:embeddedFont>
      <p:font typeface="open sans" panose="020B0606030504020204" pitchFamily="34" charset="0"/>
      <p:regular r:id="rId48"/>
      <p:bold r:id="rId49"/>
      <p:italic r:id="rId50"/>
      <p:boldItalic r:id="rId51"/>
    </p:embeddedFont>
    <p:embeddedFont>
      <p:font typeface="Roboto Mono Light" panose="00000009000000000000" pitchFamily="49" charset="0"/>
      <p:regular r:id="rId52"/>
      <p:bold r:id="rId53"/>
      <p:italic r:id="rId54"/>
      <p:boldItalic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1" d="100"/>
          <a:sy n="101" d="100"/>
        </p:scale>
        <p:origin x="917" y="125"/>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23b176a52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23b176a52f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1748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BBDC4A01-8650-CF16-5DF8-F61A4AA98BB8}"/>
            </a:ext>
          </a:extLst>
        </p:cNvPr>
        <p:cNvGrpSpPr/>
        <p:nvPr/>
      </p:nvGrpSpPr>
      <p:grpSpPr>
        <a:xfrm>
          <a:off x="0" y="0"/>
          <a:ext cx="0" cy="0"/>
          <a:chOff x="0" y="0"/>
          <a:chExt cx="0" cy="0"/>
        </a:xfrm>
      </p:grpSpPr>
      <p:sp>
        <p:nvSpPr>
          <p:cNvPr id="194" name="Google Shape;194;p16:notes">
            <a:extLst>
              <a:ext uri="{FF2B5EF4-FFF2-40B4-BE49-F238E27FC236}">
                <a16:creationId xmlns:a16="http://schemas.microsoft.com/office/drawing/2014/main" id="{5850550B-9150-0A45-103E-DF53BF484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a:extLst>
              <a:ext uri="{FF2B5EF4-FFF2-40B4-BE49-F238E27FC236}">
                <a16:creationId xmlns:a16="http://schemas.microsoft.com/office/drawing/2014/main" id="{FD672FF0-A332-2ED8-2FB5-A8AD8FCDCA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023220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176577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0905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3a73e9a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a3a73e9a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7340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8075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CA" dirty="0"/>
              <a:t>Named after the curb cut that enables wheelchair users on and off</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69073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2799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0" i="0" dirty="0">
                <a:solidFill>
                  <a:srgbClr val="2B2B2B"/>
                </a:solidFill>
                <a:effectLst/>
                <a:latin typeface="Merriweather" panose="00000500000000000000" pitchFamily="2" charset="0"/>
              </a:rPr>
              <a:t>do not want to punish them for their irregularities and force them to correct things before providing them with the expected or desired responses. They’re users who are visiting your site by choice, not your students or employees.</a:t>
            </a:r>
            <a:br>
              <a:rPr lang="en-US" b="1" u="none" strike="noStrike" dirty="0">
                <a:effectLst/>
              </a:rPr>
            </a:br>
            <a:endParaRPr dirty="0"/>
          </a:p>
        </p:txBody>
      </p:sp>
    </p:spTree>
    <p:extLst>
      <p:ext uri="{BB962C8B-B14F-4D97-AF65-F5344CB8AC3E}">
        <p14:creationId xmlns:p14="http://schemas.microsoft.com/office/powerpoint/2010/main" val="1041580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125514d5365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125514d5365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effectLst/>
              </a:rPr>
              <a:t>Attachments first, message second, subject third, and recipients last. This is the way.</a:t>
            </a:r>
          </a:p>
          <a:p>
            <a:br>
              <a:rPr lang="en-US" b="1" u="none" strike="noStrike" dirty="0">
                <a:effectLst/>
              </a:rPr>
            </a:b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99083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For any Asana project, you can switch between several different views to see tasks however you want: </a:t>
            </a:r>
            <a:r>
              <a:rPr lang="en-US" b="0" i="0" dirty="0">
                <a:solidFill>
                  <a:srgbClr val="E2EEFF"/>
                </a:solidFill>
                <a:effectLst/>
                <a:latin typeface="Google Sans" panose="020B0604020202020204" charset="0"/>
              </a:rPr>
              <a:t>Lists - For chronological to-dos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Boards - Kanban style view to move work through stages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Timeline - Gantt-style view for deadline-bound work with dependencies</a:t>
            </a:r>
            <a:r>
              <a:rPr lang="en-US" b="0" i="0" dirty="0">
                <a:solidFill>
                  <a:srgbClr val="E8EAED"/>
                </a:solidFill>
                <a:effectLst/>
                <a:latin typeface="Google Sans" panose="020B0604020202020204" charset="0"/>
              </a:rPr>
              <a:t>.</a:t>
            </a:r>
            <a:endParaRPr dirty="0"/>
          </a:p>
        </p:txBody>
      </p:sp>
    </p:spTree>
    <p:extLst>
      <p:ext uri="{BB962C8B-B14F-4D97-AF65-F5344CB8AC3E}">
        <p14:creationId xmlns:p14="http://schemas.microsoft.com/office/powerpoint/2010/main" val="3442412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313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Coal miners used to take canaries into coal mines with them. </a:t>
            </a:r>
            <a:r>
              <a:rPr lang="en-US" b="0" i="0" dirty="0">
                <a:solidFill>
                  <a:srgbClr val="E2EEFF"/>
                </a:solidFill>
                <a:effectLst/>
                <a:latin typeface="Google Sans" panose="020B0604020202020204" charset="0"/>
              </a:rPr>
              <a:t>Canaries are more sensitive to dangerous gases than humans are</a:t>
            </a:r>
            <a:r>
              <a:rPr lang="en-US" b="0" i="0" dirty="0">
                <a:solidFill>
                  <a:srgbClr val="E8EAED"/>
                </a:solidFill>
                <a:effectLst/>
                <a:latin typeface="Google Sans" panose="020B0604020202020204" charset="0"/>
              </a:rPr>
              <a:t>. If the canary died, the miners knew there were dangerous gases present and would leave the mine.</a:t>
            </a:r>
          </a:p>
          <a:p>
            <a:pPr marL="0" lvl="0" indent="0" algn="l" rtl="0">
              <a:spcBef>
                <a:spcPts val="0"/>
              </a:spcBef>
              <a:spcAft>
                <a:spcPts val="0"/>
              </a:spcAft>
              <a:buNone/>
            </a:pPr>
            <a:r>
              <a:rPr lang="en-US" b="0" i="0" dirty="0">
                <a:solidFill>
                  <a:srgbClr val="000000"/>
                </a:solidFill>
                <a:effectLst/>
                <a:latin typeface="open sans" panose="020B0606030504020204" pitchFamily="34" charset="0"/>
              </a:rPr>
              <a:t>Pit ponies, the other animal that went underground with human miners to haul coal, were also phased out by automation. T</a:t>
            </a:r>
            <a:endParaRPr dirty="0"/>
          </a:p>
        </p:txBody>
      </p:sp>
    </p:spTree>
    <p:extLst>
      <p:ext uri="{BB962C8B-B14F-4D97-AF65-F5344CB8AC3E}">
        <p14:creationId xmlns:p14="http://schemas.microsoft.com/office/powerpoint/2010/main" val="7181270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53846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60193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31216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2107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3538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3653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07266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513386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1999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05696-EC50-BC8D-311C-98B53B12C0B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CC6F7028-7706-B3B8-66B9-37F1BB29AD84}"/>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C7FDC144-D2B6-104F-5B09-134055281E1C}"/>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34C7DF50-BD36-4DC1-5C23-2B5D9CD623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DFDCCF9-3347-4EC6-A0B8-6D84DFFF712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559640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7896C-5223-014F-664A-2AEFC16205AD}"/>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EA7ABD6-8F76-C5FD-E67B-64AD01C05D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6CF49B-379F-94C9-9D4E-9524F1FB0FB5}"/>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E8957870-6D4D-D284-C4ED-DE52227885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D28A4C-117A-9612-B224-3CFA1A69AC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8675191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61F70-A29B-2C35-E4C9-E839E52EC64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5B23476F-C579-F170-837B-8171D44C7FAB}"/>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7E9A80-A346-4797-9592-6B609EE142D7}"/>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E1F48DF2-2D91-CFD0-1E27-0257C7E4573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E59D0-9996-098C-0D47-646BA0A803B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443847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D1790-C276-89CC-CFDB-13AB897F1C1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CF02CAE-8520-55C4-DAA0-080CF32B5020}"/>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BF6C76A-31E6-1EBE-A43D-3FD7763AA31E}"/>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B6AACC8-A3B7-18FE-D62E-BF338F44A68D}"/>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6C4125A8-B94E-D2D7-EF41-3CA736276D7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D86B9D5-7423-8899-4D77-639371D0142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428431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6298F-BD6F-9789-818A-6A4DF0CF12C4}"/>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6C316AA-8568-B9A6-3876-FDC527F25DD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F0B5F-8AC0-E5CA-7785-B0F5739C6A5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30607FE-F4D9-2A8B-9D51-9ECA0293024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67EF9B6-4210-528A-97F8-BE8CE35C75BF}"/>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3D5AA33-05EA-35EC-D1EF-5E8C6E274BEA}"/>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8" name="Footer Placeholder 7">
            <a:extLst>
              <a:ext uri="{FF2B5EF4-FFF2-40B4-BE49-F238E27FC236}">
                <a16:creationId xmlns:a16="http://schemas.microsoft.com/office/drawing/2014/main" id="{4362BAB2-DE91-0537-E2FC-5CB7C2BD9B6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86CAD9-5AA6-9951-5B81-CF68B801379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33652292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962D-708F-C9BC-D46B-22AC92BE520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FBB71D2-8F76-BAB8-D4BD-82F1D15079B3}"/>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4" name="Footer Placeholder 3">
            <a:extLst>
              <a:ext uri="{FF2B5EF4-FFF2-40B4-BE49-F238E27FC236}">
                <a16:creationId xmlns:a16="http://schemas.microsoft.com/office/drawing/2014/main" id="{F4BBBB02-B5B7-C3D2-50F4-1B674EE891E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46E9AF2-6107-E18F-A611-1C7FFA8D25C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74885412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28B4FC-6C8B-7645-D279-DFAB67F9F06A}"/>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3" name="Footer Placeholder 2">
            <a:extLst>
              <a:ext uri="{FF2B5EF4-FFF2-40B4-BE49-F238E27FC236}">
                <a16:creationId xmlns:a16="http://schemas.microsoft.com/office/drawing/2014/main" id="{350AA886-8F9E-8FFD-2DEC-ECC6995ED09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29B1C1C-2850-344F-C45A-F782E6DC5F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382752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DEB4-B283-FF2A-A4B2-1254EFB5181C}"/>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AD5F744-5BC5-C602-E5CE-D1203F310C9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E629111-84FF-233F-DD73-D23FA86BFF2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773109E-D520-9863-D705-C4B77C63B7DE}"/>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6A24FF0E-5FF7-436F-9AC5-30B363B381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C18EF52-6E39-B2D0-9DA1-346C745ED62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0699019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62050-8245-BBF5-B2E7-8E8EB2AD95E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3EEFCC93-AD30-8043-D711-46E2BB00FFA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6485B632-2E0D-9C6D-F62B-5773810E24F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3FF7A83-0F09-6960-9B0E-A89CDF1689C4}"/>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6" name="Footer Placeholder 5">
            <a:extLst>
              <a:ext uri="{FF2B5EF4-FFF2-40B4-BE49-F238E27FC236}">
                <a16:creationId xmlns:a16="http://schemas.microsoft.com/office/drawing/2014/main" id="{4F2A97C7-3FCE-1004-E5CA-C355D227C0D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056D32-7886-57A4-2ED7-2EBD12C4DE1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89821385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C0B5E-2EB8-E1B9-FC21-3784837348F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879B33E-74B6-E5E2-9D08-8E69C747D8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60AA5D0-FC03-EEC3-8B61-89A5D984C136}"/>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04446037-7EEE-DBDF-695F-BBCBB58B94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631AC7-950F-345E-42AB-9C141ED81C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219936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067E1-AC84-A2A0-A71E-B01BE792E4C7}"/>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D786C96-B4A9-88ED-377E-DF46A2389720}"/>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6306CC-FA96-40D2-6778-5C2D9519E49C}"/>
              </a:ext>
            </a:extLst>
          </p:cNvPr>
          <p:cNvSpPr>
            <a:spLocks noGrp="1"/>
          </p:cNvSpPr>
          <p:nvPr>
            <p:ph type="dt" sz="half" idx="10"/>
          </p:nvPr>
        </p:nvSpPr>
        <p:spPr/>
        <p:txBody>
          <a:body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FC8F7E21-2EB3-CD74-B775-26B0B737C1C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CAFEB62-AECC-8B70-0F39-BB6D42732C6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8291917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ck Title">
  <p:cSld name="Deck Title">
    <p:spTree>
      <p:nvGrpSpPr>
        <p:cNvPr id="1" name="Shape 9"/>
        <p:cNvGrpSpPr/>
        <p:nvPr/>
      </p:nvGrpSpPr>
      <p:grpSpPr>
        <a:xfrm>
          <a:off x="0" y="0"/>
          <a:ext cx="0" cy="0"/>
          <a:chOff x="0" y="0"/>
          <a:chExt cx="0" cy="0"/>
        </a:xfrm>
      </p:grpSpPr>
      <p:sp>
        <p:nvSpPr>
          <p:cNvPr id="11" name="Google Shape;11;p2"/>
          <p:cNvSpPr txBox="1">
            <a:spLocks noGrp="1"/>
          </p:cNvSpPr>
          <p:nvPr>
            <p:ph type="title"/>
          </p:nvPr>
        </p:nvSpPr>
        <p:spPr>
          <a:xfrm>
            <a:off x="541975" y="2036775"/>
            <a:ext cx="4847100" cy="1736100"/>
          </a:xfrm>
          <a:prstGeom prst="rect">
            <a:avLst/>
          </a:prstGeom>
        </p:spPr>
        <p:txBody>
          <a:bodyPr spcFirstLastPara="1" wrap="square" lIns="0" tIns="0" rIns="0" bIns="0" anchor="t" anchorCtr="0">
            <a:normAutofit/>
          </a:bodyPr>
          <a:lstStyle>
            <a:lvl1pPr lvl="0">
              <a:lnSpc>
                <a:spcPct val="95000"/>
              </a:lnSpc>
              <a:spcBef>
                <a:spcPts val="0"/>
              </a:spcBef>
              <a:spcAft>
                <a:spcPts val="0"/>
              </a:spcAft>
              <a:buSzPts val="4000"/>
              <a:buNone/>
              <a:defRPr sz="4000"/>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endParaRPr/>
          </a:p>
        </p:txBody>
      </p:sp>
      <p:sp>
        <p:nvSpPr>
          <p:cNvPr id="12" name="Google Shape;12;p2"/>
          <p:cNvSpPr txBox="1">
            <a:spLocks noGrp="1"/>
          </p:cNvSpPr>
          <p:nvPr>
            <p:ph type="subTitle" idx="1"/>
          </p:nvPr>
        </p:nvSpPr>
        <p:spPr>
          <a:xfrm>
            <a:off x="1134386" y="4501770"/>
            <a:ext cx="3841500" cy="318000"/>
          </a:xfrm>
          <a:prstGeom prst="rect">
            <a:avLst/>
          </a:prstGeom>
        </p:spPr>
        <p:txBody>
          <a:bodyPr spcFirstLastPara="1" wrap="square" lIns="0" tIns="0" rIns="0" bIns="0" anchor="t" anchorCtr="0">
            <a:normAutofit/>
          </a:bodyPr>
          <a:lstStyle>
            <a:lvl1pPr lvl="0">
              <a:spcBef>
                <a:spcPts val="0"/>
              </a:spcBef>
              <a:spcAft>
                <a:spcPts val="0"/>
              </a:spcAft>
              <a:buClr>
                <a:schemeClr val="accent1"/>
              </a:buClr>
              <a:buSzPts val="1500"/>
              <a:buFont typeface="Google Sans"/>
              <a:buNone/>
              <a:defRPr sz="1500">
                <a:solidFill>
                  <a:schemeClr val="accent1"/>
                </a:solidFill>
                <a:latin typeface="Google Sans"/>
                <a:ea typeface="Google Sans"/>
                <a:cs typeface="Google Sans"/>
                <a:sym typeface="Google Sans"/>
              </a:defRPr>
            </a:lvl1pPr>
            <a:lvl2pPr lvl="1">
              <a:spcBef>
                <a:spcPts val="0"/>
              </a:spcBef>
              <a:spcAft>
                <a:spcPts val="0"/>
              </a:spcAft>
              <a:buClr>
                <a:schemeClr val="accent1"/>
              </a:buClr>
              <a:buSzPts val="1500"/>
              <a:buNone/>
              <a:defRPr sz="1500">
                <a:solidFill>
                  <a:schemeClr val="accent1"/>
                </a:solidFill>
              </a:defRPr>
            </a:lvl2pPr>
            <a:lvl3pPr lvl="2">
              <a:spcBef>
                <a:spcPts val="0"/>
              </a:spcBef>
              <a:spcAft>
                <a:spcPts val="0"/>
              </a:spcAft>
              <a:buClr>
                <a:schemeClr val="accent1"/>
              </a:buClr>
              <a:buSzPts val="1500"/>
              <a:buNone/>
              <a:defRPr sz="1500">
                <a:solidFill>
                  <a:schemeClr val="accent1"/>
                </a:solidFill>
              </a:defRPr>
            </a:lvl3pPr>
            <a:lvl4pPr lvl="3">
              <a:spcBef>
                <a:spcPts val="0"/>
              </a:spcBef>
              <a:spcAft>
                <a:spcPts val="0"/>
              </a:spcAft>
              <a:buClr>
                <a:schemeClr val="accent1"/>
              </a:buClr>
              <a:buSzPts val="1500"/>
              <a:buNone/>
              <a:defRPr sz="1500">
                <a:solidFill>
                  <a:schemeClr val="accent1"/>
                </a:solidFill>
              </a:defRPr>
            </a:lvl4pPr>
            <a:lvl5pPr lvl="4">
              <a:spcBef>
                <a:spcPts val="0"/>
              </a:spcBef>
              <a:spcAft>
                <a:spcPts val="0"/>
              </a:spcAft>
              <a:buClr>
                <a:schemeClr val="accent1"/>
              </a:buClr>
              <a:buSzPts val="1500"/>
              <a:buNone/>
              <a:defRPr sz="1500">
                <a:solidFill>
                  <a:schemeClr val="accent1"/>
                </a:solidFill>
              </a:defRPr>
            </a:lvl5pPr>
            <a:lvl6pPr lvl="5">
              <a:spcBef>
                <a:spcPts val="0"/>
              </a:spcBef>
              <a:spcAft>
                <a:spcPts val="0"/>
              </a:spcAft>
              <a:buClr>
                <a:schemeClr val="accent1"/>
              </a:buClr>
              <a:buSzPts val="1500"/>
              <a:buNone/>
              <a:defRPr sz="1500">
                <a:solidFill>
                  <a:schemeClr val="accent1"/>
                </a:solidFill>
              </a:defRPr>
            </a:lvl6pPr>
            <a:lvl7pPr lvl="6">
              <a:spcBef>
                <a:spcPts val="0"/>
              </a:spcBef>
              <a:spcAft>
                <a:spcPts val="0"/>
              </a:spcAft>
              <a:buClr>
                <a:schemeClr val="accent1"/>
              </a:buClr>
              <a:buSzPts val="1500"/>
              <a:buNone/>
              <a:defRPr sz="1500">
                <a:solidFill>
                  <a:schemeClr val="accent1"/>
                </a:solidFill>
              </a:defRPr>
            </a:lvl7pPr>
            <a:lvl8pPr lvl="7">
              <a:spcBef>
                <a:spcPts val="0"/>
              </a:spcBef>
              <a:spcAft>
                <a:spcPts val="0"/>
              </a:spcAft>
              <a:buClr>
                <a:schemeClr val="accent1"/>
              </a:buClr>
              <a:buSzPts val="1500"/>
              <a:buNone/>
              <a:defRPr sz="1500">
                <a:solidFill>
                  <a:schemeClr val="accent1"/>
                </a:solidFill>
              </a:defRPr>
            </a:lvl8pPr>
            <a:lvl9pPr lvl="8">
              <a:spcBef>
                <a:spcPts val="0"/>
              </a:spcBef>
              <a:spcAft>
                <a:spcPts val="0"/>
              </a:spcAft>
              <a:buClr>
                <a:schemeClr val="accent1"/>
              </a:buClr>
              <a:buSzPts val="1500"/>
              <a:buNone/>
              <a:defRPr sz="1500">
                <a:solidFill>
                  <a:schemeClr val="accent1"/>
                </a:solidFill>
              </a:defRPr>
            </a:lvl9pPr>
          </a:lstStyle>
          <a:p>
            <a:endParaRPr/>
          </a:p>
        </p:txBody>
      </p:sp>
    </p:spTree>
    <p:extLst>
      <p:ext uri="{BB962C8B-B14F-4D97-AF65-F5344CB8AC3E}">
        <p14:creationId xmlns:p14="http://schemas.microsoft.com/office/powerpoint/2010/main" val="1328660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Two Columns" type="twoColTx">
  <p:cSld name="Title &amp; Two Columns">
    <p:spTree>
      <p:nvGrpSpPr>
        <p:cNvPr id="1" name="Shape 37"/>
        <p:cNvGrpSpPr/>
        <p:nvPr/>
      </p:nvGrpSpPr>
      <p:grpSpPr>
        <a:xfrm>
          <a:off x="0" y="0"/>
          <a:ext cx="0" cy="0"/>
          <a:chOff x="0" y="0"/>
          <a:chExt cx="0" cy="0"/>
        </a:xfrm>
      </p:grpSpPr>
      <p:sp>
        <p:nvSpPr>
          <p:cNvPr id="38" name="Google Shape;38;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500"/>
              <a:buNone/>
              <a:defRPr sz="2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9" name="Google Shape;39;p1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0" name="Google Shape;40;p1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1" name="Google Shape;4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251392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 Green">
  <p:cSld name="Section Title - Gree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944325" y="1875750"/>
            <a:ext cx="4568100" cy="2544900"/>
          </a:xfrm>
          <a:prstGeom prst="rect">
            <a:avLst/>
          </a:prstGeom>
        </p:spPr>
        <p:txBody>
          <a:bodyPr spcFirstLastPara="1" wrap="square" lIns="0" tIns="0" rIns="0" bIns="91425" anchor="t" anchorCtr="0">
            <a:normAutofit/>
          </a:bodyPr>
          <a:lstStyle>
            <a:lvl1pPr lvl="0" rtl="0">
              <a:spcBef>
                <a:spcPts val="0"/>
              </a:spcBef>
              <a:spcAft>
                <a:spcPts val="0"/>
              </a:spcAft>
              <a:buSzPts val="4200"/>
              <a:buNone/>
              <a:defRPr sz="4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subTitle" idx="1"/>
          </p:nvPr>
        </p:nvSpPr>
        <p:spPr>
          <a:xfrm>
            <a:off x="4560135" y="1067343"/>
            <a:ext cx="3841500" cy="318000"/>
          </a:xfrm>
          <a:prstGeom prst="rect">
            <a:avLst/>
          </a:prstGeom>
        </p:spPr>
        <p:txBody>
          <a:bodyPr spcFirstLastPara="1" wrap="square" lIns="0" tIns="0" rIns="0" bIns="0" anchor="t" anchorCtr="0">
            <a:normAutofit/>
          </a:bodyPr>
          <a:lstStyle>
            <a:lvl1pPr lvl="0" rtl="0">
              <a:spcBef>
                <a:spcPts val="0"/>
              </a:spcBef>
              <a:spcAft>
                <a:spcPts val="0"/>
              </a:spcAft>
              <a:buClr>
                <a:schemeClr val="accent4"/>
              </a:buClr>
              <a:buSzPts val="1600"/>
              <a:buFont typeface="Google Sans"/>
              <a:buNone/>
              <a:defRPr sz="1600">
                <a:solidFill>
                  <a:schemeClr val="accent4"/>
                </a:solidFill>
                <a:latin typeface="Google Sans"/>
                <a:ea typeface="Google Sans"/>
                <a:cs typeface="Google Sans"/>
                <a:sym typeface="Google Sans"/>
              </a:defRPr>
            </a:lvl1pPr>
            <a:lvl2pPr lvl="1" rtl="0">
              <a:spcBef>
                <a:spcPts val="0"/>
              </a:spcBef>
              <a:spcAft>
                <a:spcPts val="0"/>
              </a:spcAft>
              <a:buClr>
                <a:schemeClr val="accent4"/>
              </a:buClr>
              <a:buSzPts val="1500"/>
              <a:buNone/>
              <a:defRPr sz="1500">
                <a:solidFill>
                  <a:schemeClr val="accent4"/>
                </a:solidFill>
              </a:defRPr>
            </a:lvl2pPr>
            <a:lvl3pPr lvl="2" rtl="0">
              <a:spcBef>
                <a:spcPts val="0"/>
              </a:spcBef>
              <a:spcAft>
                <a:spcPts val="0"/>
              </a:spcAft>
              <a:buClr>
                <a:schemeClr val="accent4"/>
              </a:buClr>
              <a:buSzPts val="1500"/>
              <a:buNone/>
              <a:defRPr sz="1500">
                <a:solidFill>
                  <a:schemeClr val="accent4"/>
                </a:solidFill>
              </a:defRPr>
            </a:lvl3pPr>
            <a:lvl4pPr lvl="3" rtl="0">
              <a:spcBef>
                <a:spcPts val="0"/>
              </a:spcBef>
              <a:spcAft>
                <a:spcPts val="0"/>
              </a:spcAft>
              <a:buClr>
                <a:schemeClr val="accent4"/>
              </a:buClr>
              <a:buSzPts val="1500"/>
              <a:buNone/>
              <a:defRPr sz="1500">
                <a:solidFill>
                  <a:schemeClr val="accent4"/>
                </a:solidFill>
              </a:defRPr>
            </a:lvl4pPr>
            <a:lvl5pPr lvl="4" rtl="0">
              <a:spcBef>
                <a:spcPts val="0"/>
              </a:spcBef>
              <a:spcAft>
                <a:spcPts val="0"/>
              </a:spcAft>
              <a:buClr>
                <a:schemeClr val="accent4"/>
              </a:buClr>
              <a:buSzPts val="1500"/>
              <a:buNone/>
              <a:defRPr sz="1500">
                <a:solidFill>
                  <a:schemeClr val="accent4"/>
                </a:solidFill>
              </a:defRPr>
            </a:lvl5pPr>
            <a:lvl6pPr lvl="5" rtl="0">
              <a:spcBef>
                <a:spcPts val="0"/>
              </a:spcBef>
              <a:spcAft>
                <a:spcPts val="0"/>
              </a:spcAft>
              <a:buClr>
                <a:schemeClr val="accent4"/>
              </a:buClr>
              <a:buSzPts val="1500"/>
              <a:buNone/>
              <a:defRPr sz="1500">
                <a:solidFill>
                  <a:schemeClr val="accent4"/>
                </a:solidFill>
              </a:defRPr>
            </a:lvl6pPr>
            <a:lvl7pPr lvl="6" rtl="0">
              <a:spcBef>
                <a:spcPts val="0"/>
              </a:spcBef>
              <a:spcAft>
                <a:spcPts val="0"/>
              </a:spcAft>
              <a:buClr>
                <a:schemeClr val="accent4"/>
              </a:buClr>
              <a:buSzPts val="1500"/>
              <a:buNone/>
              <a:defRPr sz="1500">
                <a:solidFill>
                  <a:schemeClr val="accent4"/>
                </a:solidFill>
              </a:defRPr>
            </a:lvl7pPr>
            <a:lvl8pPr lvl="7" rtl="0">
              <a:spcBef>
                <a:spcPts val="0"/>
              </a:spcBef>
              <a:spcAft>
                <a:spcPts val="0"/>
              </a:spcAft>
              <a:buClr>
                <a:schemeClr val="accent4"/>
              </a:buClr>
              <a:buSzPts val="1500"/>
              <a:buNone/>
              <a:defRPr sz="1500">
                <a:solidFill>
                  <a:schemeClr val="accent4"/>
                </a:solidFill>
              </a:defRPr>
            </a:lvl8pPr>
            <a:lvl9pPr lvl="8" rtl="0">
              <a:spcBef>
                <a:spcPts val="0"/>
              </a:spcBef>
              <a:spcAft>
                <a:spcPts val="0"/>
              </a:spcAft>
              <a:buClr>
                <a:schemeClr val="accent4"/>
              </a:buClr>
              <a:buSzPts val="1500"/>
              <a:buNone/>
              <a:defRPr sz="1500">
                <a:solidFill>
                  <a:schemeClr val="accent4"/>
                </a:solidFill>
              </a:defRPr>
            </a:lvl9pPr>
          </a:lstStyle>
          <a:p>
            <a:endParaRPr/>
          </a:p>
        </p:txBody>
      </p:sp>
    </p:spTree>
    <p:extLst>
      <p:ext uri="{BB962C8B-B14F-4D97-AF65-F5344CB8AC3E}">
        <p14:creationId xmlns:p14="http://schemas.microsoft.com/office/powerpoint/2010/main" val="490971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alf Page Quote">
  <p:cSld name="Half Page Quote">
    <p:spTree>
      <p:nvGrpSpPr>
        <p:cNvPr id="1" name="Shape 53"/>
        <p:cNvGrpSpPr/>
        <p:nvPr/>
      </p:nvGrpSpPr>
      <p:grpSpPr>
        <a:xfrm>
          <a:off x="0" y="0"/>
          <a:ext cx="0" cy="0"/>
          <a:chOff x="0" y="0"/>
          <a:chExt cx="0" cy="0"/>
        </a:xfrm>
      </p:grpSpPr>
      <p:sp>
        <p:nvSpPr>
          <p:cNvPr id="54" name="Google Shape;5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16"/>
          <p:cNvSpPr txBox="1">
            <a:spLocks noGrp="1"/>
          </p:cNvSpPr>
          <p:nvPr>
            <p:ph type="title"/>
          </p:nvPr>
        </p:nvSpPr>
        <p:spPr>
          <a:xfrm>
            <a:off x="311700" y="555600"/>
            <a:ext cx="4312800" cy="41076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2900"/>
              <a:buNone/>
              <a:defRPr sz="29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extLst>
      <p:ext uri="{BB962C8B-B14F-4D97-AF65-F5344CB8AC3E}">
        <p14:creationId xmlns:p14="http://schemas.microsoft.com/office/powerpoint/2010/main" val="3247027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alf Page Number">
  <p:cSld name="Half Page Number">
    <p:spTree>
      <p:nvGrpSpPr>
        <p:cNvPr id="1" name="Shape 58"/>
        <p:cNvGrpSpPr/>
        <p:nvPr/>
      </p:nvGrpSpPr>
      <p:grpSpPr>
        <a:xfrm>
          <a:off x="0" y="0"/>
          <a:ext cx="0" cy="0"/>
          <a:chOff x="0" y="0"/>
          <a:chExt cx="0" cy="0"/>
        </a:xfrm>
      </p:grpSpPr>
      <p:sp>
        <p:nvSpPr>
          <p:cNvPr id="59" name="Google Shape;5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17"/>
          <p:cNvSpPr txBox="1">
            <a:spLocks noGrp="1"/>
          </p:cNvSpPr>
          <p:nvPr>
            <p:ph type="title" hasCustomPrompt="1"/>
          </p:nvPr>
        </p:nvSpPr>
        <p:spPr>
          <a:xfrm>
            <a:off x="311700" y="1840275"/>
            <a:ext cx="2518500" cy="14622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202124"/>
              </a:buClr>
              <a:buSzPts val="8700"/>
              <a:buNone/>
              <a:defRPr sz="8700">
                <a:solidFill>
                  <a:srgbClr val="202124"/>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 name="Google Shape;61;p17"/>
          <p:cNvSpPr txBox="1">
            <a:spLocks noGrp="1"/>
          </p:cNvSpPr>
          <p:nvPr>
            <p:ph type="title" idx="2"/>
          </p:nvPr>
        </p:nvSpPr>
        <p:spPr>
          <a:xfrm>
            <a:off x="311700" y="1257225"/>
            <a:ext cx="39942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None/>
              <a:defRPr>
                <a:solidFill>
                  <a:srgbClr val="5F6368"/>
                </a:solidFill>
              </a:defRPr>
            </a:lvl2pPr>
            <a:lvl3pPr lvl="2" rtl="0">
              <a:spcBef>
                <a:spcPts val="0"/>
              </a:spcBef>
              <a:spcAft>
                <a:spcPts val="0"/>
              </a:spcAft>
              <a:buClr>
                <a:srgbClr val="5F6368"/>
              </a:buClr>
              <a:buSzPts val="2800"/>
              <a:buNone/>
              <a:defRPr>
                <a:solidFill>
                  <a:srgbClr val="5F6368"/>
                </a:solidFill>
              </a:defRPr>
            </a:lvl3pPr>
            <a:lvl4pPr lvl="3" rtl="0">
              <a:spcBef>
                <a:spcPts val="0"/>
              </a:spcBef>
              <a:spcAft>
                <a:spcPts val="0"/>
              </a:spcAft>
              <a:buClr>
                <a:srgbClr val="5F6368"/>
              </a:buClr>
              <a:buSzPts val="2800"/>
              <a:buNone/>
              <a:defRPr>
                <a:solidFill>
                  <a:srgbClr val="5F6368"/>
                </a:solidFill>
              </a:defRPr>
            </a:lvl4pPr>
            <a:lvl5pPr lvl="4" rtl="0">
              <a:spcBef>
                <a:spcPts val="0"/>
              </a:spcBef>
              <a:spcAft>
                <a:spcPts val="0"/>
              </a:spcAft>
              <a:buClr>
                <a:srgbClr val="5F6368"/>
              </a:buClr>
              <a:buSzPts val="2800"/>
              <a:buNone/>
              <a:defRPr>
                <a:solidFill>
                  <a:srgbClr val="5F6368"/>
                </a:solidFill>
              </a:defRPr>
            </a:lvl5pPr>
            <a:lvl6pPr lvl="5" rtl="0">
              <a:spcBef>
                <a:spcPts val="0"/>
              </a:spcBef>
              <a:spcAft>
                <a:spcPts val="0"/>
              </a:spcAft>
              <a:buClr>
                <a:srgbClr val="5F6368"/>
              </a:buClr>
              <a:buSzPts val="2800"/>
              <a:buNone/>
              <a:defRPr>
                <a:solidFill>
                  <a:srgbClr val="5F6368"/>
                </a:solidFill>
              </a:defRPr>
            </a:lvl6pPr>
            <a:lvl7pPr lvl="6" rtl="0">
              <a:spcBef>
                <a:spcPts val="0"/>
              </a:spcBef>
              <a:spcAft>
                <a:spcPts val="0"/>
              </a:spcAft>
              <a:buClr>
                <a:srgbClr val="5F6368"/>
              </a:buClr>
              <a:buSzPts val="2800"/>
              <a:buNone/>
              <a:defRPr>
                <a:solidFill>
                  <a:srgbClr val="5F6368"/>
                </a:solidFill>
              </a:defRPr>
            </a:lvl7pPr>
            <a:lvl8pPr lvl="7" rtl="0">
              <a:spcBef>
                <a:spcPts val="0"/>
              </a:spcBef>
              <a:spcAft>
                <a:spcPts val="0"/>
              </a:spcAft>
              <a:buClr>
                <a:srgbClr val="5F6368"/>
              </a:buClr>
              <a:buSzPts val="2800"/>
              <a:buNone/>
              <a:defRPr>
                <a:solidFill>
                  <a:srgbClr val="5F6368"/>
                </a:solidFill>
              </a:defRPr>
            </a:lvl8pPr>
            <a:lvl9pPr lvl="8" rtl="0">
              <a:spcBef>
                <a:spcPts val="0"/>
              </a:spcBef>
              <a:spcAft>
                <a:spcPts val="0"/>
              </a:spcAft>
              <a:buClr>
                <a:srgbClr val="5F6368"/>
              </a:buClr>
              <a:buSzPts val="2800"/>
              <a:buNone/>
              <a:defRPr>
                <a:solidFill>
                  <a:srgbClr val="5F6368"/>
                </a:solidFill>
              </a:defRPr>
            </a:lvl9pPr>
          </a:lstStyle>
          <a:p>
            <a:endParaRPr/>
          </a:p>
        </p:txBody>
      </p:sp>
      <p:sp>
        <p:nvSpPr>
          <p:cNvPr id="62" name="Google Shape;62;p17"/>
          <p:cNvSpPr txBox="1">
            <a:spLocks noGrp="1"/>
          </p:cNvSpPr>
          <p:nvPr>
            <p:ph type="title" idx="3"/>
          </p:nvPr>
        </p:nvSpPr>
        <p:spPr>
          <a:xfrm>
            <a:off x="311700" y="3302475"/>
            <a:ext cx="41211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2pPr>
            <a:lvl3pPr lvl="2"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3pPr>
            <a:lvl4pPr lvl="3"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4pPr>
            <a:lvl5pPr lvl="4"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5pPr>
            <a:lvl6pPr lvl="5"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6pPr>
            <a:lvl7pPr lvl="6"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7pPr>
            <a:lvl8pPr lvl="7"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8pPr>
            <a:lvl9pPr lvl="8"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9pPr>
          </a:lstStyle>
          <a:p>
            <a:endParaRPr/>
          </a:p>
        </p:txBody>
      </p:sp>
    </p:spTree>
    <p:extLst>
      <p:ext uri="{BB962C8B-B14F-4D97-AF65-F5344CB8AC3E}">
        <p14:creationId xmlns:p14="http://schemas.microsoft.com/office/powerpoint/2010/main" val="3664235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mp; One Column">
  <p:cSld name="Title &amp; One Column">
    <p:spTree>
      <p:nvGrpSpPr>
        <p:cNvPr id="1" name="Shape 31"/>
        <p:cNvGrpSpPr/>
        <p:nvPr/>
      </p:nvGrpSpPr>
      <p:grpSpPr>
        <a:xfrm>
          <a:off x="0" y="0"/>
          <a:ext cx="0" cy="0"/>
          <a:chOff x="0" y="0"/>
          <a:chExt cx="0" cy="0"/>
        </a:xfrm>
      </p:grpSpPr>
      <p:sp>
        <p:nvSpPr>
          <p:cNvPr id="32" name="Google Shape;32;p5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5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2pPr>
            <a:lvl3pPr marL="1371600" lvl="2"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3pPr>
            <a:lvl4pPr marL="1828800" lvl="3"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4pPr>
            <a:lvl5pPr marL="2286000" lvl="4"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5pPr>
            <a:lvl6pPr marL="2743200" lvl="5"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6pPr>
            <a:lvl7pPr marL="3200400" lvl="6"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7pPr>
            <a:lvl8pPr marL="3657600" lvl="7"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8pPr>
            <a:lvl9pPr marL="4114800" lvl="8"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9pPr>
          </a:lstStyle>
          <a:p>
            <a:endParaRPr/>
          </a:p>
        </p:txBody>
      </p:sp>
      <p:sp>
        <p:nvSpPr>
          <p:cNvPr id="34" name="Google Shape;34;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77101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02E1A2-9E5A-FEBE-35A6-C2C44B84E057}"/>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1E4B17-0181-BDBB-EBF6-A5B836A69E96}"/>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EC00721-629B-E58A-92CD-36EA429CDF85}"/>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77A9FB6-8E5D-495F-BF84-C9F7C49074E3}" type="datetimeFigureOut">
              <a:rPr lang="en-CA" smtClean="0"/>
              <a:t>2025-03-23</a:t>
            </a:fld>
            <a:endParaRPr lang="en-CA"/>
          </a:p>
        </p:txBody>
      </p:sp>
      <p:sp>
        <p:nvSpPr>
          <p:cNvPr id="5" name="Footer Placeholder 4">
            <a:extLst>
              <a:ext uri="{FF2B5EF4-FFF2-40B4-BE49-F238E27FC236}">
                <a16:creationId xmlns:a16="http://schemas.microsoft.com/office/drawing/2014/main" id="{CF83051F-2484-9601-24DB-A47FE0C5047A}"/>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F725CA75-26DF-236D-3362-E95B521142C7}"/>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070715252"/>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4" r:id="rId15"/>
    <p:sldLayoutId id="2147483685" r:id="rId16"/>
    <p:sldLayoutId id="2147483686" r:id="rId17"/>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16.xml"/><Relationship Id="rId4" Type="http://schemas.openxmlformats.org/officeDocument/2006/relationships/image" Target="../media/image18.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20.gif"/></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8" name="Google Shape;118;p24"/>
          <p:cNvSpPr txBox="1">
            <a:spLocks noGrp="1"/>
          </p:cNvSpPr>
          <p:nvPr>
            <p:ph type="title"/>
          </p:nvPr>
        </p:nvSpPr>
        <p:spPr>
          <a:xfrm>
            <a:off x="372525" y="1374389"/>
            <a:ext cx="5337717" cy="2089044"/>
          </a:xfrm>
          <a:prstGeom prst="rect">
            <a:avLst/>
          </a:prstGeom>
        </p:spPr>
        <p:txBody>
          <a:bodyPr spcFirstLastPara="1" wrap="square" lIns="0" tIns="0" rIns="0" bIns="0" anchor="t" anchorCtr="0">
            <a:normAutofit fontScale="90000"/>
          </a:bodyPr>
          <a:lstStyle/>
          <a:p>
            <a:pPr algn="l"/>
            <a:r>
              <a:rPr lang="en-US" sz="3100" b="1" i="0" dirty="0">
                <a:solidFill>
                  <a:srgbClr val="180101"/>
                </a:solidFill>
                <a:effectLst/>
                <a:latin typeface="Google Sans" panose="020B0604020202020204" charset="0"/>
                <a:ea typeface="Google Sans" panose="020B0604020202020204" charset="0"/>
                <a:cs typeface="Google Sans" panose="020B0604020202020204" charset="0"/>
              </a:rPr>
              <a:t>Designing for Neurodiversity, Empathy, Human Centric Design and Inclusion in Software Applications</a:t>
            </a:r>
            <a:br>
              <a:rPr lang="en-US" b="1" i="0" dirty="0">
                <a:solidFill>
                  <a:srgbClr val="180101"/>
                </a:solidFill>
                <a:effectLst/>
                <a:latin typeface="Arial" panose="020B0604020202020204" pitchFamily="34" charset="0"/>
              </a:rPr>
            </a:br>
            <a:br>
              <a:rPr lang="en-US" dirty="0"/>
            </a:br>
            <a:endParaRPr dirty="0"/>
          </a:p>
        </p:txBody>
      </p:sp>
      <p:pic>
        <p:nvPicPr>
          <p:cNvPr id="8" name="Picture 7">
            <a:extLst>
              <a:ext uri="{FF2B5EF4-FFF2-40B4-BE49-F238E27FC236}">
                <a16:creationId xmlns:a16="http://schemas.microsoft.com/office/drawing/2014/main" id="{BA550754-2D2F-1777-BF52-8837E6592D50}"/>
              </a:ext>
            </a:extLst>
          </p:cNvPr>
          <p:cNvPicPr>
            <a:picLocks noChangeAspect="1"/>
          </p:cNvPicPr>
          <p:nvPr/>
        </p:nvPicPr>
        <p:blipFill>
          <a:blip r:embed="rId3"/>
          <a:stretch>
            <a:fillRect/>
          </a:stretch>
        </p:blipFill>
        <p:spPr>
          <a:xfrm>
            <a:off x="5710242" y="0"/>
            <a:ext cx="3433757" cy="4705815"/>
          </a:xfrm>
          <a:prstGeom prst="rect">
            <a:avLst/>
          </a:prstGeom>
        </p:spPr>
      </p:pic>
      <p:sp>
        <p:nvSpPr>
          <p:cNvPr id="4" name="Google Shape;118;p24">
            <a:extLst>
              <a:ext uri="{FF2B5EF4-FFF2-40B4-BE49-F238E27FC236}">
                <a16:creationId xmlns:a16="http://schemas.microsoft.com/office/drawing/2014/main" id="{01CA8699-C7AD-BA36-21A2-8A69DA57D012}"/>
              </a:ext>
            </a:extLst>
          </p:cNvPr>
          <p:cNvSpPr txBox="1">
            <a:spLocks/>
          </p:cNvSpPr>
          <p:nvPr/>
        </p:nvSpPr>
        <p:spPr>
          <a:xfrm>
            <a:off x="1442223" y="3769111"/>
            <a:ext cx="4088781" cy="1196899"/>
          </a:xfrm>
          <a:prstGeom prst="rect">
            <a:avLst/>
          </a:prstGeom>
        </p:spPr>
        <p:txBody>
          <a:bodyPr spcFirstLastPara="1" vert="horz" wrap="square" lIns="0" tIns="0" rIns="0" bIns="0" rtlCol="0" anchor="t" anchorCtr="0">
            <a:normAutofit fontScale="97500"/>
          </a:bodyPr>
          <a:lstStyle>
            <a:lvl1pPr lvl="0" algn="l" defTabSz="685800" rtl="0" eaLnBrk="1" latinLnBrk="0" hangingPunct="1">
              <a:lnSpc>
                <a:spcPct val="95000"/>
              </a:lnSpc>
              <a:spcBef>
                <a:spcPts val="0"/>
              </a:spcBef>
              <a:spcAft>
                <a:spcPts val="0"/>
              </a:spcAft>
              <a:buSzPts val="4000"/>
              <a:buNone/>
              <a:defRPr sz="4000" kern="1200">
                <a:solidFill>
                  <a:schemeClr val="tx1"/>
                </a:solidFill>
                <a:latin typeface="+mj-lt"/>
                <a:ea typeface="+mj-ea"/>
                <a:cs typeface="+mj-cs"/>
              </a:defRPr>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r>
              <a:rPr lang="en-US" sz="3000" b="1" dirty="0">
                <a:latin typeface="Google Sans" panose="020B0604020202020204" charset="0"/>
                <a:ea typeface="Google Sans" panose="020B0604020202020204" charset="0"/>
                <a:cs typeface="Google Sans" panose="020B0604020202020204" charset="0"/>
              </a:rPr>
              <a:t>Vaishnavi Venkata Subramanian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6">
            <a:extLst>
              <a:ext uri="{FF2B5EF4-FFF2-40B4-BE49-F238E27FC236}">
                <a16:creationId xmlns:a16="http://schemas.microsoft.com/office/drawing/2014/main" id="{FD40FCDA-4562-C04A-72CD-E89B470385EE}"/>
              </a:ext>
            </a:extLst>
          </p:cNvPr>
          <p:cNvSpPr txBox="1"/>
          <p:nvPr/>
        </p:nvSpPr>
        <p:spPr>
          <a:xfrm>
            <a:off x="3926684" y="1176912"/>
            <a:ext cx="5217316" cy="3183491"/>
          </a:xfrm>
          <a:prstGeom prst="rect">
            <a:avLst/>
          </a:prstGeom>
        </p:spPr>
        <p:txBody>
          <a:bodyPr lIns="33867" tIns="33867" rIns="33867" bIns="33867" rtlCol="0" anchor="ctr"/>
          <a:lstStyle/>
          <a:p>
            <a:pPr algn="ctr">
              <a:lnSpc>
                <a:spcPts val="1773"/>
              </a:lnSpc>
              <a:spcBef>
                <a:spcPct val="0"/>
              </a:spcBef>
            </a:pPr>
            <a:endParaRPr sz="1200"/>
          </a:p>
        </p:txBody>
      </p:sp>
      <p:pic>
        <p:nvPicPr>
          <p:cNvPr id="7" name="Picture 7">
            <a:extLst>
              <a:ext uri="{FF2B5EF4-FFF2-40B4-BE49-F238E27FC236}">
                <a16:creationId xmlns:a16="http://schemas.microsoft.com/office/drawing/2014/main" id="{D1DDB7C7-1AC6-3286-55F4-6BAA86BB85AB}"/>
              </a:ext>
            </a:extLst>
          </p:cNvPr>
          <p:cNvPicPr>
            <a:picLocks noChangeAspect="1"/>
          </p:cNvPicPr>
          <p:nvPr/>
        </p:nvPicPr>
        <p:blipFill>
          <a:blip r:embed="rId2"/>
          <a:srcRect/>
          <a:stretch>
            <a:fillRect/>
          </a:stretch>
        </p:blipFill>
        <p:spPr>
          <a:xfrm>
            <a:off x="356293" y="512128"/>
            <a:ext cx="3272381" cy="4487422"/>
          </a:xfrm>
          <a:prstGeom prst="rect">
            <a:avLst/>
          </a:prstGeom>
        </p:spPr>
      </p:pic>
      <p:grpSp>
        <p:nvGrpSpPr>
          <p:cNvPr id="8" name="Group 4">
            <a:extLst>
              <a:ext uri="{FF2B5EF4-FFF2-40B4-BE49-F238E27FC236}">
                <a16:creationId xmlns:a16="http://schemas.microsoft.com/office/drawing/2014/main" id="{32FEF0F8-77B4-32FC-6269-6DEE672D475F}"/>
              </a:ext>
            </a:extLst>
          </p:cNvPr>
          <p:cNvGrpSpPr/>
          <p:nvPr/>
        </p:nvGrpSpPr>
        <p:grpSpPr>
          <a:xfrm>
            <a:off x="4274307" y="1176912"/>
            <a:ext cx="4355816" cy="3097375"/>
            <a:chOff x="0" y="0"/>
            <a:chExt cx="2659503" cy="1087242"/>
          </a:xfrm>
        </p:grpSpPr>
        <p:sp>
          <p:nvSpPr>
            <p:cNvPr id="9" name="Freeform 5">
              <a:extLst>
                <a:ext uri="{FF2B5EF4-FFF2-40B4-BE49-F238E27FC236}">
                  <a16:creationId xmlns:a16="http://schemas.microsoft.com/office/drawing/2014/main" id="{CE03B922-63CB-0F5D-8C0A-966F648EFAD6}"/>
                </a:ext>
              </a:extLst>
            </p:cNvPr>
            <p:cNvSpPr/>
            <p:nvPr/>
          </p:nvSpPr>
          <p:spPr>
            <a:xfrm>
              <a:off x="0" y="0"/>
              <a:ext cx="2659503" cy="1087241"/>
            </a:xfrm>
            <a:custGeom>
              <a:avLst/>
              <a:gdLst/>
              <a:ahLst/>
              <a:cxnLst/>
              <a:rect l="l" t="t" r="r" b="b"/>
              <a:pathLst>
                <a:path w="2659503" h="1087241">
                  <a:moveTo>
                    <a:pt x="39101" y="0"/>
                  </a:moveTo>
                  <a:lnTo>
                    <a:pt x="2620402" y="0"/>
                  </a:lnTo>
                  <a:cubicBezTo>
                    <a:pt x="2630772" y="0"/>
                    <a:pt x="2640718" y="4120"/>
                    <a:pt x="2648051" y="11453"/>
                  </a:cubicBezTo>
                  <a:cubicBezTo>
                    <a:pt x="2655384" y="18785"/>
                    <a:pt x="2659503" y="28731"/>
                    <a:pt x="2659503" y="39101"/>
                  </a:cubicBezTo>
                  <a:lnTo>
                    <a:pt x="2659503" y="1048140"/>
                  </a:lnTo>
                  <a:cubicBezTo>
                    <a:pt x="2659503" y="1058510"/>
                    <a:pt x="2655384" y="1068456"/>
                    <a:pt x="2648051" y="1075789"/>
                  </a:cubicBezTo>
                  <a:cubicBezTo>
                    <a:pt x="2640718" y="1083122"/>
                    <a:pt x="2630772" y="1087241"/>
                    <a:pt x="2620402" y="1087241"/>
                  </a:cubicBezTo>
                  <a:lnTo>
                    <a:pt x="39101" y="1087241"/>
                  </a:lnTo>
                  <a:cubicBezTo>
                    <a:pt x="28731" y="1087241"/>
                    <a:pt x="18785" y="1083122"/>
                    <a:pt x="11453" y="1075789"/>
                  </a:cubicBezTo>
                  <a:cubicBezTo>
                    <a:pt x="4120" y="1068456"/>
                    <a:pt x="0" y="1058510"/>
                    <a:pt x="0" y="1048140"/>
                  </a:cubicBezTo>
                  <a:lnTo>
                    <a:pt x="0" y="39101"/>
                  </a:lnTo>
                  <a:cubicBezTo>
                    <a:pt x="0" y="28731"/>
                    <a:pt x="4120" y="18785"/>
                    <a:pt x="11453" y="11453"/>
                  </a:cubicBezTo>
                  <a:cubicBezTo>
                    <a:pt x="18785" y="4120"/>
                    <a:pt x="28731" y="0"/>
                    <a:pt x="39101" y="0"/>
                  </a:cubicBezTo>
                  <a:close/>
                </a:path>
              </a:pathLst>
            </a:custGeom>
            <a:solidFill>
              <a:srgbClr val="2572CA">
                <a:alpha val="28627"/>
              </a:srgbClr>
            </a:solidFill>
          </p:spPr>
        </p:sp>
        <p:sp>
          <p:nvSpPr>
            <p:cNvPr id="10" name="TextBox 6">
              <a:extLst>
                <a:ext uri="{FF2B5EF4-FFF2-40B4-BE49-F238E27FC236}">
                  <a16:creationId xmlns:a16="http://schemas.microsoft.com/office/drawing/2014/main" id="{B296B5C8-3586-A813-E026-220505291844}"/>
                </a:ext>
              </a:extLst>
            </p:cNvPr>
            <p:cNvSpPr txBox="1"/>
            <p:nvPr/>
          </p:nvSpPr>
          <p:spPr>
            <a:xfrm>
              <a:off x="0" y="-38100"/>
              <a:ext cx="2659503" cy="1125342"/>
            </a:xfrm>
            <a:prstGeom prst="rect">
              <a:avLst/>
            </a:prstGeom>
          </p:spPr>
          <p:txBody>
            <a:bodyPr lIns="33867" tIns="33867" rIns="33867" bIns="33867" rtlCol="0" anchor="ctr"/>
            <a:lstStyle/>
            <a:p>
              <a:pPr algn="ctr">
                <a:lnSpc>
                  <a:spcPts val="1773"/>
                </a:lnSpc>
                <a:spcBef>
                  <a:spcPct val="0"/>
                </a:spcBef>
              </a:pPr>
              <a:endParaRPr sz="1200"/>
            </a:p>
          </p:txBody>
        </p:sp>
      </p:grpSp>
      <p:sp>
        <p:nvSpPr>
          <p:cNvPr id="14" name="TextBox 13">
            <a:extLst>
              <a:ext uri="{FF2B5EF4-FFF2-40B4-BE49-F238E27FC236}">
                <a16:creationId xmlns:a16="http://schemas.microsoft.com/office/drawing/2014/main" id="{68CD3FC8-9437-1685-3EAF-1848EFE0E112}"/>
              </a:ext>
            </a:extLst>
          </p:cNvPr>
          <p:cNvSpPr txBox="1"/>
          <p:nvPr/>
        </p:nvSpPr>
        <p:spPr>
          <a:xfrm>
            <a:off x="4677798" y="2040397"/>
            <a:ext cx="3740728" cy="830997"/>
          </a:xfrm>
          <a:prstGeom prst="rect">
            <a:avLst/>
          </a:prstGeom>
          <a:noFill/>
        </p:spPr>
        <p:txBody>
          <a:bodyPr wrap="square">
            <a:spAutoFit/>
          </a:bodyPr>
          <a:lstStyle/>
          <a:p>
            <a:pPr algn="ctr"/>
            <a:r>
              <a:rPr lang="en-CA" sz="4800" dirty="0" err="1"/>
              <a:t>Kachow</a:t>
            </a:r>
            <a:r>
              <a:rPr lang="en-CA" sz="4800" dirty="0"/>
              <a:t>!</a:t>
            </a:r>
          </a:p>
        </p:txBody>
      </p:sp>
    </p:spTree>
    <p:extLst>
      <p:ext uri="{BB962C8B-B14F-4D97-AF65-F5344CB8AC3E}">
        <p14:creationId xmlns:p14="http://schemas.microsoft.com/office/powerpoint/2010/main" val="1413353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2" name="Picture 1">
            <a:extLst>
              <a:ext uri="{FF2B5EF4-FFF2-40B4-BE49-F238E27FC236}">
                <a16:creationId xmlns:a16="http://schemas.microsoft.com/office/drawing/2014/main" id="{24C62FC7-650B-D4A9-63A6-5BE8BC53BE40}"/>
              </a:ext>
            </a:extLst>
          </p:cNvPr>
          <p:cNvPicPr>
            <a:picLocks noChangeAspect="1"/>
          </p:cNvPicPr>
          <p:nvPr/>
        </p:nvPicPr>
        <p:blipFill>
          <a:blip r:embed="rId3"/>
          <a:stretch>
            <a:fillRect/>
          </a:stretch>
        </p:blipFill>
        <p:spPr>
          <a:xfrm>
            <a:off x="2256796" y="0"/>
            <a:ext cx="4244899"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sp>
        <p:nvSpPr>
          <p:cNvPr id="197" name="Google Shape;197;p16"/>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Glossophobia</a:t>
            </a:r>
            <a:endParaRPr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683269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AB82BDD0-F8C7-D8DF-5836-47677E1E76D1}"/>
            </a:ext>
          </a:extLst>
        </p:cNvPr>
        <p:cNvGrpSpPr/>
        <p:nvPr/>
      </p:nvGrpSpPr>
      <p:grpSpPr>
        <a:xfrm>
          <a:off x="0" y="0"/>
          <a:ext cx="0" cy="0"/>
          <a:chOff x="0" y="0"/>
          <a:chExt cx="0" cy="0"/>
        </a:xfrm>
      </p:grpSpPr>
      <p:sp>
        <p:nvSpPr>
          <p:cNvPr id="197" name="Google Shape;197;p16">
            <a:extLst>
              <a:ext uri="{FF2B5EF4-FFF2-40B4-BE49-F238E27FC236}">
                <a16:creationId xmlns:a16="http://schemas.microsoft.com/office/drawing/2014/main" id="{B69F00E9-F715-2656-B59A-E837987C3142}"/>
              </a:ext>
            </a:extLst>
          </p:cNvPr>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Before November 30, 2022 and After</a:t>
            </a:r>
          </a:p>
        </p:txBody>
      </p:sp>
    </p:spTree>
    <p:extLst>
      <p:ext uri="{BB962C8B-B14F-4D97-AF65-F5344CB8AC3E}">
        <p14:creationId xmlns:p14="http://schemas.microsoft.com/office/powerpoint/2010/main" val="2851687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3E17B6-81C7-4A65-54FF-D866CA6AC07F}"/>
              </a:ext>
            </a:extLst>
          </p:cNvPr>
          <p:cNvPicPr>
            <a:picLocks noChangeAspect="1"/>
          </p:cNvPicPr>
          <p:nvPr/>
        </p:nvPicPr>
        <p:blipFill>
          <a:blip r:embed="rId2"/>
          <a:stretch>
            <a:fillRect/>
          </a:stretch>
        </p:blipFill>
        <p:spPr>
          <a:xfrm>
            <a:off x="-193560" y="-733031"/>
            <a:ext cx="9700142" cy="6858000"/>
          </a:xfrm>
          <a:prstGeom prst="rect">
            <a:avLst/>
          </a:prstGeom>
        </p:spPr>
      </p:pic>
    </p:spTree>
    <p:extLst>
      <p:ext uri="{BB962C8B-B14F-4D97-AF65-F5344CB8AC3E}">
        <p14:creationId xmlns:p14="http://schemas.microsoft.com/office/powerpoint/2010/main" val="3824505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pic>
        <p:nvPicPr>
          <p:cNvPr id="2" name="Picture 1">
            <a:extLst>
              <a:ext uri="{FF2B5EF4-FFF2-40B4-BE49-F238E27FC236}">
                <a16:creationId xmlns:a16="http://schemas.microsoft.com/office/drawing/2014/main" id="{9830CEAC-18B9-58B9-7084-DD7539041A38}"/>
              </a:ext>
            </a:extLst>
          </p:cNvPr>
          <p:cNvPicPr>
            <a:picLocks noChangeAspect="1"/>
          </p:cNvPicPr>
          <p:nvPr/>
        </p:nvPicPr>
        <p:blipFill>
          <a:blip r:embed="rId3"/>
          <a:stretch>
            <a:fillRect/>
          </a:stretch>
        </p:blipFill>
        <p:spPr>
          <a:xfrm>
            <a:off x="0" y="-446288"/>
            <a:ext cx="9144000" cy="5589787"/>
          </a:xfrm>
          <a:prstGeom prst="rect">
            <a:avLst/>
          </a:prstGeom>
        </p:spPr>
      </p:pic>
    </p:spTree>
    <p:extLst>
      <p:ext uri="{BB962C8B-B14F-4D97-AF65-F5344CB8AC3E}">
        <p14:creationId xmlns:p14="http://schemas.microsoft.com/office/powerpoint/2010/main" val="31031967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721113" y="2247457"/>
            <a:ext cx="6921190" cy="2544900"/>
          </a:xfrm>
          <a:prstGeom prst="rect">
            <a:avLst/>
          </a:prstGeom>
        </p:spPr>
        <p:txBody>
          <a:bodyPr spcFirstLastPara="1" wrap="square" lIns="0" tIns="0" rIns="0" bIns="91425" anchor="t" anchorCtr="0">
            <a:noAutofit/>
          </a:bodyPr>
          <a:lstStyle/>
          <a:p>
            <a:pPr algn="ctr"/>
            <a:r>
              <a:rPr lang="en-US" sz="2200" b="0" dirty="0">
                <a:latin typeface="Google Sans" panose="020B0604020202020204" charset="0"/>
                <a:ea typeface="Google Sans" panose="020B0604020202020204" charset="0"/>
                <a:cs typeface="Google Sans" panose="020B0604020202020204" charset="0"/>
              </a:rPr>
              <a:t>What is Neurodiversity?</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Accessibility vs ND</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Guidelines for Design</a:t>
            </a:r>
            <a:br>
              <a:rPr lang="en-US" sz="2200" b="0" dirty="0">
                <a:latin typeface="Google Sans" panose="020B0604020202020204" charset="0"/>
                <a:ea typeface="Google Sans" panose="020B0604020202020204" charset="0"/>
                <a:cs typeface="Google Sans" panose="020B0604020202020204" charset="0"/>
              </a:rPr>
            </a:br>
            <a:br>
              <a:rPr lang="en-US" sz="2200" b="0" dirty="0">
                <a:latin typeface="Google Sans" panose="020B0604020202020204" charset="0"/>
                <a:ea typeface="Google Sans" panose="020B0604020202020204" charset="0"/>
                <a:cs typeface="Google Sans" panose="020B0604020202020204" charset="0"/>
              </a:rPr>
            </a:br>
            <a:r>
              <a:rPr lang="en-US" sz="2200" b="0" dirty="0">
                <a:latin typeface="Google Sans" panose="020B0604020202020204" charset="0"/>
                <a:ea typeface="Google Sans" panose="020B0604020202020204" charset="0"/>
                <a:cs typeface="Google Sans" panose="020B0604020202020204" charset="0"/>
              </a:rPr>
              <a:t>Concluding Remarks</a:t>
            </a:r>
            <a:br>
              <a:rPr lang="en-US" sz="2200" dirty="0">
                <a:latin typeface="Roboto Mono Light" panose="020B0604020202020204" charset="0"/>
                <a:ea typeface="Roboto Mono Light" panose="020B0604020202020204" charset="0"/>
              </a:rPr>
            </a:br>
            <a:endParaRPr lang="en-CA" sz="2200" dirty="0">
              <a:latin typeface="Roboto Mono Light" panose="020B0604020202020204" charset="0"/>
              <a:ea typeface="Roboto Mono Light" panose="020B0604020202020204" charset="0"/>
            </a:endParaRPr>
          </a:p>
        </p:txBody>
      </p:sp>
      <p:sp>
        <p:nvSpPr>
          <p:cNvPr id="147" name="Google Shape;147;p28"/>
          <p:cNvSpPr txBox="1">
            <a:spLocks noGrp="1"/>
          </p:cNvSpPr>
          <p:nvPr>
            <p:ph type="subTitle" idx="1"/>
          </p:nvPr>
        </p:nvSpPr>
        <p:spPr>
          <a:xfrm>
            <a:off x="2965700" y="944138"/>
            <a:ext cx="3212600" cy="929268"/>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en" sz="4000" b="1" dirty="0">
                <a:solidFill>
                  <a:schemeClr val="tx1"/>
                </a:solidFill>
              </a:rPr>
              <a:t>Agenda</a:t>
            </a:r>
            <a:endParaRPr sz="4000" b="1" dirty="0">
              <a:solidFill>
                <a:schemeClr val="tx1"/>
              </a:solidFill>
            </a:endParaRPr>
          </a:p>
        </p:txBody>
      </p:sp>
    </p:spTree>
    <p:extLst>
      <p:ext uri="{BB962C8B-B14F-4D97-AF65-F5344CB8AC3E}">
        <p14:creationId xmlns:p14="http://schemas.microsoft.com/office/powerpoint/2010/main" val="2090933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2" name="Picture 1">
            <a:extLst>
              <a:ext uri="{FF2B5EF4-FFF2-40B4-BE49-F238E27FC236}">
                <a16:creationId xmlns:a16="http://schemas.microsoft.com/office/drawing/2014/main" id="{BD3689B9-6DB4-428B-BBA8-69C7F2595206}"/>
              </a:ext>
            </a:extLst>
          </p:cNvPr>
          <p:cNvPicPr>
            <a:picLocks noChangeAspect="1"/>
          </p:cNvPicPr>
          <p:nvPr/>
        </p:nvPicPr>
        <p:blipFill>
          <a:blip r:embed="rId3"/>
          <a:stretch>
            <a:fillRect/>
          </a:stretch>
        </p:blipFill>
        <p:spPr>
          <a:xfrm>
            <a:off x="-101601" y="0"/>
            <a:ext cx="11076919" cy="6230767"/>
          </a:xfrm>
          <a:prstGeom prst="rect">
            <a:avLst/>
          </a:prstGeom>
        </p:spPr>
      </p:pic>
    </p:spTree>
    <p:extLst>
      <p:ext uri="{BB962C8B-B14F-4D97-AF65-F5344CB8AC3E}">
        <p14:creationId xmlns:p14="http://schemas.microsoft.com/office/powerpoint/2010/main" val="168151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026" name="Picture 2" descr="Neurodiversity &amp; International Day of Persons With Disabilities">
            <a:extLst>
              <a:ext uri="{FF2B5EF4-FFF2-40B4-BE49-F238E27FC236}">
                <a16:creationId xmlns:a16="http://schemas.microsoft.com/office/drawing/2014/main" id="{5F1FEB62-D9C8-03B0-A8FF-D462D807DD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22549" y="532379"/>
            <a:ext cx="5698902" cy="43530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8455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02E6A3-3876-DEA6-5137-E7A869498F8B}"/>
              </a:ext>
            </a:extLst>
          </p:cNvPr>
          <p:cNvPicPr>
            <a:picLocks noChangeAspect="1"/>
          </p:cNvPicPr>
          <p:nvPr/>
        </p:nvPicPr>
        <p:blipFill>
          <a:blip r:embed="rId2"/>
          <a:stretch>
            <a:fillRect/>
          </a:stretch>
        </p:blipFill>
        <p:spPr>
          <a:xfrm>
            <a:off x="0" y="275167"/>
            <a:ext cx="9144000" cy="4868333"/>
          </a:xfrm>
          <a:prstGeom prst="rect">
            <a:avLst/>
          </a:prstGeom>
        </p:spPr>
      </p:pic>
    </p:spTree>
    <p:extLst>
      <p:ext uri="{BB962C8B-B14F-4D97-AF65-F5344CB8AC3E}">
        <p14:creationId xmlns:p14="http://schemas.microsoft.com/office/powerpoint/2010/main" val="3152952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 name="Picture 1">
            <a:extLst>
              <a:ext uri="{FF2B5EF4-FFF2-40B4-BE49-F238E27FC236}">
                <a16:creationId xmlns:a16="http://schemas.microsoft.com/office/drawing/2014/main" id="{1F1469C0-ADC7-43E9-7348-09D9D550A597}"/>
              </a:ext>
            </a:extLst>
          </p:cNvPr>
          <p:cNvPicPr>
            <a:picLocks noChangeAspect="1"/>
          </p:cNvPicPr>
          <p:nvPr/>
        </p:nvPicPr>
        <p:blipFill>
          <a:blip r:embed="rId3"/>
          <a:stretch>
            <a:fillRect/>
          </a:stretch>
        </p:blipFill>
        <p:spPr>
          <a:xfrm>
            <a:off x="-1" y="0"/>
            <a:ext cx="9144001"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1026" name="Picture 2" descr="International Disability Alliance (IDA) on X: &quot;&quot;Nothing About Us, Without Us!&quot;  is a well-known motto for the disability movement. It means that  governments and other decision-makers must include us in all issues">
            <a:extLst>
              <a:ext uri="{FF2B5EF4-FFF2-40B4-BE49-F238E27FC236}">
                <a16:creationId xmlns:a16="http://schemas.microsoft.com/office/drawing/2014/main" id="{3FA3CD97-12B4-C8B1-7E02-6D2B0F9C3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9001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050"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38B5F14-8A56-D68A-717C-919B6E7D8B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41" y="0"/>
            <a:ext cx="6172200" cy="5143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0219FB5-9C5E-D8ED-BC6B-E27EF1226B22}"/>
              </a:ext>
            </a:extLst>
          </p:cNvPr>
          <p:cNvSpPr txBox="1"/>
          <p:nvPr/>
        </p:nvSpPr>
        <p:spPr>
          <a:xfrm>
            <a:off x="4572000" y="4873932"/>
            <a:ext cx="4450081" cy="246221"/>
          </a:xfrm>
          <a:prstGeom prst="rect">
            <a:avLst/>
          </a:prstGeom>
          <a:noFill/>
        </p:spPr>
        <p:txBody>
          <a:bodyPr wrap="square" rtlCol="0">
            <a:spAutoFit/>
          </a:bodyPr>
          <a:lstStyle/>
          <a:p>
            <a:r>
              <a:rPr lang="en-CA" sz="1000" dirty="0"/>
              <a:t>Source : https://www.simplypsychology.org/normal-distribution.html</a:t>
            </a:r>
          </a:p>
        </p:txBody>
      </p:sp>
    </p:spTree>
    <p:extLst>
      <p:ext uri="{BB962C8B-B14F-4D97-AF65-F5344CB8AC3E}">
        <p14:creationId xmlns:p14="http://schemas.microsoft.com/office/powerpoint/2010/main" val="20118107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311700" y="750849"/>
            <a:ext cx="4661744" cy="2653990"/>
          </a:xfrm>
          <a:prstGeom prst="rect">
            <a:avLst/>
          </a:prstGeom>
        </p:spPr>
        <p:txBody>
          <a:bodyPr spcFirstLastPara="1" wrap="square" lIns="91425" tIns="91425" rIns="91425" bIns="91425" anchor="b" anchorCtr="0">
            <a:normAutofit/>
          </a:bodyPr>
          <a:lstStyle/>
          <a:p>
            <a:r>
              <a:rPr lang="en-US" sz="4000" b="1" dirty="0"/>
              <a:t>Implement a Forgiving Format to Accommodate Users’ Mistakes</a:t>
            </a:r>
            <a:endParaRPr lang="en" sz="4000" dirty="0"/>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1169551"/>
          </a:xfrm>
          <a:prstGeom prst="rect">
            <a:avLst/>
          </a:prstGeom>
          <a:noFill/>
        </p:spPr>
        <p:txBody>
          <a:bodyPr wrap="square">
            <a:spAutoFit/>
          </a:bodyPr>
          <a:lstStyle/>
          <a:p>
            <a:r>
              <a:rPr lang="en-US" b="0" i="1" dirty="0">
                <a:solidFill>
                  <a:srgbClr val="2B2B2B"/>
                </a:solidFill>
                <a:effectLst/>
                <a:latin typeface="Merriweather" panose="00000500000000000000" pitchFamily="2" charset="0"/>
              </a:rPr>
              <a:t>“We don’t make mistakes, just happy little accidents.”</a:t>
            </a:r>
            <a:br>
              <a:rPr lang="en-US" dirty="0"/>
            </a:br>
            <a:r>
              <a:rPr lang="en-US" b="0" i="1" dirty="0">
                <a:solidFill>
                  <a:srgbClr val="2B2B2B"/>
                </a:solidFill>
                <a:effectLst/>
                <a:latin typeface="Merriweather" panose="00000500000000000000" pitchFamily="2" charset="0"/>
              </a:rPr>
              <a:t>—Bob Ross, American painter, painting instructor, and TV show host</a:t>
            </a:r>
            <a:endParaRPr lang="en-US" i="1" dirty="0">
              <a:solidFill>
                <a:srgbClr val="2B2B2B"/>
              </a:solidFill>
              <a:latin typeface="Merriweather" panose="020F0502020204030204" pitchFamily="2" charset="0"/>
            </a:endParaRPr>
          </a:p>
          <a:p>
            <a:br>
              <a:rPr lang="en-US" dirty="0"/>
            </a:br>
            <a:endParaRPr lang="en-CA" dirty="0"/>
          </a:p>
        </p:txBody>
      </p:sp>
      <p:pic>
        <p:nvPicPr>
          <p:cNvPr id="1026" name="Picture 2">
            <a:extLst>
              <a:ext uri="{FF2B5EF4-FFF2-40B4-BE49-F238E27FC236}">
                <a16:creationId xmlns:a16="http://schemas.microsoft.com/office/drawing/2014/main" id="{4E79CAE5-26D0-3CB2-1983-ECCD1AB40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9560" y="32195"/>
            <a:ext cx="4014440" cy="5074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73885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367048" y="750848"/>
            <a:ext cx="3818586" cy="3795393"/>
          </a:xfrm>
          <a:prstGeom prst="rect">
            <a:avLst/>
          </a:prstGeom>
        </p:spPr>
        <p:txBody>
          <a:bodyPr spcFirstLastPara="1" wrap="square" lIns="91425" tIns="91425" rIns="91425" bIns="91425" anchor="b" anchorCtr="0">
            <a:normAutofit/>
          </a:bodyPr>
          <a:lstStyle/>
          <a:p>
            <a:r>
              <a:rPr lang="en-US" sz="4000" b="1" dirty="0"/>
              <a:t>Be Kind and Forgiving</a:t>
            </a:r>
            <a:br>
              <a:rPr lang="en-US" sz="4000" b="1" dirty="0"/>
            </a:br>
            <a:br>
              <a:rPr lang="en-US" sz="4000" b="1" dirty="0"/>
            </a:br>
            <a:r>
              <a:rPr lang="en-US" sz="4000" b="1" dirty="0"/>
              <a:t>Grammarly - Disneyland of Spelling </a:t>
            </a:r>
            <a:endParaRPr lang="en" sz="4000" dirty="0"/>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 name="Picture 5">
            <a:extLst>
              <a:ext uri="{FF2B5EF4-FFF2-40B4-BE49-F238E27FC236}">
                <a16:creationId xmlns:a16="http://schemas.microsoft.com/office/drawing/2014/main" id="{8B8A004A-DAE8-37EC-9AFB-6282C8D7FAED}"/>
              </a:ext>
            </a:extLst>
          </p:cNvPr>
          <p:cNvPicPr>
            <a:picLocks noChangeAspect="1"/>
          </p:cNvPicPr>
          <p:nvPr/>
        </p:nvPicPr>
        <p:blipFill>
          <a:blip r:embed="rId3"/>
          <a:stretch>
            <a:fillRect/>
          </a:stretch>
        </p:blipFill>
        <p:spPr>
          <a:xfrm>
            <a:off x="4007005" y="0"/>
            <a:ext cx="5123795"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t>Forgot attachment?</a:t>
            </a:r>
            <a:endParaRPr b="1" dirty="0"/>
          </a:p>
        </p:txBody>
      </p:sp>
      <p:sp>
        <p:nvSpPr>
          <p:cNvPr id="187" name="Google Shape;187;p35"/>
          <p:cNvSpPr txBox="1">
            <a:spLocks noGrp="1"/>
          </p:cNvSpPr>
          <p:nvPr>
            <p:ph type="body" idx="1"/>
          </p:nvPr>
        </p:nvSpPr>
        <p:spPr>
          <a:xfrm>
            <a:off x="311700" y="1955179"/>
            <a:ext cx="3719387" cy="261369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sz="1500" dirty="0">
                <a:solidFill>
                  <a:schemeClr val="dk1"/>
                </a:solidFill>
                <a:latin typeface="Google Sans"/>
                <a:ea typeface="Google Sans"/>
                <a:cs typeface="Google Sans"/>
                <a:sym typeface="Google Sans"/>
              </a:rPr>
              <a:t>Attachments first, message second, subject third, and recipients last. This is my way.</a:t>
            </a:r>
          </a:p>
          <a:p>
            <a:pPr marL="0" lvl="0" indent="0" algn="l" rtl="0">
              <a:spcBef>
                <a:spcPts val="0"/>
              </a:spcBef>
              <a:spcAft>
                <a:spcPts val="1200"/>
              </a:spcAft>
              <a:buNone/>
            </a:pPr>
            <a:endParaRPr lang="en-CA" sz="1500" dirty="0">
              <a:solidFill>
                <a:schemeClr val="dk1"/>
              </a:solidFill>
              <a:latin typeface="Google Sans"/>
              <a:ea typeface="Google Sans"/>
              <a:cs typeface="Google Sans"/>
              <a:sym typeface="Google Sans"/>
            </a:endParaRPr>
          </a:p>
        </p:txBody>
      </p:sp>
      <p:pic>
        <p:nvPicPr>
          <p:cNvPr id="7170" name="Picture 2" descr="Re: Important Docs (*now with attachments) : r/adhdmeme">
            <a:extLst>
              <a:ext uri="{FF2B5EF4-FFF2-40B4-BE49-F238E27FC236}">
                <a16:creationId xmlns:a16="http://schemas.microsoft.com/office/drawing/2014/main" id="{95F163D7-4D1E-4955-0960-76B8D3E59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3850" y="0"/>
            <a:ext cx="5010150" cy="51504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390185" y="1875750"/>
            <a:ext cx="7389542" cy="1588562"/>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t>Abundance and not redundance</a:t>
            </a:r>
            <a:endParaRPr lang="en-US" dirty="0"/>
          </a:p>
        </p:txBody>
      </p:sp>
    </p:spTree>
    <p:extLst>
      <p:ext uri="{BB962C8B-B14F-4D97-AF65-F5344CB8AC3E}">
        <p14:creationId xmlns:p14="http://schemas.microsoft.com/office/powerpoint/2010/main" val="10163022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523220"/>
          </a:xfrm>
          <a:prstGeom prst="rect">
            <a:avLst/>
          </a:prstGeom>
          <a:noFill/>
        </p:spPr>
        <p:txBody>
          <a:bodyPr wrap="square">
            <a:spAutoFit/>
          </a:bodyPr>
          <a:lstStyle/>
          <a:p>
            <a:br>
              <a:rPr lang="en-US" dirty="0"/>
            </a:br>
            <a:endParaRPr lang="en-CA" dirty="0"/>
          </a:p>
        </p:txBody>
      </p:sp>
      <p:pic>
        <p:nvPicPr>
          <p:cNvPr id="8194" name="Picture 2" descr="Board view – Asana Help Center">
            <a:extLst>
              <a:ext uri="{FF2B5EF4-FFF2-40B4-BE49-F238E27FC236}">
                <a16:creationId xmlns:a16="http://schemas.microsoft.com/office/drawing/2014/main" id="{7BB14127-DEE0-B25A-66AA-556A2C09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2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7462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888642" y="1875750"/>
            <a:ext cx="6497392" cy="161086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Canary in the coalmine</a:t>
            </a:r>
            <a:endParaRPr lang="en-US" dirty="0">
              <a:latin typeface="Google Sans" panose="020B0604020202020204" charset="0"/>
              <a:ea typeface="Google Sans" panose="020B0604020202020204" charset="0"/>
              <a:cs typeface="Google Sans" panose="020B0604020202020204" charset="0"/>
            </a:endParaRPr>
          </a:p>
        </p:txBody>
      </p:sp>
      <p:pic>
        <p:nvPicPr>
          <p:cNvPr id="2" name="Picture 2" descr="Women Leaving the Top: Canaries in the Coal Mine? | Coal mining, Poetry  art, Canary">
            <a:extLst>
              <a:ext uri="{FF2B5EF4-FFF2-40B4-BE49-F238E27FC236}">
                <a16:creationId xmlns:a16="http://schemas.microsoft.com/office/drawing/2014/main" id="{2B187AE2-AADB-ECE5-390D-CDAA206ABA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1854" y="1875750"/>
            <a:ext cx="1373412" cy="14212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8051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52761" y="126380"/>
            <a:ext cx="4705815" cy="4512527"/>
          </a:xfrm>
          <a:prstGeom prst="rect">
            <a:avLst/>
          </a:prstGeom>
        </p:spPr>
        <p:txBody>
          <a:bodyPr spcFirstLastPara="1" wrap="square" lIns="91425" tIns="91425" rIns="91425" bIns="91425" anchor="b" anchorCtr="0">
            <a:normAutofit/>
          </a:bodyPr>
          <a:lstStyle/>
          <a:p>
            <a:r>
              <a:rPr lang="en-US" sz="33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r>
              <a:rPr lang="en-US" sz="33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 sz="3300" dirty="0">
              <a:latin typeface="Google Sans" panose="020B0604020202020204" charset="0"/>
              <a:ea typeface="Google Sans" panose="020B0604020202020204" charset="0"/>
              <a:cs typeface="Google Sans" panose="020B060402020202020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148" name="Picture 4" descr="Canaries in the Investment Coal Mine? | Financial Pathways">
            <a:extLst>
              <a:ext uri="{FF2B5EF4-FFF2-40B4-BE49-F238E27FC236}">
                <a16:creationId xmlns:a16="http://schemas.microsoft.com/office/drawing/2014/main" id="{FA14F825-2210-F3EC-4459-C7D03AD3CF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1863" y="126380"/>
            <a:ext cx="3992138" cy="281661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3BEDC8A9-117F-CC97-F00B-DDF4DCEAE8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24407" y="3192821"/>
            <a:ext cx="2247049" cy="1552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946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526147" y="2067059"/>
            <a:ext cx="6645498" cy="1068947"/>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Guidelines</a:t>
            </a:r>
            <a:endParaRPr lang="en-US"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39062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03030" y="747290"/>
            <a:ext cx="8925059" cy="3974229"/>
          </a:xfrm>
          <a:prstGeom prst="rect">
            <a:avLst/>
          </a:prstGeom>
          <a:noFill/>
        </p:spPr>
        <p:txBody>
          <a:bodyPr wrap="square">
            <a:spAutoFit/>
          </a:bodyPr>
          <a:lstStyle/>
          <a:p>
            <a:pPr marL="285750" indent="-285750" algn="just">
              <a:spcAft>
                <a:spcPts val="1200"/>
              </a:spcAft>
            </a:pPr>
            <a:endParaRPr lang="en-US" sz="1600" b="1" dirty="0">
              <a:latin typeface="Google Sans" panose="020B0604020202020204" charset="0"/>
              <a:ea typeface="Google Sans" panose="020B0604020202020204" charset="0"/>
              <a:cs typeface="Google Sans" panose="020B0604020202020204" charset="0"/>
              <a:sym typeface="Arial"/>
            </a:endParaRP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Interpretable messages</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Avoid use of characters that look alike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 E.g. 1lI, B8, QO0CD, and break up long strings in phone numbers e.g. (000) 000–0000</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Stick to active voice </a:t>
            </a:r>
            <a:r>
              <a:rPr lang="en-US" sz="1600" dirty="0">
                <a:latin typeface="Google Sans" panose="020B0604020202020204" charset="0"/>
                <a:ea typeface="Google Sans" panose="020B0604020202020204" charset="0"/>
                <a:cs typeface="Google Sans" panose="020B0604020202020204" charset="0"/>
                <a:sym typeface="Arial"/>
              </a:rPr>
              <a:t>: Passive voice sentences are longer and harder to comprehend. Users with ADHD will get bored, dyslexics will have even more trouble reading, and so will readers on the spectrum.</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Avoid metaphors </a:t>
            </a:r>
            <a:r>
              <a:rPr lang="en-US" sz="1600" dirty="0">
                <a:latin typeface="Google Sans" panose="020B0604020202020204" charset="0"/>
                <a:ea typeface="Google Sans" panose="020B0604020202020204" charset="0"/>
                <a:cs typeface="Google Sans" panose="020B0604020202020204" charset="0"/>
                <a:sym typeface="Arial"/>
              </a:rPr>
              <a:t>: Trouble understanding metaphors, such as idioms and other abstract figures of speech.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 </a:t>
            </a:r>
            <a:r>
              <a:rPr lang="en-US" sz="1600"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sym typeface="Arial"/>
              </a:rPr>
              <a:t>E.g. Instead of calling it a day, it’s more inclusive to say that something is done.</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3998679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15910" y="747290"/>
            <a:ext cx="9028090" cy="4054251"/>
          </a:xfrm>
          <a:prstGeom prst="rect">
            <a:avLst/>
          </a:prstGeom>
          <a:noFill/>
        </p:spPr>
        <p:txBody>
          <a:bodyPr wrap="square">
            <a:spAutoFit/>
          </a:bodyPr>
          <a:lstStyle/>
          <a:p>
            <a:r>
              <a:rPr lang="en-US" sz="1600" b="1" dirty="0">
                <a:latin typeface="Google Sans" panose="020B0604020202020204" charset="0"/>
                <a:ea typeface="Google Sans" panose="020B0604020202020204" charset="0"/>
                <a:cs typeface="Google Sans" panose="020B0604020202020204" charset="0"/>
              </a:rPr>
              <a:t>Format your writing :</a:t>
            </a:r>
            <a:r>
              <a:rPr lang="en-US" sz="1600" dirty="0">
                <a:latin typeface="Google Sans" panose="020B0604020202020204" charset="0"/>
                <a:ea typeface="Google Sans" panose="020B0604020202020204" charset="0"/>
                <a:cs typeface="Google Sans" panose="020B0604020202020204" charset="0"/>
              </a:rPr>
              <a:t> Divide large chunks of text into smaller paragraphs. </a:t>
            </a:r>
          </a:p>
          <a:p>
            <a:r>
              <a:rPr lang="en-US" sz="1600" dirty="0">
                <a:latin typeface="Google Sans" panose="020B0604020202020204" charset="0"/>
                <a:ea typeface="Google Sans" panose="020B0604020202020204" charset="0"/>
                <a:cs typeface="Google Sans" panose="020B0604020202020204" charset="0"/>
              </a:rPr>
              <a:t>    It is challenging for people struggling with limited attention spans. </a:t>
            </a:r>
          </a:p>
          <a:p>
            <a:pPr>
              <a:buFont typeface="Arial" panose="020B0604020202020204" pitchFamily="34" charset="0"/>
              <a:buChar char="•"/>
            </a:pPr>
            <a:endParaRPr lang="en-US" sz="1600" dirty="0">
              <a:latin typeface="Google Sans" panose="020B0604020202020204" charset="0"/>
              <a:ea typeface="Google Sans" panose="020B0604020202020204" charset="0"/>
              <a:cs typeface="Google Sans" panose="020B0604020202020204" charset="0"/>
            </a:endParaRPr>
          </a:p>
          <a:p>
            <a:pPr>
              <a:buFont typeface="Arial" panose="020B0604020202020204" pitchFamily="34" charset="0"/>
              <a:buChar char="•"/>
            </a:pPr>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descriptive buttons :</a:t>
            </a:r>
            <a:r>
              <a:rPr lang="en-US" sz="1600" dirty="0">
                <a:latin typeface="Google Sans" panose="020B0604020202020204" charset="0"/>
                <a:ea typeface="Google Sans" panose="020B0604020202020204" charset="0"/>
                <a:cs typeface="Google Sans" panose="020B0604020202020204" charset="0"/>
              </a:rPr>
              <a:t> No vague microcopy, such as </a:t>
            </a:r>
            <a:r>
              <a:rPr lang="en-US" sz="1600" i="1" dirty="0">
                <a:latin typeface="Google Sans" panose="020B0604020202020204" charset="0"/>
                <a:ea typeface="Google Sans" panose="020B0604020202020204" charset="0"/>
                <a:cs typeface="Google Sans" panose="020B0604020202020204" charset="0"/>
              </a:rPr>
              <a:t>Click here.</a:t>
            </a:r>
          </a:p>
          <a:p>
            <a:pPr marL="127000" indent="0">
              <a:buNone/>
            </a:pPr>
            <a:endParaRPr lang="en-US" sz="1600" i="1" dirty="0">
              <a:latin typeface="Google Sans" panose="020B0604020202020204" charset="0"/>
              <a:ea typeface="Google Sans" panose="020B0604020202020204" charset="0"/>
              <a:cs typeface="Google Sans" panose="020B0604020202020204" charset="0"/>
            </a:endParaRPr>
          </a:p>
          <a:p>
            <a:pPr marL="127000" indent="0">
              <a:buNone/>
            </a:pPr>
            <a:r>
              <a:rPr lang="en-US" sz="1600" i="1"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 Describe the purpose of the button.</a:t>
            </a:r>
          </a:p>
          <a:p>
            <a:pPr marL="127000" indent="0">
              <a:buNone/>
            </a:pPr>
            <a:r>
              <a:rPr lang="en-US" sz="1600" dirty="0">
                <a:latin typeface="Google Sans" panose="020B0604020202020204" charset="0"/>
                <a:ea typeface="Google Sans" panose="020B0604020202020204" charset="0"/>
                <a:cs typeface="Google Sans" panose="020B0604020202020204" charset="0"/>
              </a:rPr>
              <a:t>   Example: </a:t>
            </a:r>
            <a:r>
              <a:rPr lang="en-US" sz="1600" i="1" dirty="0">
                <a:latin typeface="Google Sans" panose="020B0604020202020204" charset="0"/>
                <a:ea typeface="Google Sans" panose="020B0604020202020204" charset="0"/>
                <a:cs typeface="Google Sans" panose="020B0604020202020204" charset="0"/>
              </a:rPr>
              <a:t>Upload images, Register, Download the e-book</a:t>
            </a:r>
            <a:r>
              <a:rPr lang="en-US" sz="1600" dirty="0">
                <a:latin typeface="Google Sans" panose="020B0604020202020204" charset="0"/>
                <a:ea typeface="Google Sans" panose="020B0604020202020204" charset="0"/>
                <a:cs typeface="Google Sans" panose="020B0604020202020204" charset="0"/>
              </a:rPr>
              <a:t>. </a:t>
            </a:r>
          </a:p>
          <a:p>
            <a:pPr marL="127000" indent="0">
              <a:buNone/>
            </a:pPr>
            <a:r>
              <a:rPr lang="en-US" sz="1600" dirty="0">
                <a:latin typeface="Google Sans" panose="020B0604020202020204" charset="0"/>
                <a:ea typeface="Google Sans" panose="020B0604020202020204" charset="0"/>
                <a:cs typeface="Google Sans" panose="020B0604020202020204" charset="0"/>
              </a:rPr>
              <a:t>   This simple change makes  navigation smoother and reduces anxiety.</a:t>
            </a:r>
          </a:p>
          <a:p>
            <a:endParaRPr lang="en-CA"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Be careful with animations :</a:t>
            </a:r>
            <a:r>
              <a:rPr lang="en-US" sz="1600" dirty="0">
                <a:latin typeface="Google Sans" panose="020B0604020202020204" charset="0"/>
                <a:ea typeface="Google Sans" panose="020B0604020202020204" charset="0"/>
                <a:cs typeface="Google Sans" panose="020B0604020202020204" charset="0"/>
              </a:rPr>
              <a:t> Too much stimulation can induce anxiety in people on the autism spectrum, which may even lead to physical pain, withdrawal, or meltdown. </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of animated elements </a:t>
            </a:r>
            <a:r>
              <a:rPr lang="en-US" sz="1600" dirty="0">
                <a:latin typeface="Google Sans" panose="020B0604020202020204" charset="0"/>
                <a:ea typeface="Google Sans" panose="020B0604020202020204" charset="0"/>
                <a:cs typeface="Google Sans" panose="020B0604020202020204" charset="0"/>
              </a:rPr>
              <a:t>: should be limited to instances when it serves a purpose.</a:t>
            </a:r>
          </a:p>
          <a:p>
            <a:r>
              <a:rPr lang="en-US" sz="1600" dirty="0">
                <a:latin typeface="Google Sans" panose="020B0604020202020204" charset="0"/>
                <a:ea typeface="Google Sans" panose="020B0604020202020204" charset="0"/>
                <a:cs typeface="Google Sans" panose="020B0604020202020204" charset="0"/>
              </a:rPr>
              <a:t> Also remember not to make them too invasive.</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3884205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182294" y="330825"/>
            <a:ext cx="5586604" cy="4481849"/>
          </a:xfrm>
          <a:prstGeom prst="rect">
            <a:avLst/>
          </a:prstGeom>
        </p:spPr>
        <p:txBody>
          <a:bodyPr spcFirstLastPara="1" wrap="square" lIns="91425" tIns="91425" rIns="91425" bIns="91425" anchor="t" anchorCtr="0">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Avoid autoplay</a:t>
            </a: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Unexpected movement is surprising and scary, not to mention the sound!</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effectLst/>
                <a:latin typeface="Google Sans" panose="020B0604020202020204" charset="0"/>
                <a:ea typeface="Google Sans" panose="020B0604020202020204" charset="0"/>
                <a:cs typeface="Google Sans" panose="020B0604020202020204" charset="0"/>
              </a:rPr>
              <a:t>Add subtitles and captions</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Bring in the perspective of ND users </a:t>
            </a: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Perform user testing and focus groups with them.</a:t>
            </a:r>
            <a:endParaRPr lang="en-CA" sz="2800" dirty="0">
              <a:latin typeface="Google Sans" panose="020B0604020202020204" charset="0"/>
              <a:ea typeface="Google Sans" panose="020B0604020202020204" charset="0"/>
              <a:cs typeface="Google Sans" panose="020B0604020202020204" charset="0"/>
            </a:endParaRPr>
          </a:p>
        </p:txBody>
      </p:sp>
      <p:pic>
        <p:nvPicPr>
          <p:cNvPr id="2" name="Picture 1">
            <a:extLst>
              <a:ext uri="{FF2B5EF4-FFF2-40B4-BE49-F238E27FC236}">
                <a16:creationId xmlns:a16="http://schemas.microsoft.com/office/drawing/2014/main" id="{07501CD2-C6C9-C101-911B-98E270E3D7C7}"/>
              </a:ext>
            </a:extLst>
          </p:cNvPr>
          <p:cNvPicPr>
            <a:picLocks noChangeAspect="1"/>
          </p:cNvPicPr>
          <p:nvPr/>
        </p:nvPicPr>
        <p:blipFill>
          <a:blip r:embed="rId3"/>
          <a:stretch>
            <a:fillRect/>
          </a:stretch>
        </p:blipFill>
        <p:spPr>
          <a:xfrm>
            <a:off x="5922184" y="2463460"/>
            <a:ext cx="2509874" cy="1678030"/>
          </a:xfrm>
          <a:prstGeom prst="rect">
            <a:avLst/>
          </a:prstGeom>
        </p:spPr>
      </p:pic>
      <p:pic>
        <p:nvPicPr>
          <p:cNvPr id="3" name="Picture 2">
            <a:extLst>
              <a:ext uri="{FF2B5EF4-FFF2-40B4-BE49-F238E27FC236}">
                <a16:creationId xmlns:a16="http://schemas.microsoft.com/office/drawing/2014/main" id="{99FC0E22-753B-969D-1076-4511B4CE3002}"/>
              </a:ext>
            </a:extLst>
          </p:cNvPr>
          <p:cNvPicPr>
            <a:picLocks noChangeAspect="1"/>
          </p:cNvPicPr>
          <p:nvPr/>
        </p:nvPicPr>
        <p:blipFill>
          <a:blip r:embed="rId4"/>
          <a:stretch>
            <a:fillRect/>
          </a:stretch>
        </p:blipFill>
        <p:spPr>
          <a:xfrm>
            <a:off x="5912894" y="725644"/>
            <a:ext cx="2509874" cy="1333500"/>
          </a:xfrm>
          <a:prstGeom prst="rect">
            <a:avLst/>
          </a:prstGeom>
        </p:spPr>
      </p:pic>
    </p:spTree>
    <p:extLst>
      <p:ext uri="{BB962C8B-B14F-4D97-AF65-F5344CB8AC3E}">
        <p14:creationId xmlns:p14="http://schemas.microsoft.com/office/powerpoint/2010/main" val="1926359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73870" y="698182"/>
            <a:ext cx="4884706" cy="4230710"/>
          </a:xfrm>
          <a:prstGeom prst="rect">
            <a:avLst/>
          </a:prstGeom>
        </p:spPr>
        <p:txBody>
          <a:bodyPr spcFirstLastPara="1" wrap="square" lIns="91425" tIns="91425" rIns="91425" bIns="91425" anchor="t" anchorCtr="0">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Abstain from auto play in websites and music that suddenly appears out of nowhere.</a:t>
            </a:r>
            <a:br>
              <a:rPr lang="en-US" sz="2800" dirty="0">
                <a:latin typeface="Google Sans" panose="020B0604020202020204" charset="0"/>
                <a:ea typeface="Google Sans" panose="020B0604020202020204" charset="0"/>
                <a:cs typeface="Google Sans" panose="020B0604020202020204" charset="0"/>
              </a:rPr>
            </a:br>
            <a:br>
              <a:rPr lang="en-US" sz="2800" dirty="0">
                <a:latin typeface="Google Sans" panose="020B0604020202020204" charset="0"/>
                <a:ea typeface="Google Sans" panose="020B0604020202020204" charset="0"/>
                <a:cs typeface="Google Sans" panose="020B0604020202020204" charset="0"/>
              </a:rPr>
            </a:br>
            <a:r>
              <a:rPr lang="en-US" sz="2800" dirty="0">
                <a:latin typeface="Google Sans" panose="020B0604020202020204" charset="0"/>
                <a:ea typeface="Google Sans" panose="020B0604020202020204" charset="0"/>
                <a:cs typeface="Google Sans" panose="020B0604020202020204" charset="0"/>
              </a:rPr>
              <a:t>Skip highly vibrant colors.</a:t>
            </a:r>
            <a:br>
              <a:rPr lang="en-US" sz="2800" dirty="0">
                <a:latin typeface="Google Sans" panose="020B0604020202020204" charset="0"/>
                <a:ea typeface="Google Sans" panose="020B0604020202020204" charset="0"/>
                <a:cs typeface="Google Sans" panose="020B0604020202020204" charset="0"/>
              </a:rPr>
            </a:br>
            <a:endParaRPr lang="en-CA" sz="2400" dirty="0">
              <a:latin typeface="Google Sans" panose="020B0604020202020204" charset="0"/>
              <a:ea typeface="Google Sans" panose="020B0604020202020204" charset="0"/>
              <a:cs typeface="Google Sans" panose="020B0604020202020204" charset="0"/>
            </a:endParaRPr>
          </a:p>
        </p:txBody>
      </p:sp>
      <p:pic>
        <p:nvPicPr>
          <p:cNvPr id="1026" name="Picture 2" descr="bright_saturated-button">
            <a:extLst>
              <a:ext uri="{FF2B5EF4-FFF2-40B4-BE49-F238E27FC236}">
                <a16:creationId xmlns:a16="http://schemas.microsoft.com/office/drawing/2014/main" id="{EB13F083-8302-3B7E-08B7-18E75C06D2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146" y="912254"/>
            <a:ext cx="3995854"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9778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ADAB5-9766-78AC-A4D1-082A7972E869}"/>
              </a:ext>
            </a:extLst>
          </p:cNvPr>
          <p:cNvSpPr>
            <a:spLocks noGrp="1"/>
          </p:cNvSpPr>
          <p:nvPr>
            <p:ph type="title"/>
          </p:nvPr>
        </p:nvSpPr>
        <p:spPr/>
        <p:txBody>
          <a:bodyPr/>
          <a:lstStyle/>
          <a:p>
            <a:pPr algn="ctr"/>
            <a:r>
              <a:rPr lang="en-CA" dirty="0"/>
              <a:t>Takeaways</a:t>
            </a:r>
          </a:p>
        </p:txBody>
      </p:sp>
      <p:sp>
        <p:nvSpPr>
          <p:cNvPr id="3" name="Text Placeholder 2">
            <a:extLst>
              <a:ext uri="{FF2B5EF4-FFF2-40B4-BE49-F238E27FC236}">
                <a16:creationId xmlns:a16="http://schemas.microsoft.com/office/drawing/2014/main" id="{DA289655-A2B2-67E1-8216-E9FAEAA4627F}"/>
              </a:ext>
            </a:extLst>
          </p:cNvPr>
          <p:cNvSpPr>
            <a:spLocks noGrp="1"/>
          </p:cNvSpPr>
          <p:nvPr>
            <p:ph type="body" idx="1"/>
          </p:nvPr>
        </p:nvSpPr>
        <p:spPr>
          <a:xfrm>
            <a:off x="311699" y="1152475"/>
            <a:ext cx="8297041" cy="3416400"/>
          </a:xfrm>
        </p:spPr>
        <p:txBody>
          <a:bodyPr>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Abstain from auto play and music that suddenly appears out of nowhere.</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Skip highly vibrant colors.</a:t>
            </a:r>
          </a:p>
          <a:p>
            <a:endParaRPr lang="en-CA" sz="24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6774217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0497C3-634C-7CD7-CC6F-30F491A7B76D}"/>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36601927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A84F37-CDF1-45E3-2EE1-F3CC16F1E8D5}"/>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42928274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D3F18F7-9EC7-3E36-6F18-40F95A65465A}"/>
              </a:ext>
            </a:extLst>
          </p:cNvPr>
          <p:cNvPicPr>
            <a:picLocks noChangeAspect="1"/>
          </p:cNvPicPr>
          <p:nvPr/>
        </p:nvPicPr>
        <p:blipFill>
          <a:blip r:embed="rId2"/>
          <a:stretch>
            <a:fillRect/>
          </a:stretch>
        </p:blipFill>
        <p:spPr>
          <a:xfrm>
            <a:off x="2301704" y="0"/>
            <a:ext cx="4808220" cy="4495800"/>
          </a:xfrm>
          <a:prstGeom prst="rect">
            <a:avLst/>
          </a:prstGeom>
        </p:spPr>
      </p:pic>
      <p:sp>
        <p:nvSpPr>
          <p:cNvPr id="5" name="TextBox 4">
            <a:extLst>
              <a:ext uri="{FF2B5EF4-FFF2-40B4-BE49-F238E27FC236}">
                <a16:creationId xmlns:a16="http://schemas.microsoft.com/office/drawing/2014/main" id="{ECB55B19-BCD6-F282-C32D-4F0CFFA71381}"/>
              </a:ext>
            </a:extLst>
          </p:cNvPr>
          <p:cNvSpPr txBox="1"/>
          <p:nvPr/>
        </p:nvSpPr>
        <p:spPr>
          <a:xfrm>
            <a:off x="3695700" y="4819650"/>
            <a:ext cx="2285999" cy="276999"/>
          </a:xfrm>
          <a:prstGeom prst="rect">
            <a:avLst/>
          </a:prstGeom>
          <a:noFill/>
        </p:spPr>
        <p:txBody>
          <a:bodyPr wrap="square" rtlCol="0">
            <a:spAutoFit/>
          </a:bodyPr>
          <a:lstStyle/>
          <a:p>
            <a:r>
              <a:rPr lang="en-CA" sz="1200" dirty="0">
                <a:latin typeface="Roboto Mono Light" panose="020B0604020202020204" charset="0"/>
                <a:ea typeface="Roboto Mono Light" panose="020B0604020202020204" charset="0"/>
              </a:rPr>
              <a:t>Credit : </a:t>
            </a:r>
            <a:r>
              <a:rPr lang="en-CA" sz="1200" dirty="0" err="1">
                <a:latin typeface="Roboto Mono Light" panose="020B0604020202020204" charset="0"/>
                <a:ea typeface="Roboto Mono Light" panose="020B0604020202020204" charset="0"/>
              </a:rPr>
              <a:t>DesignMantic</a:t>
            </a:r>
            <a:endParaRPr lang="en-CA" sz="1200" dirty="0">
              <a:latin typeface="Roboto Mono Light" panose="020B0604020202020204" charset="0"/>
              <a:ea typeface="Roboto Mono Light" panose="020B0604020202020204" charset="0"/>
            </a:endParaRPr>
          </a:p>
        </p:txBody>
      </p:sp>
    </p:spTree>
    <p:extLst>
      <p:ext uri="{BB962C8B-B14F-4D97-AF65-F5344CB8AC3E}">
        <p14:creationId xmlns:p14="http://schemas.microsoft.com/office/powerpoint/2010/main" val="24545115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pic>
        <p:nvPicPr>
          <p:cNvPr id="3076" name="Picture 4" descr="HR Magazine - Neurodiversity: a legal perspective">
            <a:extLst>
              <a:ext uri="{FF2B5EF4-FFF2-40B4-BE49-F238E27FC236}">
                <a16:creationId xmlns:a16="http://schemas.microsoft.com/office/drawing/2014/main" id="{5F397980-4E1C-215A-79DE-80341C083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175897"/>
            <a:ext cx="3471747" cy="279170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C7BAB18-F324-C400-1D2A-87FF80352A77}"/>
              </a:ext>
            </a:extLst>
          </p:cNvPr>
          <p:cNvSpPr txBox="1"/>
          <p:nvPr/>
        </p:nvSpPr>
        <p:spPr>
          <a:xfrm>
            <a:off x="468351" y="1220677"/>
            <a:ext cx="3694771"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Great Minds Think Unalike And Learn Differently</a:t>
            </a:r>
            <a:br>
              <a:rPr lang="en-US" sz="3000" dirty="0">
                <a:latin typeface="Google Sans" panose="020B0604020202020204" charset="0"/>
                <a:ea typeface="Google Sans" panose="020B0604020202020204" charset="0"/>
                <a:cs typeface="Google Sans" panose="020B0604020202020204" charset="0"/>
              </a:rPr>
            </a:br>
            <a:br>
              <a:rPr lang="en-US" sz="3000" dirty="0">
                <a:latin typeface="Google Sans" panose="020B0604020202020204" charset="0"/>
                <a:ea typeface="Google Sans" panose="020B0604020202020204" charset="0"/>
                <a:cs typeface="Google Sans" panose="020B0604020202020204" charset="0"/>
              </a:rPr>
            </a:br>
            <a:r>
              <a:rPr lang="en-US" sz="3000" dirty="0">
                <a:latin typeface="Google Sans" panose="020B0604020202020204" charset="0"/>
                <a:ea typeface="Google Sans" panose="020B0604020202020204" charset="0"/>
                <a:cs typeface="Google Sans" panose="020B0604020202020204" charset="0"/>
              </a:rPr>
              <a:t>Representation Matters!</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466750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29421781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3F9277-944D-2C4D-8F24-A35317C2460D}"/>
              </a:ext>
            </a:extLst>
          </p:cNvPr>
          <p:cNvSpPr txBox="1"/>
          <p:nvPr/>
        </p:nvSpPr>
        <p:spPr>
          <a:xfrm>
            <a:off x="3746810" y="2163337"/>
            <a:ext cx="1791630" cy="584775"/>
          </a:xfrm>
          <a:prstGeom prst="rect">
            <a:avLst/>
          </a:prstGeom>
          <a:noFill/>
        </p:spPr>
        <p:txBody>
          <a:bodyPr wrap="square" rtlCol="0">
            <a:spAutoFit/>
          </a:bodyPr>
          <a:lstStyle/>
          <a:p>
            <a:r>
              <a:rPr lang="en-US" sz="3200" dirty="0"/>
              <a:t>SNR</a:t>
            </a:r>
            <a:endParaRPr lang="en-CA" sz="3200" dirty="0"/>
          </a:p>
        </p:txBody>
      </p:sp>
      <p:pic>
        <p:nvPicPr>
          <p:cNvPr id="4" name="Picture 3">
            <a:extLst>
              <a:ext uri="{FF2B5EF4-FFF2-40B4-BE49-F238E27FC236}">
                <a16:creationId xmlns:a16="http://schemas.microsoft.com/office/drawing/2014/main" id="{3A64EB42-07F6-5589-9E93-74C5E0FE9BE4}"/>
              </a:ext>
            </a:extLst>
          </p:cNvPr>
          <p:cNvPicPr>
            <a:picLocks noChangeAspect="1"/>
          </p:cNvPicPr>
          <p:nvPr/>
        </p:nvPicPr>
        <p:blipFill>
          <a:blip r:embed="rId2"/>
          <a:stretch>
            <a:fillRect/>
          </a:stretch>
        </p:blipFill>
        <p:spPr>
          <a:xfrm>
            <a:off x="0" y="8929"/>
            <a:ext cx="9144000" cy="5125641"/>
          </a:xfrm>
          <a:prstGeom prst="rect">
            <a:avLst/>
          </a:prstGeom>
        </p:spPr>
      </p:pic>
      <p:sp>
        <p:nvSpPr>
          <p:cNvPr id="3" name="TextBox 2">
            <a:extLst>
              <a:ext uri="{FF2B5EF4-FFF2-40B4-BE49-F238E27FC236}">
                <a16:creationId xmlns:a16="http://schemas.microsoft.com/office/drawing/2014/main" id="{54110566-3CDA-401E-46EC-993BCA4F438B}"/>
              </a:ext>
            </a:extLst>
          </p:cNvPr>
          <p:cNvSpPr txBox="1"/>
          <p:nvPr/>
        </p:nvSpPr>
        <p:spPr>
          <a:xfrm>
            <a:off x="1308410" y="728546"/>
            <a:ext cx="946093" cy="369332"/>
          </a:xfrm>
          <a:prstGeom prst="rect">
            <a:avLst/>
          </a:prstGeom>
          <a:noFill/>
        </p:spPr>
        <p:txBody>
          <a:bodyPr wrap="none" rtlCol="0">
            <a:spAutoFit/>
          </a:bodyPr>
          <a:lstStyle/>
          <a:p>
            <a:r>
              <a:rPr lang="en-US" dirty="0">
                <a:solidFill>
                  <a:schemeClr val="bg1"/>
                </a:solidFill>
              </a:rPr>
              <a:t>S/R (dB)</a:t>
            </a:r>
            <a:endParaRPr lang="en-CA" dirty="0">
              <a:solidFill>
                <a:schemeClr val="bg1"/>
              </a:solidFill>
            </a:endParaRPr>
          </a:p>
        </p:txBody>
      </p:sp>
    </p:spTree>
    <p:extLst>
      <p:ext uri="{BB962C8B-B14F-4D97-AF65-F5344CB8AC3E}">
        <p14:creationId xmlns:p14="http://schemas.microsoft.com/office/powerpoint/2010/main" val="7700526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pic>
        <p:nvPicPr>
          <p:cNvPr id="1026" name="Picture 2" descr="Signal to Noise">
            <a:extLst>
              <a:ext uri="{FF2B5EF4-FFF2-40B4-BE49-F238E27FC236}">
                <a16:creationId xmlns:a16="http://schemas.microsoft.com/office/drawing/2014/main" id="{917CA62F-8328-BD4F-F015-39964B19E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8646" y="352735"/>
            <a:ext cx="33337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58659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0" y="1019175"/>
            <a:ext cx="4200525" cy="25860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solidFill>
                  <a:schemeClr val="lt1"/>
                </a:solidFill>
              </a:rPr>
              <a:t>A design with inclusivity and neurodiversity in mind is not just ‘nice to have’ – it’s imperative</a:t>
            </a:r>
          </a:p>
        </p:txBody>
      </p:sp>
      <p:pic>
        <p:nvPicPr>
          <p:cNvPr id="4100" name="Picture 4" descr="An Introduction to Human-Centered Design">
            <a:extLst>
              <a:ext uri="{FF2B5EF4-FFF2-40B4-BE49-F238E27FC236}">
                <a16:creationId xmlns:a16="http://schemas.microsoft.com/office/drawing/2014/main" id="{414D396F-35BC-F18E-94DE-919BACD7C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8116" y="1131236"/>
            <a:ext cx="4133385" cy="288102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15CACCB-BE19-28D2-A483-E39AB111606D}"/>
              </a:ext>
            </a:extLst>
          </p:cNvPr>
          <p:cNvSpPr txBox="1"/>
          <p:nvPr/>
        </p:nvSpPr>
        <p:spPr>
          <a:xfrm>
            <a:off x="814385" y="1419922"/>
            <a:ext cx="3649936"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 design with inclusivity and neurodiversity in mind is not just ‘nice to have’ – it’s imperative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8204936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3" name="Picture 2">
            <a:extLst>
              <a:ext uri="{FF2B5EF4-FFF2-40B4-BE49-F238E27FC236}">
                <a16:creationId xmlns:a16="http://schemas.microsoft.com/office/drawing/2014/main" id="{31DD495C-BFDE-D09E-780C-08317F70A58E}"/>
              </a:ext>
            </a:extLst>
          </p:cNvPr>
          <p:cNvPicPr>
            <a:picLocks noChangeAspect="1"/>
          </p:cNvPicPr>
          <p:nvPr/>
        </p:nvPicPr>
        <p:blipFill>
          <a:blip r:embed="rId3"/>
          <a:stretch>
            <a:fillRect/>
          </a:stretch>
        </p:blipFill>
        <p:spPr>
          <a:xfrm>
            <a:off x="0" y="-1"/>
            <a:ext cx="9209903" cy="5663685"/>
          </a:xfrm>
          <a:prstGeom prst="rect">
            <a:avLst/>
          </a:prstGeom>
        </p:spPr>
      </p:pic>
    </p:spTree>
    <p:extLst>
      <p:ext uri="{BB962C8B-B14F-4D97-AF65-F5344CB8AC3E}">
        <p14:creationId xmlns:p14="http://schemas.microsoft.com/office/powerpoint/2010/main" val="7475615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pic>
        <p:nvPicPr>
          <p:cNvPr id="2052" name="Picture 4" descr="Thank you for watching our presentation - Minions | Make a Meme">
            <a:extLst>
              <a:ext uri="{FF2B5EF4-FFF2-40B4-BE49-F238E27FC236}">
                <a16:creationId xmlns:a16="http://schemas.microsoft.com/office/drawing/2014/main" id="{D717940E-B1B7-60EE-1AF7-2A08C711B0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14500" y="590550"/>
            <a:ext cx="5715000"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33581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411</TotalTime>
  <Words>823</Words>
  <Application>Microsoft Office PowerPoint</Application>
  <PresentationFormat>On-screen Show (16:9)</PresentationFormat>
  <Paragraphs>72</Paragraphs>
  <Slides>37</Slides>
  <Notes>27</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37</vt:i4>
      </vt:variant>
    </vt:vector>
  </HeadingPairs>
  <TitlesOfParts>
    <vt:vector size="46" baseType="lpstr">
      <vt:lpstr>Calibri Light</vt:lpstr>
      <vt:lpstr>Arial</vt:lpstr>
      <vt:lpstr>Jost</vt:lpstr>
      <vt:lpstr>open sans</vt:lpstr>
      <vt:lpstr>Calibri</vt:lpstr>
      <vt:lpstr>Google Sans</vt:lpstr>
      <vt:lpstr>Merriweather</vt:lpstr>
      <vt:lpstr>Roboto Mono Light</vt:lpstr>
      <vt:lpstr>Office Theme</vt:lpstr>
      <vt:lpstr>Designing for Neurodiversity, Empathy, Human Centric Design and Inclusion in Software Applications  </vt:lpstr>
      <vt:lpstr>PowerPoint Presentation</vt:lpstr>
      <vt:lpstr>PowerPoint Presentation</vt:lpstr>
      <vt:lpstr>Glossophobia</vt:lpstr>
      <vt:lpstr>Before November 30, 2022 and After</vt:lpstr>
      <vt:lpstr>PowerPoint Presentation</vt:lpstr>
      <vt:lpstr>PowerPoint Presentation</vt:lpstr>
      <vt:lpstr>What is Neurodiversity?  Accessibility vs ND  Guidelines for Design  Concluding Remarks </vt:lpstr>
      <vt:lpstr>PowerPoint Presentation</vt:lpstr>
      <vt:lpstr>PowerPoint Presentation</vt:lpstr>
      <vt:lpstr>PowerPoint Presentation</vt:lpstr>
      <vt:lpstr>PowerPoint Presentation</vt:lpstr>
      <vt:lpstr>PowerPoint Presentation</vt:lpstr>
      <vt:lpstr>PowerPoint Presentation</vt:lpstr>
      <vt:lpstr>Implement a Forgiving Format to Accommodate Users’ Mistakes</vt:lpstr>
      <vt:lpstr>Be Kind and Forgiving  Grammarly - Disneyland of Spelling </vt:lpstr>
      <vt:lpstr>Forgot attachment?</vt:lpstr>
      <vt:lpstr>Abundance and not redundance</vt:lpstr>
      <vt:lpstr>PowerPoint Presentation</vt:lpstr>
      <vt:lpstr>Canary in the coalmine</vt:lpstr>
      <vt:lpstr>Often the first to sense danger akin to canaries in the coal mine  Preventing miscommunication and not overwhelming the users</vt:lpstr>
      <vt:lpstr>Guidelines</vt:lpstr>
      <vt:lpstr>PowerPoint Presentation</vt:lpstr>
      <vt:lpstr>PowerPoint Presentation</vt:lpstr>
      <vt:lpstr>Avoid autoplay Unexpected movement is surprising and scary, not to mention the sound!  Add subtitles and captions  Bring in the perspective of ND users  Perform user testing and focus groups with them.</vt:lpstr>
      <vt:lpstr>Aim to visually please, rather than disturb.  Abstain from auto play in websites and music that suddenly appears out of nowhere.  Skip highly vibrant colors. </vt:lpstr>
      <vt:lpstr>Takeaways</vt:lpstr>
      <vt:lpstr>PowerPoint Presentation</vt:lpstr>
      <vt:lpstr>PowerPoint Presentation</vt:lpstr>
      <vt:lpstr>PowerPoint Presentation</vt:lpstr>
      <vt:lpstr>Great Minds Think Unalike And Learn Differently  Representation Matters!</vt:lpstr>
      <vt:lpstr>Great Minds Think Unalike And Learn Differently  Representation Matters!</vt:lpstr>
      <vt:lpstr>PowerPoint Presentation</vt:lpstr>
      <vt:lpstr>Great Minds Think Unalike And Learn Differently  Representation Matters!</vt:lpstr>
      <vt:lpstr>A design with inclusivity and neurodiversity in mind is not just ‘nice to have’ – it’s imperative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Vaishnavi T V</cp:lastModifiedBy>
  <cp:revision>32</cp:revision>
  <dcterms:modified xsi:type="dcterms:W3CDTF">2025-03-23T23:22:52Z</dcterms:modified>
</cp:coreProperties>
</file>